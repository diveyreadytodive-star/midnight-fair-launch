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2d13b49ae0481a" /><Relationship Type="http://schemas.openxmlformats.org/officeDocument/2006/relationships/extended-properties" Target="/docProps/app.xml" Id="Rf4eeee5a4ddc4455" /><Relationship Type="http://schemas.openxmlformats.org/officeDocument/2006/relationships/officeDocument" Target="/ppt/presentation.xml" Id="Rc37266be49f245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63ff011a744e20"/>
  </p:sldMasterIdLst>
  <p:notesMasterIdLst>
    <p:notesMasterId xmlns:r="http://schemas.openxmlformats.org/officeDocument/2006/relationships" r:id="Reb55fa04845c433d"/>
  </p:notesMasterIdLst>
  <p:sldIdLst>
    <p:sldId xmlns:r="http://schemas.openxmlformats.org/officeDocument/2006/relationships" id="256" r:id="R9d1d30b868c2410c"/>
    <p:sldId xmlns:r="http://schemas.openxmlformats.org/officeDocument/2006/relationships" id="257" r:id="R7667253191514a27"/>
    <p:sldId xmlns:r="http://schemas.openxmlformats.org/officeDocument/2006/relationships" id="258" r:id="R3cecc4e648b34690"/>
    <p:sldId xmlns:r="http://schemas.openxmlformats.org/officeDocument/2006/relationships" id="259" r:id="R7bee6fcc64aa4088"/>
    <p:sldId xmlns:r="http://schemas.openxmlformats.org/officeDocument/2006/relationships" id="260" r:id="R461cbbd19f80422f"/>
    <p:sldId xmlns:r="http://schemas.openxmlformats.org/officeDocument/2006/relationships" id="261" r:id="R8b3fcb412fb746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5f71505e2d45d9" /><Relationship Type="http://schemas.openxmlformats.org/officeDocument/2006/relationships/slideMaster" Target="/ppt/slideMasters/slideMaster1.xml" Id="Rbb63ff011a744e20" /><Relationship Type="http://schemas.openxmlformats.org/officeDocument/2006/relationships/notesMaster" Target="/ppt/notesMasters/notesMaster1.xml" Id="Reb55fa04845c433d" /><Relationship Type="http://schemas.openxmlformats.org/officeDocument/2006/relationships/presProps" Target="/ppt/presProps.xml" Id="R3cfb00e854e048aa" /><Relationship Type="http://schemas.openxmlformats.org/officeDocument/2006/relationships/tableStyles" Target="/ppt/tableStyles.xml" Id="R36910d7f964f4687" /><Relationship Type="http://schemas.openxmlformats.org/officeDocument/2006/relationships/slide" Target="/ppt/slides/slide1.xml" Id="R9d1d30b868c2410c" /><Relationship Type="http://schemas.openxmlformats.org/officeDocument/2006/relationships/slide" Target="/ppt/slides/slide2.xml" Id="R7667253191514a27" /><Relationship Type="http://schemas.openxmlformats.org/officeDocument/2006/relationships/slide" Target="/ppt/slides/slide3.xml" Id="R3cecc4e648b34690" /><Relationship Type="http://schemas.openxmlformats.org/officeDocument/2006/relationships/slide" Target="/ppt/slides/slide4.xml" Id="R7bee6fcc64aa4088" /><Relationship Type="http://schemas.openxmlformats.org/officeDocument/2006/relationships/slide" Target="/ppt/slides/slide5.xml" Id="R461cbbd19f80422f" /><Relationship Type="http://schemas.openxmlformats.org/officeDocument/2006/relationships/slide" Target="/ppt/slides/slide6.xml" Id="R8b3fcb412fb746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ef23fcbf9846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ffa27bb8114110" /><Relationship Type="http://schemas.openxmlformats.org/officeDocument/2006/relationships/notesMaster" Target="/ppt/notesMasters/notesMaster1.xml" Id="R5daa6cff3ad84f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85408b16a64305" /><Relationship Type="http://schemas.openxmlformats.org/officeDocument/2006/relationships/notesMaster" Target="/ppt/notesMasters/notesMaster1.xml" Id="R1047ebc7d94048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ae757490a34d14" /><Relationship Type="http://schemas.openxmlformats.org/officeDocument/2006/relationships/notesMaster" Target="/ppt/notesMasters/notesMaster1.xml" Id="R9fadb723492849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8b9f7277b24cef" /><Relationship Type="http://schemas.openxmlformats.org/officeDocument/2006/relationships/notesMaster" Target="/ppt/notesMasters/notesMaster1.xml" Id="R3c70b9d6b5e047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c6f72431db41cb" /><Relationship Type="http://schemas.openxmlformats.org/officeDocument/2006/relationships/notesMaster" Target="/ppt/notesMasters/notesMaster1.xml" Id="R3720f48655fb41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8b74304f6244ce" /><Relationship Type="http://schemas.openxmlformats.org/officeDocument/2006/relationships/notesMaster" Target="/ppt/notesMasters/notesMaster1.xml" Id="Rf70bfe2d73a140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</a:t>
            </a:r>
          </a:p>
          <a:p xmlns:a="http://schemas.openxmlformats.org/drawingml/2006/main">
            <a:r>
              <a:t>VeilIntent는 buyer가 정한 per-intent 지출 규칙으로 seller quote 결제를 제한하는 원형입니다. 현재 검증한 것은 Local Devnet 테스트 토큰의 단방향 payment입니다.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https://github.com/diveyreadytodive-star/veil-intent/blob/main/docs/veil-intent-implementation-decisions.md ; https://midnight.network/blog/midnight-city-simulation-live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0:20–0:45</a:t>
            </a:r>
          </a:p>
          <a:p xmlns:a="http://schemas.openxmlformats.org/drawingml/2006/main">
            <a:r>
              <a:t>Seed를 agent에 맡기면 권한이 넓고, 매번 직접 승인하면 대리가 멈추며, 공개 cap은 협상정보가 됩니다. 이는 측정된 수요가 아닌 제품 가설입니다.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https://github.com/diveyreadytodive-star/veil-intent/blob/main/docs/veil-intent-implementation-decisions.md ; https://midnight.network/blog/midnight-city-simulation-live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0:45–1:20</a:t>
            </a:r>
          </a:p>
          <a:p xmlns:a="http://schemas.openxmlformats.org/drawingml/2006/main">
            <a:r>
              <a:t>Buyer는 150을 예치하고, seller는 공개 quote 50×2=100을 냅니다. test-agent role이 Compact로 private cap을 승인하고 seller가 100, buyer가 change 50을 각각 claim합니다. 한 intent에는 quote 하나만 허용됩니다.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https://github.com/diveyreadytodive-star/veil-intent/blob/main/spikes/veil-intent/README.md ; https://github.com/diveyreadytodive-star/veil-intent/blob/main/spikes/veil-intent/docs/evidence/local-devnet-veil-intent.json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1:20–1:55</a:t>
            </a:r>
          </a:p>
          <a:p xmlns:a="http://schemas.openxmlformats.org/drawingml/2006/main">
            <a:r>
              <a:t>Compact는 quote 수량과 총액을 재계산하고 private max price와 budget, agent capability를 검사합니다. Chain에는 150 lot, quote100, commitments와 상태가 보입니다. Prover는 policy witness를 알며 public-field check는 raw transaction privacy audit이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https://github.com/diveyreadytodive-star/veil-intent/blob/main/spikes/veil-intent/contracts/veil_intent.compact ; https://github.com/diveyreadytodive-star/veil-intent/blob/main/spikes/veil-intent/README.md ; https://github.com/diveyreadytodive-star/veil-intent/blob/main/docs/veil-intent-implementation-decisions.md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1:55–2:30</a:t>
            </a:r>
          </a:p>
          <a:p xmlns:a="http://schemas.openxmlformats.org/drawingml/2006/main">
            <a:r>
              <a:t>실제 영수증 7건은 block 4222–4246에 확정됐고 독립 indexer 대조 7/7, 새 프로세스 지갑 readback seller100/buyer50을 확인했습니다. 이 테스트 자산으로 seller 상품 전달까지 하지는 않았습니다.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https://github.com/diveyreadytodive-star/veil-intent/blob/main/spikes/veil-intent/docs/evidence/local-devnet-veil-intent.json ; https://github.com/diveyreadytodive-star/veil-intent/blob/main/spikes/veil-intent/README.md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2:30–3:00</a:t>
            </a:r>
          </a:p>
          <a:p xmlns:a="http://schemas.openxmlformats.org/drawingml/2006/main">
            <a:r>
              <a:t>Agent는 LLM이 아니라 test role입니다. Approval circuit은 buyer seed를 받지 않지만 runner는 세 역할 seed를 한 process에 들고 buyer genesis가 DUST를 냈습니다. 공개 quote와 escrow는 cap 범위를 드러냅니다. Atomic swap, independent agent service, browser/Preprod, reusable daily cap, customer PMF는 미검증입니다.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https://github.com/diveyreadytodive-star/veil-intent/blob/main/spikes/veil-intent/README.md ; https://github.com/diveyreadytodive-star/veil-intent/blob/main/docs/veil-intent-implementation-decisions.md ; https://github.com/diveyreadytodive-star/veil-intent/blob/main/spikes/veil-intent/docs/evidence/local-devnet-veil-intent.json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b925faf3944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d37b2c1e054dd6" /><Relationship Type="http://schemas.openxmlformats.org/officeDocument/2006/relationships/slideLayout" Target="/ppt/slideLayouts/slideLayout1.xml" Id="Ra8f8d290495c4d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f8d290495c4d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1365cbf774e4f" /><Relationship Type="http://schemas.openxmlformats.org/officeDocument/2006/relationships/notesSlide" Target="/ppt/notesSlides/notesSlide1.xml" Id="Rf878adccf8d045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a45f7fed5477f" /><Relationship Type="http://schemas.openxmlformats.org/officeDocument/2006/relationships/notesSlide" Target="/ppt/notesSlides/notesSlide2.xml" Id="Rdef7e96c36304a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22850b2d1491c" /><Relationship Type="http://schemas.openxmlformats.org/officeDocument/2006/relationships/notesSlide" Target="/ppt/notesSlides/notesSlide3.xml" Id="R339da368aadf45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6066a142e4dc7" /><Relationship Type="http://schemas.openxmlformats.org/officeDocument/2006/relationships/notesSlide" Target="/ppt/notesSlides/notesSlide4.xml" Id="Ra96030ba17744d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fb48c91af41c9" /><Relationship Type="http://schemas.openxmlformats.org/officeDocument/2006/relationships/notesSlide" Target="/ppt/notesSlides/notesSlide5.xml" Id="R912e25e947e940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576115cc945f4" /><Relationship Type="http://schemas.openxmlformats.org/officeDocument/2006/relationships/notesSlide" Target="/ppt/notesSlides/notesSlide6.xml" Id="R1896ec1e929545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5FD9F1A-498A-44E6-BD4B-77E339BB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MIDNIGHT KOREA HACKATHON 2026  /  WORKING TITLE</a:t>
            </a:r>
          </a:p>
        </p:txBody>
      </p:sp>
      <p:sp>
        <p:nvSpPr>
          <p:cNvPr id="2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043AF42E-8783-469E-B025-DA1FFA2E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76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4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VeilIntent</a:t>
            </a:r>
          </a:p>
        </p:txBody>
      </p:sp>
      <p:sp>
        <p:nvSpPr>
          <p:cNvPr id="3" name="cover-claim">
            <a:extLst xmlns:a="http://schemas.openxmlformats.org/drawingml/2006/main">
              <a:ext uri="{FF2B5EF4-FFF2-40B4-BE49-F238E27FC236}">
                <a16:creationId xmlns:a16="http://schemas.microsoft.com/office/drawing/2014/main" id="{D118096F-50FF-4C5E-A124-C148E973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47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Give agents a spending rule,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not the buyer's wallet key.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409F0-D507-45C6-93CD-AB13FA92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9DED0"/>
            </a:solidFill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2ABD312-6278-4967-8E97-26E2A793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One buyer · one seller · one per-intent payment</a:t>
            </a:r>
          </a:p>
        </p:txBody>
      </p:sp>
      <p:sp>
        <p:nvSpPr>
          <p:cNvPr id="6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8206FC95-7CB2-4858-AD21-45A2D148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C9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C96E"/>
                </a:solidFill>
                <a:latin typeface="Arial"/>
                <a:ea typeface="Arial"/>
                <a:cs typeface="Arial"/>
              </a:rPr>
              <a:t>One-way Local Devnet test-token payment · simulated agent role · not an atomic swap</a:t>
            </a:r>
          </a:p>
        </p:txBody>
      </p:sp>
    </p:spTree>
    <p:extLst>
      <p:ext uri="{BB962C8B-B14F-4D97-AF65-F5344CB8AC3E}">
        <p14:creationId xmlns:p14="http://schemas.microsoft.com/office/powerpoint/2010/main" val="1845749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CF7053-1EB8-470E-BADF-56A8FFB2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Agent Spending Needs a Clear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CD831-ADA2-4AA9-9FBF-BEB2BA7A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C2577582-4A99-4309-9989-6CC9FEAB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8849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8849F"/>
                </a:solidFill>
                <a:latin typeface="Arial"/>
                <a:ea typeface="Arial"/>
                <a:cs typeface="Arial"/>
              </a:rPr>
              <a:t>VEILINTENT  /  MIDNIGHT KOREA HACKATHON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98246A8-C2FF-45DF-BFBF-F02FB843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  <p:sp>
        <p:nvSpPr>
          <p:cNvPr id="5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25A01806-4C5B-4AF3-9A8E-2E8C069F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6C9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6C96E"/>
                </a:solidFill>
                <a:latin typeface="Arial"/>
                <a:ea typeface="Arial"/>
                <a:cs typeface="Arial"/>
              </a:rPr>
              <a:t>PROBLEM HYPOTHESIS</a:t>
            </a:r>
          </a:p>
        </p:txBody>
      </p:sp>
      <p:sp>
        <p:nvSpPr>
          <p:cNvPr id="6" name="problem-heading-0">
            <a:extLst xmlns:a="http://schemas.openxmlformats.org/drawingml/2006/main">
              <a:ext uri="{FF2B5EF4-FFF2-40B4-BE49-F238E27FC236}">
                <a16:creationId xmlns:a16="http://schemas.microsoft.com/office/drawing/2014/main" id="{DBEC49C7-8DEC-49CE-8B7A-233AFF6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Hand Over the 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C4D24-402D-4018-B63E-123E5EE9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9DED0"/>
            </a:solidFill>
            <a:prstDash val="solid"/>
          </a:ln>
        </p:spPr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0244CA43-81A6-4D2B-92CF-622AADC3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Agent may spend beyond this purchase.</a:t>
            </a:r>
          </a:p>
        </p:txBody>
      </p:sp>
      <p:sp>
        <p:nvSpPr>
          <p:cNvPr id="9" name="problem-heading-1">
            <a:extLst xmlns:a="http://schemas.openxmlformats.org/drawingml/2006/main">
              <a:ext uri="{FF2B5EF4-FFF2-40B4-BE49-F238E27FC236}">
                <a16:creationId xmlns:a16="http://schemas.microsoft.com/office/drawing/2014/main" id="{7AF8823D-1BC3-4D0D-A81F-8CBB84FF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C9A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C9AFF"/>
                </a:solidFill>
                <a:latin typeface="Arial"/>
                <a:ea typeface="Arial"/>
                <a:cs typeface="Arial"/>
              </a:rPr>
              <a:t>Approve Every Payment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163CB-EAC8-4FC3-8107-ADBD2AE3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C9AFF"/>
            </a:solidFill>
            <a:prstDash val="solid"/>
          </a:ln>
        </p:spPr>
      </p:sp>
      <p:sp>
        <p:nvSpPr>
          <p:cNvPr id="11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10DFC91C-5D20-4503-85A3-31C6CCDD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Each quote still waits for buyer approval.</a:t>
            </a:r>
          </a:p>
        </p:txBody>
      </p:sp>
      <p:sp>
        <p:nvSpPr>
          <p:cNvPr id="12" name="problem-heading-2">
            <a:extLst xmlns:a="http://schemas.openxmlformats.org/drawingml/2006/main">
              <a:ext uri="{FF2B5EF4-FFF2-40B4-BE49-F238E27FC236}">
                <a16:creationId xmlns:a16="http://schemas.microsoft.com/office/drawing/2014/main" id="{DC062E9D-4974-4ED9-843E-E499C071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6C9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6C96E"/>
                </a:solidFill>
                <a:latin typeface="Arial"/>
                <a:ea typeface="Arial"/>
                <a:cs typeface="Arial"/>
              </a:rPr>
              <a:t>Publish the 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A95FB-FA47-44D0-9FB0-D399D252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96E"/>
            </a:solidFill>
            <a:prstDash val="solid"/>
          </a:ln>
        </p:spPr>
      </p:sp>
      <p:sp>
        <p:nvSpPr>
          <p:cNvPr id="14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9D6AE572-603F-4F62-9F23-478E207C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Reveals the buyer's negotiating range.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9BA21-7A1B-4252-82FA-DD68722B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16" name="problem-question">
            <a:extLst xmlns:a="http://schemas.openxmlformats.org/drawingml/2006/main">
              <a:ext uri="{FF2B5EF4-FFF2-40B4-BE49-F238E27FC236}">
                <a16:creationId xmlns:a16="http://schemas.microsoft.com/office/drawing/2014/main" id="{8A76D96D-D331-4711-9132-CC48D5C6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Can a quote be accepted against a private per-intent cap, without handing over the buyer seed?</a:t>
            </a:r>
          </a:p>
        </p:txBody>
      </p:sp>
      <p:sp>
        <p:nvSpPr>
          <p:cNvPr id="17" name="problem-scope">
            <a:extLst xmlns:a="http://schemas.openxmlformats.org/drawingml/2006/main">
              <a:ext uri="{FF2B5EF4-FFF2-40B4-BE49-F238E27FC236}">
                <a16:creationId xmlns:a16="http://schemas.microsoft.com/office/drawing/2014/main" id="{2C096113-A533-4DE9-A239-B9DD88DC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8849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49F"/>
                </a:solidFill>
                <a:latin typeface="Arial"/>
                <a:ea typeface="Arial"/>
                <a:cs typeface="Arial"/>
              </a:rPr>
              <a:t>Design hypothesis only. No customer demand or PMF evidence is claimed.</a:t>
            </a:r>
          </a:p>
        </p:txBody>
      </p:sp>
    </p:spTree>
    <p:extLst>
      <p:ext uri="{BB962C8B-B14F-4D97-AF65-F5344CB8AC3E}">
        <p14:creationId xmlns:p14="http://schemas.microsoft.com/office/powerpoint/2010/main" val="1229280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816C46-E639-403E-8A82-05E06EAD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One Intent. One Seller. One Payment.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89F22-E768-49C5-AA19-94ECC7AF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BE27D68-3F8A-4065-B198-D77F234F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8849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8849F"/>
                </a:solidFill>
                <a:latin typeface="Arial"/>
                <a:ea typeface="Arial"/>
                <a:cs typeface="Arial"/>
              </a:rPr>
              <a:t>VEILINTENT  /  MIDNIGHT KOREA HACKATHON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481E639F-B45E-48FD-84DB-17CBBC17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  <p:sp>
        <p:nvSpPr>
          <p:cNvPr id="5" name="flow-label">
            <a:extLst xmlns:a="http://schemas.openxmlformats.org/drawingml/2006/main">
              <a:ext uri="{FF2B5EF4-FFF2-40B4-BE49-F238E27FC236}">
                <a16:creationId xmlns:a16="http://schemas.microsoft.com/office/drawing/2014/main" id="{D708A12C-726A-4361-8A88-8558E70D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LOCAL DEVNET PATH  /  ONE QUOTE PER INTENT</a:t>
            </a:r>
          </a:p>
        </p:txBody>
      </p:sp>
      <p:sp>
        <p:nvSpPr>
          <p:cNvPr id="6" name="flow-buyer">
            <a:extLst xmlns:a="http://schemas.openxmlformats.org/drawingml/2006/main">
              <a:ext uri="{FF2B5EF4-FFF2-40B4-BE49-F238E27FC236}">
                <a16:creationId xmlns:a16="http://schemas.microsoft.com/office/drawing/2014/main" id="{3AE0C87A-2794-472F-9BFB-E3DAF435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209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BUYER OPENS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Escrow 150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Private per-intent cap</a:t>
            </a:r>
          </a:p>
        </p:txBody>
      </p:sp>
      <p:sp>
        <p:nvSpPr>
          <p:cNvPr id="7" name="flow-seller-quote">
            <a:extLst xmlns:a="http://schemas.openxmlformats.org/drawingml/2006/main">
              <a:ext uri="{FF2B5EF4-FFF2-40B4-BE49-F238E27FC236}">
                <a16:creationId xmlns:a16="http://schemas.microsoft.com/office/drawing/2014/main" id="{67F0711B-A3FA-40AF-B391-AC53C7C1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209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SELLER QUOTES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50 units × $2.00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Public total 100</a:t>
            </a:r>
          </a:p>
        </p:txBody>
      </p:sp>
      <p:sp>
        <p:nvSpPr>
          <p:cNvPr id="8" name="flow-agent-approval">
            <a:extLst xmlns:a="http://schemas.openxmlformats.org/drawingml/2006/main">
              <a:ext uri="{FF2B5EF4-FFF2-40B4-BE49-F238E27FC236}">
                <a16:creationId xmlns:a16="http://schemas.microsoft.com/office/drawing/2014/main" id="{A8838F4B-B250-405F-8075-10D633DB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38375"/>
            <a:ext cx="2209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TEST AGENT ROLE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Compact checks quote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against private cap</a:t>
            </a:r>
          </a:p>
        </p:txBody>
      </p:sp>
      <p:sp>
        <p:nvSpPr>
          <p:cNvPr id="9" name="flow-claims">
            <a:extLst xmlns:a="http://schemas.openxmlformats.org/drawingml/2006/main">
              <a:ext uri="{FF2B5EF4-FFF2-40B4-BE49-F238E27FC236}">
                <a16:creationId xmlns:a16="http://schemas.microsoft.com/office/drawing/2014/main" id="{4EC70065-3EBA-452F-8976-5D632F5A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38375"/>
            <a:ext cx="2819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SEPARATE CLAIMS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Seller receives 100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Buyer claims 50 change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95600" y="3000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DED0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562600" y="3000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DED0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229600" y="3000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9DED0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9F79F-2CD3-42E4-B459-9E87C5BB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14" name="flow-one-quote-limit">
            <a:extLst xmlns:a="http://schemas.openxmlformats.org/drawingml/2006/main">
              <a:ext uri="{FF2B5EF4-FFF2-40B4-BE49-F238E27FC236}">
                <a16:creationId xmlns:a16="http://schemas.microsoft.com/office/drawing/2014/main" id="{B3D07B06-76E6-425A-99D9-7B809F34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One quote is allowed. If the agent rejects it, the buyer cancels and creates a new intent.</a:t>
            </a:r>
          </a:p>
        </p:txBody>
      </p:sp>
      <p:sp>
        <p:nvSpPr>
          <p:cNvPr id="15" name="flow-payment-boundary">
            <a:extLst xmlns:a="http://schemas.openxmlformats.org/drawingml/2006/main">
              <a:ext uri="{FF2B5EF4-FFF2-40B4-BE49-F238E27FC236}">
                <a16:creationId xmlns:a16="http://schemas.microsoft.com/office/drawing/2014/main" id="{8E886C6B-D337-43C7-A107-3A34DF85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6C9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6C96E"/>
                </a:solidFill>
                <a:latin typeface="Arial"/>
                <a:ea typeface="Arial"/>
                <a:cs typeface="Arial"/>
              </a:rPr>
              <a:t>Payment only: the seller does not escrow or deliver a product asset in this prototype.</a:t>
            </a:r>
          </a:p>
        </p:txBody>
      </p:sp>
    </p:spTree>
    <p:extLst>
      <p:ext uri="{BB962C8B-B14F-4D97-AF65-F5344CB8AC3E}">
        <p14:creationId xmlns:p14="http://schemas.microsoft.com/office/powerpoint/2010/main" val="66929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7AFBB3-8CD0-4B32-A4DA-D5BD4BD7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Compact Checks Private Spending Caps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36ABA-294E-4438-9092-85BD4F30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9883DF8-677E-4877-A6B6-286693E7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8849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8849F"/>
                </a:solidFill>
                <a:latin typeface="Arial"/>
                <a:ea typeface="Arial"/>
                <a:cs typeface="Arial"/>
              </a:rPr>
              <a:t>VEILINTENT  /  MIDNIGHT KOREA HACKATHON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8A28C61-C55B-47C8-BE62-59876156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  <p:sp>
        <p:nvSpPr>
          <p:cNvPr id="5" name="compact-label">
            <a:extLst xmlns:a="http://schemas.openxmlformats.org/drawingml/2006/main">
              <a:ext uri="{FF2B5EF4-FFF2-40B4-BE49-F238E27FC236}">
                <a16:creationId xmlns:a16="http://schemas.microsoft.com/office/drawing/2014/main" id="{4CEA516B-FF75-478F-87A9-FAD98C7B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C9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C9AFF"/>
                </a:solidFill>
                <a:latin typeface="Arial"/>
                <a:ea typeface="Arial"/>
                <a:cs typeface="Arial"/>
              </a:rPr>
              <a:t>COMPACT PROOF BOUNDARY</a:t>
            </a:r>
          </a:p>
        </p:txBody>
      </p:sp>
      <p:sp>
        <p:nvSpPr>
          <p:cNvPr id="6" name="private-heading">
            <a:extLst xmlns:a="http://schemas.openxmlformats.org/drawingml/2006/main">
              <a:ext uri="{FF2B5EF4-FFF2-40B4-BE49-F238E27FC236}">
                <a16:creationId xmlns:a16="http://schemas.microsoft.com/office/drawing/2014/main" id="{A8A691B1-97BE-4879-8A9A-5F521E64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PROVER WITNESS</a:t>
            </a:r>
          </a:p>
        </p:txBody>
      </p:sp>
      <p:sp>
        <p:nvSpPr>
          <p:cNvPr id="7" name="public-heading">
            <a:extLst xmlns:a="http://schemas.openxmlformats.org/drawingml/2006/main">
              <a:ext uri="{FF2B5EF4-FFF2-40B4-BE49-F238E27FC236}">
                <a16:creationId xmlns:a16="http://schemas.microsoft.com/office/drawing/2014/main" id="{825F05C0-EBD5-43B7-86E9-92C35415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76425"/>
            <a:ext cx="5086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C9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C9AFF"/>
                </a:solidFill>
                <a:latin typeface="Arial"/>
                <a:ea typeface="Arial"/>
                <a:cs typeface="Arial"/>
              </a:rPr>
              <a:t>PUBLIC STATE / 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C7D81-7CFB-460B-82FB-01A4E3C8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76425"/>
            <a:ext cx="0" cy="3095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9" name="private-policy-items">
            <a:extLst xmlns:a="http://schemas.openxmlformats.org/drawingml/2006/main">
              <a:ext uri="{FF2B5EF4-FFF2-40B4-BE49-F238E27FC236}">
                <a16:creationId xmlns:a16="http://schemas.microsoft.com/office/drawing/2014/main" id="{30E6E0E3-FDA4-4B53-9345-3D6E911B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Buyer max unit price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Buyer max total budget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Intent nonce and salt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Agent capability secret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Compact checks quote quantity, price math, both caps, agent authorization, and one-time approval.</a:t>
            </a:r>
          </a:p>
        </p:txBody>
      </p:sp>
      <p:sp>
        <p:nvSpPr>
          <p:cNvPr id="10" name="public-state-items">
            <a:extLst xmlns:a="http://schemas.openxmlformats.org/drawingml/2006/main">
              <a:ext uri="{FF2B5EF4-FFF2-40B4-BE49-F238E27FC236}">
                <a16:creationId xmlns:a16="http://schemas.microsoft.com/office/drawing/2014/main" id="{2A85DE94-7320-4A85-B693-5730CFD0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50863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Fixed escrow lot: 150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Seller quote: 50 units × $2.00 = 100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Buyer, agent, seller, and recipient commitments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Deadline, status, and claimed amounts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Seller and buyer claim circuits disclose the destination key at sendShielded.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31721-52A6-4861-87DB-7DDBD52A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12" name="public-boundary-caveat">
            <a:extLst xmlns:a="http://schemas.openxmlformats.org/drawingml/2006/main">
              <a:ext uri="{FF2B5EF4-FFF2-40B4-BE49-F238E27FC236}">
                <a16:creationId xmlns:a16="http://schemas.microsoft.com/office/drawing/2014/main" id="{9095288E-D82F-4FA2-8E69-00F3C740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C9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C96E"/>
                </a:solidFill>
                <a:latin typeface="Arial"/>
                <a:ea typeface="Arial"/>
                <a:cs typeface="Arial"/>
              </a:rPr>
              <a:t>The 150 lot and 100 quote reveal a range for the private cap. Public-ledger field checks are not a raw-transaction, timing, or recipient privacy audit.</a:t>
            </a:r>
          </a:p>
        </p:txBody>
      </p:sp>
    </p:spTree>
    <p:extLst>
      <p:ext uri="{BB962C8B-B14F-4D97-AF65-F5344CB8AC3E}">
        <p14:creationId xmlns:p14="http://schemas.microsoft.com/office/powerpoint/2010/main" val="839586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24B1D5-3D97-44DE-AE46-EE7B5EE0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One payment completed on Local Devnet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56F6C-F3D5-480A-8E5E-ED70ABA0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85E2035-4396-40ED-975C-95CB397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8849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8849F"/>
                </a:solidFill>
                <a:latin typeface="Arial"/>
                <a:ea typeface="Arial"/>
                <a:cs typeface="Arial"/>
              </a:rPr>
              <a:t>VEILINTENT  /  MIDNIGHT KOREA HACKATHON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94BD3B7-BCAF-4850-BCB0-268976BF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5" name="chain-subtitle">
            <a:extLst xmlns:a="http://schemas.openxmlformats.org/drawingml/2006/main">
              <a:ext uri="{FF2B5EF4-FFF2-40B4-BE49-F238E27FC236}">
                <a16:creationId xmlns:a16="http://schemas.microsoft.com/office/drawing/2014/main" id="{74FDE348-422D-4969-84BD-0D22833F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Valueless shielded test token · actual receipt path · separate indexer check 7/7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5470D-9C69-4065-87AB-82289787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03C55"/>
            </a:solidFill>
            <a:prstDash val="solid"/>
          </a:ln>
        </p:spPr>
      </p:sp>
      <p:sp>
        <p:nvSpPr>
          <p:cNvPr id="7" name="receipt-node-0">
            <a:extLst xmlns:a="http://schemas.openxmlformats.org/drawingml/2006/main">
              <a:ext uri="{FF2B5EF4-FFF2-40B4-BE49-F238E27FC236}">
                <a16:creationId xmlns:a16="http://schemas.microsoft.com/office/drawing/2014/main" id="{392CA90A-2C7A-4D02-A01D-1AFA9159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ED0"/>
          </a:solidFill>
          <a:ln xmlns:a="http://schemas.openxmlformats.org/drawingml/2006/main" w="9525">
            <a:solidFill>
              <a:srgbClr val="69DED0"/>
            </a:solidFill>
            <a:prstDash val="solid"/>
          </a:ln>
        </p:spPr>
      </p:sp>
      <p:sp>
        <p:nvSpPr>
          <p:cNvPr id="8" name="receipt-stage-0">
            <a:extLst xmlns:a="http://schemas.openxmlformats.org/drawingml/2006/main">
              <a:ext uri="{FF2B5EF4-FFF2-40B4-BE49-F238E27FC236}">
                <a16:creationId xmlns:a16="http://schemas.microsoft.com/office/drawing/2014/main" id="{824530AF-EC63-4BF1-AD6F-5D75D9E6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955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9" name="receipt-block-0">
            <a:extLst xmlns:a="http://schemas.openxmlformats.org/drawingml/2006/main">
              <a:ext uri="{FF2B5EF4-FFF2-40B4-BE49-F238E27FC236}">
                <a16:creationId xmlns:a16="http://schemas.microsoft.com/office/drawing/2014/main" id="{93DD58AC-FA59-4F80-9D71-54E5241E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124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BLOCK 4222</a:t>
            </a:r>
          </a:p>
        </p:txBody>
      </p:sp>
      <p:sp>
        <p:nvSpPr>
          <p:cNvPr id="10" name="receipt-node-1">
            <a:extLst xmlns:a="http://schemas.openxmlformats.org/drawingml/2006/main">
              <a:ext uri="{FF2B5EF4-FFF2-40B4-BE49-F238E27FC236}">
                <a16:creationId xmlns:a16="http://schemas.microsoft.com/office/drawing/2014/main" id="{ED2F26B7-B9BF-415D-AABC-2112AF90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ED0"/>
          </a:solidFill>
          <a:ln xmlns:a="http://schemas.openxmlformats.org/drawingml/2006/main" w="9525">
            <a:solidFill>
              <a:srgbClr val="69DED0"/>
            </a:solidFill>
            <a:prstDash val="solid"/>
          </a:ln>
        </p:spPr>
      </p:sp>
      <p:sp>
        <p:nvSpPr>
          <p:cNvPr id="11" name="receipt-stage-1">
            <a:extLst xmlns:a="http://schemas.openxmlformats.org/drawingml/2006/main">
              <a:ext uri="{FF2B5EF4-FFF2-40B4-BE49-F238E27FC236}">
                <a16:creationId xmlns:a16="http://schemas.microsoft.com/office/drawing/2014/main" id="{A43C1C02-430C-46C0-B8B2-2E7E570E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955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Mint 150</a:t>
            </a:r>
          </a:p>
        </p:txBody>
      </p:sp>
      <p:sp>
        <p:nvSpPr>
          <p:cNvPr id="12" name="receipt-block-1">
            <a:extLst xmlns:a="http://schemas.openxmlformats.org/drawingml/2006/main">
              <a:ext uri="{FF2B5EF4-FFF2-40B4-BE49-F238E27FC236}">
                <a16:creationId xmlns:a16="http://schemas.microsoft.com/office/drawing/2014/main" id="{3D491E76-502E-4308-B3AD-5EC6342C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24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BLOCK 4225</a:t>
            </a:r>
          </a:p>
        </p:txBody>
      </p:sp>
      <p:sp>
        <p:nvSpPr>
          <p:cNvPr id="13" name="receipt-node-2">
            <a:extLst xmlns:a="http://schemas.openxmlformats.org/drawingml/2006/main">
              <a:ext uri="{FF2B5EF4-FFF2-40B4-BE49-F238E27FC236}">
                <a16:creationId xmlns:a16="http://schemas.microsoft.com/office/drawing/2014/main" id="{5876DA46-65F4-4633-96E9-84702BF4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ED0"/>
          </a:solidFill>
          <a:ln xmlns:a="http://schemas.openxmlformats.org/drawingml/2006/main" w="9525">
            <a:solidFill>
              <a:srgbClr val="69DED0"/>
            </a:solidFill>
            <a:prstDash val="solid"/>
          </a:ln>
        </p:spPr>
      </p:sp>
      <p:sp>
        <p:nvSpPr>
          <p:cNvPr id="14" name="receipt-stage-2">
            <a:extLst xmlns:a="http://schemas.openxmlformats.org/drawingml/2006/main">
              <a:ext uri="{FF2B5EF4-FFF2-40B4-BE49-F238E27FC236}">
                <a16:creationId xmlns:a16="http://schemas.microsoft.com/office/drawing/2014/main" id="{6FB1B978-7459-43D4-B9D6-14B512CD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Intent</a:t>
            </a:r>
          </a:p>
        </p:txBody>
      </p:sp>
      <p:sp>
        <p:nvSpPr>
          <p:cNvPr id="15" name="receipt-block-2">
            <a:extLst xmlns:a="http://schemas.openxmlformats.org/drawingml/2006/main">
              <a:ext uri="{FF2B5EF4-FFF2-40B4-BE49-F238E27FC236}">
                <a16:creationId xmlns:a16="http://schemas.microsoft.com/office/drawing/2014/main" id="{ED3EC753-C2AD-418D-A730-94F0027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BLOCK 4230</a:t>
            </a:r>
          </a:p>
        </p:txBody>
      </p:sp>
      <p:sp>
        <p:nvSpPr>
          <p:cNvPr id="16" name="receipt-node-3">
            <a:extLst xmlns:a="http://schemas.openxmlformats.org/drawingml/2006/main">
              <a:ext uri="{FF2B5EF4-FFF2-40B4-BE49-F238E27FC236}">
                <a16:creationId xmlns:a16="http://schemas.microsoft.com/office/drawing/2014/main" id="{7EF40681-01CA-4B09-8D66-5A9BC5CE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ED0"/>
          </a:solidFill>
          <a:ln xmlns:a="http://schemas.openxmlformats.org/drawingml/2006/main" w="9525">
            <a:solidFill>
              <a:srgbClr val="69DED0"/>
            </a:solidFill>
            <a:prstDash val="solid"/>
          </a:ln>
        </p:spPr>
      </p:sp>
      <p:sp>
        <p:nvSpPr>
          <p:cNvPr id="17" name="receipt-stage-3">
            <a:extLst xmlns:a="http://schemas.openxmlformats.org/drawingml/2006/main">
              <a:ext uri="{FF2B5EF4-FFF2-40B4-BE49-F238E27FC236}">
                <a16:creationId xmlns:a16="http://schemas.microsoft.com/office/drawing/2014/main" id="{E2B7885D-5C7D-4DCA-BCD1-7FDA5BBE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955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Quote</a:t>
            </a:r>
          </a:p>
        </p:txBody>
      </p:sp>
      <p:sp>
        <p:nvSpPr>
          <p:cNvPr id="18" name="receipt-block-3">
            <a:extLst xmlns:a="http://schemas.openxmlformats.org/drawingml/2006/main">
              <a:ext uri="{FF2B5EF4-FFF2-40B4-BE49-F238E27FC236}">
                <a16:creationId xmlns:a16="http://schemas.microsoft.com/office/drawing/2014/main" id="{6ACAB869-734F-4E48-B557-EC29E003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BLOCK 4234</a:t>
            </a:r>
          </a:p>
        </p:txBody>
      </p:sp>
      <p:sp>
        <p:nvSpPr>
          <p:cNvPr id="19" name="receipt-node-4">
            <a:extLst xmlns:a="http://schemas.openxmlformats.org/drawingml/2006/main">
              <a:ext uri="{FF2B5EF4-FFF2-40B4-BE49-F238E27FC236}">
                <a16:creationId xmlns:a16="http://schemas.microsoft.com/office/drawing/2014/main" id="{7E84FDFB-6893-4FAD-9829-ED1E99BB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ED0"/>
          </a:solidFill>
          <a:ln xmlns:a="http://schemas.openxmlformats.org/drawingml/2006/main" w="9525">
            <a:solidFill>
              <a:srgbClr val="69DED0"/>
            </a:solidFill>
            <a:prstDash val="solid"/>
          </a:ln>
        </p:spPr>
      </p:sp>
      <p:sp>
        <p:nvSpPr>
          <p:cNvPr id="20" name="receipt-stage-4">
            <a:extLst xmlns:a="http://schemas.openxmlformats.org/drawingml/2006/main">
              <a:ext uri="{FF2B5EF4-FFF2-40B4-BE49-F238E27FC236}">
                <a16:creationId xmlns:a16="http://schemas.microsoft.com/office/drawing/2014/main" id="{C6302EA3-06A9-47BC-8F07-53A384D5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955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1" name="receipt-block-4">
            <a:extLst xmlns:a="http://schemas.openxmlformats.org/drawingml/2006/main">
              <a:ext uri="{FF2B5EF4-FFF2-40B4-BE49-F238E27FC236}">
                <a16:creationId xmlns:a16="http://schemas.microsoft.com/office/drawing/2014/main" id="{06D1D447-778F-430D-8C03-57ADA226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24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BLOCK 4238</a:t>
            </a:r>
          </a:p>
        </p:txBody>
      </p:sp>
      <p:sp>
        <p:nvSpPr>
          <p:cNvPr id="22" name="receipt-node-5">
            <a:extLst xmlns:a="http://schemas.openxmlformats.org/drawingml/2006/main">
              <a:ext uri="{FF2B5EF4-FFF2-40B4-BE49-F238E27FC236}">
                <a16:creationId xmlns:a16="http://schemas.microsoft.com/office/drawing/2014/main" id="{F799F15E-C774-4AE6-9667-8032271B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ED0"/>
          </a:solidFill>
          <a:ln xmlns:a="http://schemas.openxmlformats.org/drawingml/2006/main" w="9525">
            <a:solidFill>
              <a:srgbClr val="69DED0"/>
            </a:solidFill>
            <a:prstDash val="solid"/>
          </a:ln>
        </p:spPr>
      </p:sp>
      <p:sp>
        <p:nvSpPr>
          <p:cNvPr id="23" name="receipt-stage-5">
            <a:extLst xmlns:a="http://schemas.openxmlformats.org/drawingml/2006/main">
              <a:ext uri="{FF2B5EF4-FFF2-40B4-BE49-F238E27FC236}">
                <a16:creationId xmlns:a16="http://schemas.microsoft.com/office/drawing/2014/main" id="{5D7FBC14-6B0B-4885-8D2C-3510DA54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Seller claim 100</a:t>
            </a:r>
          </a:p>
        </p:txBody>
      </p:sp>
      <p:sp>
        <p:nvSpPr>
          <p:cNvPr id="24" name="receipt-block-5">
            <a:extLst xmlns:a="http://schemas.openxmlformats.org/drawingml/2006/main">
              <a:ext uri="{FF2B5EF4-FFF2-40B4-BE49-F238E27FC236}">
                <a16:creationId xmlns:a16="http://schemas.microsoft.com/office/drawing/2014/main" id="{D1D39F5C-024F-4E99-A81B-390DC39A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24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BLOCK 4242</a:t>
            </a:r>
          </a:p>
        </p:txBody>
      </p:sp>
      <p:sp>
        <p:nvSpPr>
          <p:cNvPr id="25" name="receipt-node-6">
            <a:extLst xmlns:a="http://schemas.openxmlformats.org/drawingml/2006/main">
              <a:ext uri="{FF2B5EF4-FFF2-40B4-BE49-F238E27FC236}">
                <a16:creationId xmlns:a16="http://schemas.microsoft.com/office/drawing/2014/main" id="{07B0EC7F-9DE3-4E26-B631-ED2F3121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279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DED0"/>
          </a:solidFill>
          <a:ln xmlns:a="http://schemas.openxmlformats.org/drawingml/2006/main" w="9525">
            <a:solidFill>
              <a:srgbClr val="69DED0"/>
            </a:solidFill>
            <a:prstDash val="solid"/>
          </a:ln>
        </p:spPr>
      </p:sp>
      <p:sp>
        <p:nvSpPr>
          <p:cNvPr id="26" name="receipt-stage-6">
            <a:extLst xmlns:a="http://schemas.openxmlformats.org/drawingml/2006/main">
              <a:ext uri="{FF2B5EF4-FFF2-40B4-BE49-F238E27FC236}">
                <a16:creationId xmlns:a16="http://schemas.microsoft.com/office/drawing/2014/main" id="{5F5E2947-C514-49CE-8BA1-87229808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95500"/>
            <a:ext cx="144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Buyer claim 50</a:t>
            </a:r>
          </a:p>
        </p:txBody>
      </p:sp>
      <p:sp>
        <p:nvSpPr>
          <p:cNvPr id="27" name="receipt-block-6">
            <a:extLst xmlns:a="http://schemas.openxmlformats.org/drawingml/2006/main">
              <a:ext uri="{FF2B5EF4-FFF2-40B4-BE49-F238E27FC236}">
                <a16:creationId xmlns:a16="http://schemas.microsoft.com/office/drawing/2014/main" id="{68C2521E-8EB3-4A8F-AA30-1BD9BEBD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242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BLOCK 4246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A47CC9-CD14-4591-996C-CD3EC7E3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29" name="readback-results">
            <a:extLst xmlns:a="http://schemas.openxmlformats.org/drawingml/2006/main">
              <a:ext uri="{FF2B5EF4-FFF2-40B4-BE49-F238E27FC236}">
                <a16:creationId xmlns:a16="http://schemas.microsoft.com/office/drawing/2014/main" id="{A4470D0F-24FD-47CF-9768-705F0C6B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AB5CE"/>
                </a:solidFill>
                <a:latin typeface="Arial"/>
                <a:ea typeface="Arial"/>
                <a:cs typeface="Arial"/>
              </a:rPr>
              <a:t>New-process wallet readback</a:t>
            </a:r>
          </a:p>
        </p:txBody>
      </p:sp>
      <p:sp>
        <p:nvSpPr>
          <p:cNvPr id="30" name="readback-balances">
            <a:extLst xmlns:a="http://schemas.openxmlformats.org/drawingml/2006/main">
              <a:ext uri="{FF2B5EF4-FFF2-40B4-BE49-F238E27FC236}">
                <a16:creationId xmlns:a16="http://schemas.microsoft.com/office/drawing/2014/main" id="{DD898C58-7B22-4213-AA6E-B63BBBCE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Seller 100    /    Buyer 50</a:t>
            </a:r>
          </a:p>
        </p:txBody>
      </p:sp>
      <p:sp>
        <p:nvSpPr>
          <p:cNvPr id="31" name="readback-caveat">
            <a:extLst xmlns:a="http://schemas.openxmlformats.org/drawingml/2006/main">
              <a:ext uri="{FF2B5EF4-FFF2-40B4-BE49-F238E27FC236}">
                <a16:creationId xmlns:a16="http://schemas.microsoft.com/office/drawing/2014/main" id="{0AC54E84-3E7C-43FD-B681-0C27F424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6C9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6C96E"/>
                </a:solidFill>
                <a:latin typeface="Arial"/>
                <a:ea typeface="Arial"/>
                <a:cs typeface="Arial"/>
              </a:rPr>
              <a:t>The 150 lot and quote are public. The seller does not escrow or deliver a second asset.</a:t>
            </a:r>
          </a:p>
        </p:txBody>
      </p:sp>
    </p:spTree>
    <p:extLst>
      <p:ext uri="{BB962C8B-B14F-4D97-AF65-F5344CB8AC3E}">
        <p14:creationId xmlns:p14="http://schemas.microsoft.com/office/powerpoint/2010/main" val="701396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36BBB5-9040-4E06-B06D-BDF76326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1F4FF"/>
                </a:solidFill>
                <a:latin typeface="Arial"/>
                <a:ea typeface="Arial"/>
                <a:cs typeface="Arial"/>
              </a:rPr>
              <a:t>What this verified flow does not establish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8237F-49FC-4BF3-96F2-447B3D31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3230A6B-D5B3-4C3A-8AEE-407DB29A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8849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8849F"/>
                </a:solidFill>
                <a:latin typeface="Arial"/>
                <a:ea typeface="Arial"/>
                <a:cs typeface="Arial"/>
              </a:rPr>
              <a:t>VEILINTENT  /  MIDNIGHT KOREA HACKATHON 2026</a:t>
            </a:r>
          </a:p>
        </p:txBody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CCA61BB-5901-4FCC-A509-0DDDBB15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AAB5C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AB5CE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  <p:sp>
        <p:nvSpPr>
          <p:cNvPr id="5" name="boundary-title-0">
            <a:extLst xmlns:a="http://schemas.openxmlformats.org/drawingml/2006/main">
              <a:ext uri="{FF2B5EF4-FFF2-40B4-BE49-F238E27FC236}">
                <a16:creationId xmlns:a16="http://schemas.microsoft.com/office/drawing/2014/main" id="{EBD4AD13-A690-4B3E-AF29-FC50D04C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9DED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9DED0"/>
                </a:solidFill>
                <a:latin typeface="Arial"/>
                <a:ea typeface="Arial"/>
                <a:cs typeface="Arial"/>
              </a:rPr>
              <a:t>TRUST /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73881-8DFD-4075-A1E4-108B4ABA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9DED0"/>
            </a:solidFill>
            <a:prstDash val="solid"/>
          </a:ln>
        </p:spPr>
      </p:sp>
      <p:sp>
        <p:nvSpPr>
          <p:cNvPr id="7" name="boundary-body-0">
            <a:extLst xmlns:a="http://schemas.openxmlformats.org/drawingml/2006/main">
              <a:ext uri="{FF2B5EF4-FFF2-40B4-BE49-F238E27FC236}">
                <a16:creationId xmlns:a16="http://schemas.microsoft.com/office/drawing/2014/main" id="{35EAC50A-3332-4E6B-8B94-7AD9915D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286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No LLM or generated orders.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Agent is a test wallet/secret role.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Approval circuit excludes buyer seed.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One process holds buyer/seller/solver test seeds; buyer genesis pays DUST. Independent services are unverified.</a:t>
            </a:r>
          </a:p>
        </p:txBody>
      </p:sp>
      <p:sp>
        <p:nvSpPr>
          <p:cNvPr id="8" name="boundary-title-1">
            <a:extLst xmlns:a="http://schemas.openxmlformats.org/drawingml/2006/main">
              <a:ext uri="{FF2B5EF4-FFF2-40B4-BE49-F238E27FC236}">
                <a16:creationId xmlns:a16="http://schemas.microsoft.com/office/drawing/2014/main" id="{5B608419-AD22-4E5C-B86C-2380705E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43050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C9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C9AFF"/>
                </a:solidFill>
                <a:latin typeface="Arial"/>
                <a:ea typeface="Arial"/>
                <a:cs typeface="Arial"/>
              </a:rPr>
              <a:t>PUBLIC / PRIVATE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51AE0-7C0F-472E-954B-96D961D6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C9AFF"/>
            </a:solidFill>
            <a:prstDash val="solid"/>
          </a:ln>
        </p:spPr>
      </p:sp>
      <p:sp>
        <p:nvSpPr>
          <p:cNvPr id="10" name="boundary-body-1">
            <a:extLst xmlns:a="http://schemas.openxmlformats.org/drawingml/2006/main">
              <a:ext uri="{FF2B5EF4-FFF2-40B4-BE49-F238E27FC236}">
                <a16:creationId xmlns:a16="http://schemas.microsoft.com/office/drawing/2014/main" id="{EDF179F4-EDA8-439F-812B-D6DB131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3286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Escrow 150 and quote 100 are public, along with quote quantity, price, commitments, and state. These values reveal a range for the hidden cap.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Policy witness is known to its trusted prover. No raw-transaction, timing, or recipient audit.</a:t>
            </a:r>
          </a:p>
        </p:txBody>
      </p:sp>
      <p:sp>
        <p:nvSpPr>
          <p:cNvPr id="11" name="boundary-title-2">
            <a:extLst xmlns:a="http://schemas.openxmlformats.org/drawingml/2006/main">
              <a:ext uri="{FF2B5EF4-FFF2-40B4-BE49-F238E27FC236}">
                <a16:creationId xmlns:a16="http://schemas.microsoft.com/office/drawing/2014/main" id="{D29A5C35-4A23-4759-AF61-D95F854A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43050"/>
            <a:ext cx="3276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6C9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6C96E"/>
                </a:solidFill>
                <a:latin typeface="Arial"/>
                <a:ea typeface="Arial"/>
                <a:cs typeface="Arial"/>
              </a:rPr>
              <a:t>PRODUCT / DEMAND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A9142-F2B0-4A0F-8A11-2D8B57F7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6C96E"/>
            </a:solidFill>
            <a:prstDash val="solid"/>
          </a:ln>
        </p:spPr>
      </p:sp>
      <p:sp>
        <p:nvSpPr>
          <p:cNvPr id="13" name="boundary-body-2">
            <a:extLst xmlns:a="http://schemas.openxmlformats.org/drawingml/2006/main">
              <a:ext uri="{FF2B5EF4-FFF2-40B4-BE49-F238E27FC236}">
                <a16:creationId xmlns:a16="http://schemas.microsoft.com/office/drawing/2014/main" id="{3E600F98-2937-4DAF-891F-CEC0DCA0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3286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One-way payment, not atomic swap or seller asset delivery. One quote per intent; rejection needs cancel + new intent. No reusable daily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F1F4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1F4FF"/>
                </a:solidFill>
                <a:latin typeface="Arial"/>
                <a:ea typeface="Arial"/>
                <a:cs typeface="Arial"/>
              </a:rPr>
              <a:t>Browser and Preprod unverified. No customer PMF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51BEF-FE27-46EF-A49E-346896E8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4305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E2948-2416-4DAC-91AB-E1261D7E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4305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C55"/>
            </a:solidFill>
            <a:prstDash val="solid"/>
          </a:ln>
        </p:spPr>
      </p:sp>
      <p:sp>
        <p:nvSpPr>
          <p:cNvPr id="16" name="boundary-summary">
            <a:extLst xmlns:a="http://schemas.openxmlformats.org/drawingml/2006/main">
              <a:ext uri="{FF2B5EF4-FFF2-40B4-BE49-F238E27FC236}">
                <a16:creationId xmlns:a16="http://schemas.microsoft.com/office/drawing/2014/main" id="{C27DC58F-2C17-411C-B295-41BBE467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C9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C96E"/>
                </a:solidFill>
                <a:latin typeface="Arial"/>
                <a:ea typeface="Arial"/>
                <a:cs typeface="Arial"/>
              </a:rPr>
              <a:t>Local proof is a first payment-policy milestone, not evidence of atomic exchange, independent agent custody, customer PMF, or hackathon submission.</a:t>
            </a:r>
          </a:p>
        </p:txBody>
      </p:sp>
    </p:spTree>
    <p:extLst>
      <p:ext uri="{BB962C8B-B14F-4D97-AF65-F5344CB8AC3E}">
        <p14:creationId xmlns:p14="http://schemas.microsoft.com/office/powerpoint/2010/main" val="1468084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2026-09-26T04:29:11.5340000Z</dcterms:created>
  <dcterms:modified xsi:type="dcterms:W3CDTF">2026-09-26T04:29:11.5340000Z</dcterms:modified>
</coreProperties>
</file>