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db36b638fdf47f7" /><Relationship Type="http://schemas.openxmlformats.org/officeDocument/2006/relationships/extended-properties" Target="/docProps/app.xml" Id="Rb73dfc2658554c1d" /><Relationship Type="http://schemas.openxmlformats.org/officeDocument/2006/relationships/officeDocument" Target="/ppt/presentation.xml" Id="R7859401f93034737" /></Relationships>
</file>

<file path=ppt/presentation.xml><?xml version="1.0" encoding="utf-8"?>
<p:presentation xmlns:p="http://schemas.openxmlformats.org/presentationml/2006/main">
  <p:sldMasterIdLst>
    <p:sldMasterId xmlns:r="http://schemas.openxmlformats.org/officeDocument/2006/relationships" id="2147483648" r:id="R4d86f85699614db6"/>
  </p:sldMasterIdLst>
  <p:notesMasterIdLst>
    <p:notesMasterId xmlns:r="http://schemas.openxmlformats.org/officeDocument/2006/relationships" r:id="R4b1d7eae64354bae"/>
  </p:notesMasterIdLst>
  <p:sldIdLst>
    <p:sldId xmlns:r="http://schemas.openxmlformats.org/officeDocument/2006/relationships" id="256" r:id="R0b871cadacfc42e5"/>
    <p:sldId xmlns:r="http://schemas.openxmlformats.org/officeDocument/2006/relationships" id="257" r:id="R7ec1225bef69402f"/>
    <p:sldId xmlns:r="http://schemas.openxmlformats.org/officeDocument/2006/relationships" id="258" r:id="Rcc2ec15bf23244ad"/>
    <p:sldId xmlns:r="http://schemas.openxmlformats.org/officeDocument/2006/relationships" id="259" r:id="R827c0a8567774e91"/>
    <p:sldId xmlns:r="http://schemas.openxmlformats.org/officeDocument/2006/relationships" id="260" r:id="R9fad71dc13e34ea5"/>
    <p:sldId xmlns:r="http://schemas.openxmlformats.org/officeDocument/2006/relationships" id="261" r:id="Rbbc5ca21ff86483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4fda3a844004012" /><Relationship Type="http://schemas.openxmlformats.org/officeDocument/2006/relationships/slideMaster" Target="/ppt/slideMasters/slideMaster1.xml" Id="R4d86f85699614db6" /><Relationship Type="http://schemas.openxmlformats.org/officeDocument/2006/relationships/notesMaster" Target="/ppt/notesMasters/notesMaster1.xml" Id="R4b1d7eae64354bae" /><Relationship Type="http://schemas.openxmlformats.org/officeDocument/2006/relationships/presProps" Target="/ppt/presProps.xml" Id="R40562624102045b4" /><Relationship Type="http://schemas.openxmlformats.org/officeDocument/2006/relationships/tableStyles" Target="/ppt/tableStyles.xml" Id="R3bca1ff369d74954" /><Relationship Type="http://schemas.openxmlformats.org/officeDocument/2006/relationships/slide" Target="/ppt/slides/slide1.xml" Id="R0b871cadacfc42e5" /><Relationship Type="http://schemas.openxmlformats.org/officeDocument/2006/relationships/slide" Target="/ppt/slides/slide2.xml" Id="R7ec1225bef69402f" /><Relationship Type="http://schemas.openxmlformats.org/officeDocument/2006/relationships/slide" Target="/ppt/slides/slide3.xml" Id="Rcc2ec15bf23244ad" /><Relationship Type="http://schemas.openxmlformats.org/officeDocument/2006/relationships/slide" Target="/ppt/slides/slide4.xml" Id="R827c0a8567774e91" /><Relationship Type="http://schemas.openxmlformats.org/officeDocument/2006/relationships/slide" Target="/ppt/slides/slide5.xml" Id="R9fad71dc13e34ea5" /><Relationship Type="http://schemas.openxmlformats.org/officeDocument/2006/relationships/slide" Target="/ppt/slides/slide6.xml" Id="Rbbc5ca21ff86483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a7c0f2eb9094c3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dceab81f4824888" /><Relationship Type="http://schemas.openxmlformats.org/officeDocument/2006/relationships/notesMaster" Target="/ppt/notesMasters/notesMaster1.xml" Id="R089351eddaf54c38" /></Relationships>
</file>

<file path=ppt/notesSlides/_rels/notesSlide2.xml.rels>&#65279;<?xml version="1.0" encoding="utf-8"?><Relationships xmlns="http://schemas.openxmlformats.org/package/2006/relationships"><Relationship Type="http://schemas.openxmlformats.org/officeDocument/2006/relationships/slide" Target="/ppt/slides/slide2.xml" Id="R9843195376014534" /><Relationship Type="http://schemas.openxmlformats.org/officeDocument/2006/relationships/notesMaster" Target="/ppt/notesMasters/notesMaster1.xml" Id="R6bbe101b95934117" /></Relationships>
</file>

<file path=ppt/notesSlides/_rels/notesSlide3.xml.rels>&#65279;<?xml version="1.0" encoding="utf-8"?><Relationships xmlns="http://schemas.openxmlformats.org/package/2006/relationships"><Relationship Type="http://schemas.openxmlformats.org/officeDocument/2006/relationships/slide" Target="/ppt/slides/slide3.xml" Id="R48bed138de2d4251" /><Relationship Type="http://schemas.openxmlformats.org/officeDocument/2006/relationships/notesMaster" Target="/ppt/notesMasters/notesMaster1.xml" Id="R62b47d7d53fe4526" /></Relationships>
</file>

<file path=ppt/notesSlides/_rels/notesSlide4.xml.rels>&#65279;<?xml version="1.0" encoding="utf-8"?><Relationships xmlns="http://schemas.openxmlformats.org/package/2006/relationships"><Relationship Type="http://schemas.openxmlformats.org/officeDocument/2006/relationships/slide" Target="/ppt/slides/slide4.xml" Id="Reee0254c7dfe48bb" /><Relationship Type="http://schemas.openxmlformats.org/officeDocument/2006/relationships/notesMaster" Target="/ppt/notesMasters/notesMaster1.xml" Id="R5189a3b9406f4c52" /></Relationships>
</file>

<file path=ppt/notesSlides/_rels/notesSlide5.xml.rels>&#65279;<?xml version="1.0" encoding="utf-8"?><Relationships xmlns="http://schemas.openxmlformats.org/package/2006/relationships"><Relationship Type="http://schemas.openxmlformats.org/officeDocument/2006/relationships/slide" Target="/ppt/slides/slide5.xml" Id="R25ae44c5473f4ca1" /><Relationship Type="http://schemas.openxmlformats.org/officeDocument/2006/relationships/notesMaster" Target="/ppt/notesMasters/notesMaster1.xml" Id="Raf39d11274064f00" /></Relationships>
</file>

<file path=ppt/notesSlides/_rels/notesSlide6.xml.rels>&#65279;<?xml version="1.0" encoding="utf-8"?><Relationships xmlns="http://schemas.openxmlformats.org/package/2006/relationships"><Relationship Type="http://schemas.openxmlformats.org/officeDocument/2006/relationships/slide" Target="/ppt/slides/slide6.xml" Id="R2ebafb1029404f71" /><Relationship Type="http://schemas.openxmlformats.org/officeDocument/2006/relationships/notesMaster" Target="/ppt/notesMasters/notesMaster1.xml" Id="R2bb8fe9608fd4e5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0:00–0:20</a:t>
            </a:r>
          </a:p>
          <a:p xmlns:a="http://schemas.openxmlformats.org/drawingml/2006/main">
            <a:r>
              <a:t>공개형 perp에서는 주소와 거래 데이터를 따라 포지션 방향과 규모, 위험 구간을 추정할 단서가 생길 수 있습니다. SILENCE는 이 노출을 줄이려는 비공개 perp 실험입니다. 현재는 실거래 거래소가 아니라 체인상 비공개 terms commitment의 첫 단계를 검증했습니다.</a:t>
            </a:r>
          </a:p>
          <a:p xmlns:a="http://schemas.openxmlformats.org/drawingml/2006/main">
            <a:r>
              <a:t/>
            </a:r>
          </a:p>
          <a:p xmlns:a="http://schemas.openxmlformats.org/drawingml/2006/main">
            <a:r>
              <a:t>Sources: https://github.com/diveyreadytodive-star/silence/blob/main/README.md ; https://github.com/diveyreadytodive-star/silence/blob/main/docs/security-boundary.md. “청산 단서”는 제품 문제 가설이며 조작 사례를 입증했다는 뜻이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0:20–0:48</a:t>
            </a:r>
          </a:p>
          <a:p xmlns:a="http://schemas.openxmlformats.org/drawingml/2006/main">
            <a:r>
              <a:t>주소와 체인 기록이 공개되면 거래 방향이나 규모를 추정할 단서가 될 수 있고, 그 정보가 청산 위험 구간을 읽는 데 쓰일 수 있습니다. 그래서 SILENCE는 “내 포지션과 손절 구간을 다른 거래자가 읽을 수 있다면?”이라는 질문에서 출발합니다. 이것은 구조적 문제 가설이며, 특정 공격 사례를 입증했다고 말하지 않습니다. 제품 목표는 포지션을 보유하는 동안 공개 청산맵 신호를 줄이는 것입니다. 종료 후에도 거래 방향을 숨긴다고 주장하지 않습니다.</a:t>
            </a:r>
          </a:p>
          <a:p xmlns:a="http://schemas.openxmlformats.org/drawingml/2006/main">
            <a:r>
              <a:t/>
            </a:r>
          </a:p>
          <a:p xmlns:a="http://schemas.openxmlformats.org/drawingml/2006/main">
            <a:r>
              <a:t>Sources: https://github.com/diveyreadytodive-star/silence/blob/main/README.md ; https://github.com/diveyreadytodive-star/silence/blob/main/docs/security-boundary.md.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0:48–1:16</a:t>
            </a:r>
          </a:p>
          <a:p xmlns:a="http://schemas.openxmlformats.org/drawingml/2006/main">
            <a:r>
              <a:t>SILENCE는 모두에게 모든 것을 숨긴다고 말하지 않습니다. 거래자는 전체 조건을 알고, 운영 위험 엔진도 포지션 값을 볼 수 있습니다. 공개 관찰자는 고정 1,000단위 담보와 coin index, commitment, 시각을 확인할 수 있습니다. 이 Phase 1 종료 회로는 수취인을 disclose 경계로 전달하므로 종료 시 공개로 다룹니다.</a:t>
            </a:r>
          </a:p>
          <a:p xmlns:a="http://schemas.openxmlformats.org/drawingml/2006/main">
            <a:r>
              <a:t/>
            </a:r>
          </a:p>
          <a:p xmlns:a="http://schemas.openxmlformats.org/drawingml/2006/main">
            <a:r>
              <a:t>한 차례 실제 product-contract open 거래와 ledger readback에서 side, 정확한 notional, entry, guard의 선택된 값을 찾지 못했습니다. 이 관찰은 해당 기록의 제한된 필드 검사일 뿐입니다. 별도의 integrated risk-custody simulator 설계에서는 open 및 close 가격을 공개하므로 위험 종료 뒤 방향을 추정할 수 있습니다. 가격 하락은 손실 long, 가격 상승은 손실 short를 시사합니다. 이 분석은 simulator 설계 추론이며 실제 product-chain leak를 검증한 증거는 아닙니다. 따라서 제안의 범위는 보유 중 청산맵 노출 감소이며 전체 거래 이력 프라이버시가 아닙니다.</a:t>
            </a:r>
          </a:p>
          <a:p xmlns:a="http://schemas.openxmlformats.org/drawingml/2006/main">
            <a:r>
              <a:t/>
            </a:r>
          </a:p>
          <a:p xmlns:a="http://schemas.openxmlformats.org/drawingml/2006/main">
            <a:r>
              <a:t>Sources: https://github.com/diveyreadytodive-star/silence/blob/main/docs/security-boundary.md ; https://github.com/diveyreadytodive-star/silence/blob/main/docs/evidence/product-phase1-local-devnet.md ; https://github.com/diveyreadytodive-star/silence/blob/main/spikes/integrated-risk-custody/README.md.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1:16–1:58</a:t>
            </a:r>
          </a:p>
          <a:p xmlns:a="http://schemas.openxmlformats.org/drawingml/2006/main">
            <a:r>
              <a:t>실제 제품 계약을 격리된 Local Devnet에 배포했습니다. block 153 배포, 156 테스트 mint, 160 terms commitment, 164 owner close receipt를 확인했습니다. owner 지갑의 shielded 잔고는 종료 전 0, 종료 뒤 1,000단위였습니다. 잘못된 종료 비밀값은 NOT_POSITION_OWNER로, 이미 닫힌 포지션의 재종료는 POSITION_NOT_OPEN으로 거절됐습니다. 공개 담보 lot와 coin index는 보입니다. 이 흐름은 custody와 비공개 terms commitment를 검증했을 뿐, oracle 기반 perp나 PnL settlement를 증명하지 않습니다.</a:t>
            </a:r>
          </a:p>
          <a:p xmlns:a="http://schemas.openxmlformats.org/drawingml/2006/main">
            <a:r>
              <a:t/>
            </a:r>
          </a:p>
          <a:p xmlns:a="http://schemas.openxmlformats.org/drawingml/2006/main">
            <a:r>
              <a:t>Sources: https://github.com/diveyreadytodive-star/silence/blob/main/docs/evidence/product-phase1-local-devnet.md ; https://github.com/diveyreadytodive-star/silence/blob/main/docs/evidence/product-phase1-local-devnet.json ; https://github.com/diveyreadytodive-star/silence/blob/main/docs/verification-status.md.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1:58–2:23</a:t>
            </a:r>
          </a:p>
          <a:p xmlns:a="http://schemas.openxmlformats.org/drawingml/2006/main">
            <a:r>
              <a:t>이 화면은 실제 로컬 headless Chrome 캡처입니다. BTC perp 화면에서 오라클 데이터가 비어 있고 주문 실행이 비활성인 상태, 1,000단위 공개 테스트 담보를 확인했습니다. 브라우저 지갑 거래, 체인 proof 또는 라이브 demo를 보여주는 화면은 아닙니다. UI는 아직 제품 기능으로 이어지지 않은 부분을 그대로 보여줍니다.</a:t>
            </a:r>
          </a:p>
          <a:p xmlns:a="http://schemas.openxmlformats.org/drawingml/2006/main">
            <a:r>
              <a:t/>
            </a:r>
          </a:p>
          <a:p xmlns:a="http://schemas.openxmlformats.org/drawingml/2006/main">
            <a:r>
              <a:t>Sources: https://github.com/diveyreadytodive-star/silence/blob/main/docs/evidence/web-local-headless.md ; https://github.com/diveyreadytodive-star/silence/blob/main/docs/evidence/web-local-headless.png ; https://github.com/diveyreadytodive-star/silence/blob/main/docs/demo-script.md.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2:23–3:00</a:t>
            </a:r>
          </a:p>
          <a:p xmlns:a="http://schemas.openxmlformats.org/drawingml/2006/main">
            <a:r>
              <a:t>별도의 two-stage feasibility spike에서 Local Devnet의 실제 receipt를 확인했습니다. open은 block 570, 별도 operator Zswap key의 operatorClose는 block 573, 원래 owner key의 ownerClaim은 block 577에서 확정됐습니다. operator close 뒤 상태는 ClosedUnclaimed였고 owner와 operator shielded 잔고는 모두 0이었습니다. owner가 나중에 fixed 1,000단위 test lot을 claim했고 owner 잔고는 1,000, operator 잔고는 0으로 확인했습니다. operator의 ownerClaim 시도는 NOT_POSITION_OWNER로 거절됐습니다.</a:t>
            </a:r>
          </a:p>
          <a:p xmlns:a="http://schemas.openxmlformats.org/drawingml/2006/main">
            <a:r>
              <a:t/>
            </a:r>
          </a:p>
          <a:p xmlns:a="http://schemas.openxmlformats.org/drawingml/2006/main">
            <a:r>
              <a:t>중요한 수수료 한계가 있습니다. operator Zswap key와 owner Zswap key는 달랐지만, Local Devnet G1 runner는 operator shielded signer와 owner DustSecretKey를 같은 테스트 프로세스에서 함께 사용해 operator 거래의 DUST 수수료를 대납했습니다. 이 결과는 별도 shielded 권한과 owner 수령을 확인했지만, 운영 서비스가 owner wallet key material에 전혀 접근하지 않는 구조나 독립적으로 자금을 대는 operator를 증명하지 않습니다.</a:t>
            </a:r>
          </a:p>
          <a:p xmlns:a="http://schemas.openxmlformats.org/drawingml/2006/main">
            <a:r>
              <a:t/>
            </a:r>
          </a:p>
          <a:p xmlns:a="http://schemas.openxmlformats.org/drawingml/2006/main">
            <a:r>
              <a:t>프라이버시도 전체 이력이 아니라 보유 중 신호 감소로 한정합니다. integrated risk-custody simulator 설계 분석에서는 공개 진입 및 종료 가격으로 risk close 뒤 방향을 추정할 수 있습니다. 가격이 내려가면 손실 long, 올라가면 손실 short를 시사합니다. 이 추론은 simulator 설계 분석이며 SILENCE product contract의 실제 체인에서 입증된 결과가 아닙니다.</a:t>
            </a:r>
          </a:p>
          <a:p xmlns:a="http://schemas.openxmlformats.org/drawingml/2006/main">
            <a:r>
              <a:t/>
            </a:r>
          </a:p>
          <a:p xmlns:a="http://schemas.openxmlformats.org/drawingml/2006/main">
            <a:r>
              <a:t>이 feasibility spike에는 oracle이나 risk predicate가 없으며 operator가 임의로 조기 종료할 수 있습니다. PnL/LP 정산, 주 SILENCE product-contract 통합, 브라우저 주문 흐름도 미검증입니다. 자산은 가치 없는 Local Devnet 테스트 lot입니다.</a:t>
            </a:r>
          </a:p>
          <a:p xmlns:a="http://schemas.openxmlformats.org/drawingml/2006/main">
            <a:r>
              <a:t/>
            </a:r>
          </a:p>
          <a:p xmlns:a="http://schemas.openxmlformats.org/drawingml/2006/main">
            <a:r>
              <a:t>Sources: https://github.com/diveyreadytodive-star/silence/blob/main/spikes/two-stage-claim/docs/evidence/local-chain.json ; https://github.com/diveyreadytodive-star/silence/blob/main/spikes/two-stage-claim/README.md ; https://github.com/diveyreadytodive-star/silence/blob/main/spikes/two-stage-claim/scripts/test-local-chain.ts ; https://github.com/diveyreadytodive-star/silence/blob/main/spikes/integrated-risk-custody/README.md ; https://github.com/diveyreadytodive-star/silence/blob/main/docs/verification-status.md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40dd4c11b124f3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58106555a354c55" /><Relationship Type="http://schemas.openxmlformats.org/officeDocument/2006/relationships/slideLayout" Target="/ppt/slideLayouts/slideLayout1.xml" Id="Rb1dd8317d25049c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1dd8317d25049c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9af51b0e61740a2" /><Relationship Type="http://schemas.openxmlformats.org/officeDocument/2006/relationships/notesSlide" Target="/ppt/notesSlides/notesSlide1.xml" Id="R977029597d4b4f2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317413a1f8240c8" /><Relationship Type="http://schemas.openxmlformats.org/officeDocument/2006/relationships/notesSlide" Target="/ppt/notesSlides/notesSlide2.xml" Id="R4f4088e6a8084f8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41e2ff19853468c" /><Relationship Type="http://schemas.openxmlformats.org/officeDocument/2006/relationships/notesSlide" Target="/ppt/notesSlides/notesSlide3.xml" Id="Rd23165f8eea2419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10510fb75c44a5b" /><Relationship Type="http://schemas.openxmlformats.org/officeDocument/2006/relationships/notesSlide" Target="/ppt/notesSlides/notesSlide4.xml" Id="Rdcb75b5546e148d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9a0ed6eb4b8427d" /><Relationship Type="http://schemas.openxmlformats.org/officeDocument/2006/relationships/image" Target="/ppt/media/image.png" Id="R97976f2ce0e045de" /><Relationship Type="http://schemas.openxmlformats.org/officeDocument/2006/relationships/notesSlide" Target="/ppt/notesSlides/notesSlide5.xml" Id="R34cdd06e0f774f7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b1289332fc64208" /><Relationship Type="http://schemas.openxmlformats.org/officeDocument/2006/relationships/notesSlide" Target="/ppt/notesSlides/notesSlide6.xml" Id="Rc8e4e2294e0f4f66" /></Relationships>
</file>

<file path=ppt/slides/slide1.xml><?xml version="1.0" encoding="utf-8"?>
<p:sld xmlns:p="http://schemas.openxmlformats.org/presentationml/2006/main">
  <p:cSld>
    <p:bg>
      <p:bgPr>
        <a:solidFill xmlns:a="http://schemas.openxmlformats.org/drawingml/2006/main">
          <a:srgbClr val="090C0D"/>
        </a:solidFill>
      </p:bgPr>
    </p:bg>
    <p:spTree>
      <p:nvGrpSpPr>
        <p:cNvPr id="1" name=""/>
        <p:cNvGrpSpPr/>
        <p:nvPr/>
      </p:nvGrpSpPr>
      <p:grpSpPr>
        <a:xfrm xmlns:a="http://schemas.openxmlformats.org/drawingml/2006/main"/>
      </p:grpSpPr>
      <p:sp>
        <p:nvSpPr>
          <p:cNvPr id="8" name="label-MIDNIGHT KOREA HACKATHON 2026">
            <a:extLst xmlns:a="http://schemas.openxmlformats.org/drawingml/2006/main">
              <a:ext uri="{FF2B5EF4-FFF2-40B4-BE49-F238E27FC236}">
                <a16:creationId xmlns:a16="http://schemas.microsoft.com/office/drawing/2014/main" id="{7608D1E4-C221-440F-804D-665561DB10A0}"/>
              </a:ext>
            </a:extLst>
          </p:cNvPr>
          <p:cNvSpPr>
            <a:spLocks xmlns:a="http://schemas.openxmlformats.org/drawingml/2006/main" noGrp="1"/>
          </p:cNvSpPr>
          <p:nvPr/>
        </p:nvSpPr>
        <p:spPr>
          <a:xfrm xmlns:a="http://schemas.openxmlformats.org/drawingml/2006/main">
            <a:off x="723900" y="742950"/>
            <a:ext cx="619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1">
                <a:solidFill>
                  <a:srgbClr val="C7F36B"/>
                </a:solidFill>
                <a:latin typeface="Arial"/>
                <a:ea typeface="Arial"/>
                <a:cs typeface="Arial"/>
              </a:defRPr>
            </a:pPr>
            <a:r>
              <a:rPr sz="1275" b="1">
                <a:solidFill>
                  <a:srgbClr val="C7F36B"/>
                </a:solidFill>
                <a:latin typeface="Arial"/>
                <a:ea typeface="Arial"/>
                <a:cs typeface="Arial"/>
              </a:rPr>
              <a:t>MIDNIGHT KOREA HACKATHON 2026</a:t>
            </a:r>
          </a:p>
        </p:txBody>
      </p:sp>
      <p:sp>
        <p:nvSpPr>
          <p:cNvPr id="2" name="project-name">
            <a:extLst xmlns:a="http://schemas.openxmlformats.org/drawingml/2006/main">
              <a:ext uri="{FF2B5EF4-FFF2-40B4-BE49-F238E27FC236}">
                <a16:creationId xmlns:a16="http://schemas.microsoft.com/office/drawing/2014/main" id="{678159CF-B3B4-4D29-9994-7BCEB4018C03}"/>
              </a:ext>
            </a:extLst>
          </p:cNvPr>
          <p:cNvSpPr>
            <a:spLocks xmlns:a="http://schemas.openxmlformats.org/drawingml/2006/main" noGrp="1"/>
          </p:cNvSpPr>
          <p:nvPr/>
        </p:nvSpPr>
        <p:spPr>
          <a:xfrm xmlns:a="http://schemas.openxmlformats.org/drawingml/2006/main">
            <a:off x="685800" y="1504950"/>
            <a:ext cx="78105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6600" b="1">
                <a:solidFill>
                  <a:srgbClr val="F3F6F2"/>
                </a:solidFill>
                <a:latin typeface="Arial"/>
                <a:ea typeface="Arial"/>
                <a:cs typeface="Arial"/>
              </a:defRPr>
            </a:pPr>
            <a:r>
              <a:rPr sz="6600" b="1">
                <a:solidFill>
                  <a:srgbClr val="F3F6F2"/>
                </a:solidFill>
                <a:latin typeface="Arial"/>
                <a:ea typeface="Arial"/>
                <a:cs typeface="Arial"/>
              </a:rPr>
              <a:t>SILENCE</a:t>
            </a:r>
          </a:p>
        </p:txBody>
      </p:sp>
      <p:sp>
        <p:nvSpPr>
          <p:cNvPr id="3" name="cover-claim">
            <a:extLst xmlns:a="http://schemas.openxmlformats.org/drawingml/2006/main">
              <a:ext uri="{FF2B5EF4-FFF2-40B4-BE49-F238E27FC236}">
                <a16:creationId xmlns:a16="http://schemas.microsoft.com/office/drawing/2014/main" id="{258EB0C5-1029-4DC3-9484-1B89947B579B}"/>
              </a:ext>
            </a:extLst>
          </p:cNvPr>
          <p:cNvSpPr>
            <a:spLocks xmlns:a="http://schemas.openxmlformats.org/drawingml/2006/main" noGrp="1"/>
          </p:cNvSpPr>
          <p:nvPr/>
        </p:nvSpPr>
        <p:spPr>
          <a:xfrm xmlns:a="http://schemas.openxmlformats.org/drawingml/2006/main">
            <a:off x="723900" y="2857500"/>
            <a:ext cx="8953500" cy="1409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600" b="1">
                <a:solidFill>
                  <a:srgbClr val="F3F6F2"/>
                </a:solidFill>
                <a:latin typeface="Arial"/>
                <a:ea typeface="Arial"/>
                <a:cs typeface="Arial"/>
              </a:defRPr>
            </a:pPr>
            <a:r>
              <a:rPr sz="3600" b="1">
                <a:solidFill>
                  <a:srgbClr val="F3F6F2"/>
                </a:solidFill>
                <a:latin typeface="Arial"/>
                <a:ea typeface="Arial"/>
                <a:cs typeface="Arial"/>
              </a:rPr>
              <a:t>공개 포지션은</a:t>
            </a:r>
          </a:p>
          <a:p xmlns:a="http://schemas.openxmlformats.org/drawingml/2006/main">
            <a:pPr algn="l">
              <a:buNone/>
              <a:defRPr sz="3600" b="1">
                <a:solidFill>
                  <a:srgbClr val="F3F6F2"/>
                </a:solidFill>
                <a:latin typeface="Arial"/>
                <a:ea typeface="Arial"/>
                <a:cs typeface="Arial"/>
              </a:defRPr>
            </a:pPr>
            <a:r>
              <a:rPr sz="3600" b="1">
                <a:solidFill>
                  <a:srgbClr val="F3F6F2"/>
                </a:solidFill>
                <a:latin typeface="Arial"/>
                <a:ea typeface="Arial"/>
                <a:cs typeface="Arial"/>
              </a:rPr>
              <a:t>청산의 단서가 될 수 있습니다</a:t>
            </a:r>
          </a:p>
        </p:txBody>
      </p:sp>
      <p:sp>
        <p:nvSpPr>
          <p:cNvPr id="4" name="">
            <a:extLst xmlns:a="http://schemas.openxmlformats.org/drawingml/2006/main">
              <a:ext uri="{FF2B5EF4-FFF2-40B4-BE49-F238E27FC236}">
                <a16:creationId xmlns:a16="http://schemas.microsoft.com/office/drawing/2014/main" id="{EC4A92C0-12CD-4C1D-BA7C-C2957B07BF3B}"/>
              </a:ext>
            </a:extLst>
          </p:cNvPr>
          <p:cNvSpPr>
            <a:spLocks xmlns:a="http://schemas.openxmlformats.org/drawingml/2006/main" noGrp="1"/>
          </p:cNvSpPr>
          <p:nvPr/>
        </p:nvSpPr>
        <p:spPr>
          <a:xfrm xmlns:a="http://schemas.openxmlformats.org/drawingml/2006/main">
            <a:off x="723900" y="4591050"/>
            <a:ext cx="1524000" cy="9525"/>
          </a:xfrm>
          <a:prstGeom xmlns:a="http://schemas.openxmlformats.org/drawingml/2006/main" prst="line">
            <a:avLst/>
          </a:prstGeom>
          <a:noFill xmlns:a="http://schemas.openxmlformats.org/drawingml/2006/main"/>
          <a:ln xmlns:a="http://schemas.openxmlformats.org/drawingml/2006/main" w="38100">
            <a:solidFill>
              <a:srgbClr val="C7F36B"/>
            </a:solidFill>
            <a:prstDash val="solid"/>
          </a:ln>
        </p:spPr>
      </p:sp>
      <p:sp>
        <p:nvSpPr>
          <p:cNvPr id="5" name="cover-subtitle">
            <a:extLst xmlns:a="http://schemas.openxmlformats.org/drawingml/2006/main">
              <a:ext uri="{FF2B5EF4-FFF2-40B4-BE49-F238E27FC236}">
                <a16:creationId xmlns:a16="http://schemas.microsoft.com/office/drawing/2014/main" id="{16007738-9F90-4303-AFE5-38710C7E4464}"/>
              </a:ext>
            </a:extLst>
          </p:cNvPr>
          <p:cNvSpPr>
            <a:spLocks xmlns:a="http://schemas.openxmlformats.org/drawingml/2006/main" noGrp="1"/>
          </p:cNvSpPr>
          <p:nvPr/>
        </p:nvSpPr>
        <p:spPr>
          <a:xfrm xmlns:a="http://schemas.openxmlformats.org/drawingml/2006/main">
            <a:off x="723900" y="4838700"/>
            <a:ext cx="8953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75" b="0">
                <a:solidFill>
                  <a:srgbClr val="A9B3AF"/>
                </a:solidFill>
                <a:latin typeface="Arial"/>
                <a:ea typeface="Arial"/>
                <a:cs typeface="Arial"/>
              </a:defRPr>
            </a:pPr>
            <a:r>
              <a:rPr sz="2175" b="0">
                <a:solidFill>
                  <a:srgbClr val="A9B3AF"/>
                </a:solidFill>
                <a:latin typeface="Arial"/>
                <a:ea typeface="Arial"/>
                <a:cs typeface="Arial"/>
              </a:rPr>
              <a:t>비공개 perp를 위한 Midnight 프라이버시 실험</a:t>
            </a:r>
          </a:p>
        </p:txBody>
      </p:sp>
      <p:sp>
        <p:nvSpPr>
          <p:cNvPr id="6" name="cover-scope">
            <a:extLst xmlns:a="http://schemas.openxmlformats.org/drawingml/2006/main">
              <a:ext uri="{FF2B5EF4-FFF2-40B4-BE49-F238E27FC236}">
                <a16:creationId xmlns:a16="http://schemas.microsoft.com/office/drawing/2014/main" id="{2B860E63-F368-46A3-86DB-D106846FBF74}"/>
              </a:ext>
            </a:extLst>
          </p:cNvPr>
          <p:cNvSpPr>
            <a:spLocks xmlns:a="http://schemas.openxmlformats.org/drawingml/2006/main" noGrp="1"/>
          </p:cNvSpPr>
          <p:nvPr/>
        </p:nvSpPr>
        <p:spPr>
          <a:xfrm xmlns:a="http://schemas.openxmlformats.org/drawingml/2006/main">
            <a:off x="723900" y="5543550"/>
            <a:ext cx="1009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00" b="0">
                <a:solidFill>
                  <a:srgbClr val="C7F36B"/>
                </a:solidFill>
                <a:latin typeface="Arial"/>
                <a:ea typeface="Arial"/>
                <a:cs typeface="Arial"/>
              </a:defRPr>
            </a:pPr>
            <a:r>
              <a:rPr sz="1500" b="0">
                <a:solidFill>
                  <a:srgbClr val="C7F36B"/>
                </a:solidFill>
                <a:latin typeface="Arial"/>
                <a:ea typeface="Arial"/>
                <a:cs typeface="Arial"/>
              </a:rPr>
              <a:t>현재 검증 범위  ·  고정 담보 custody + 비공개 terms commitment</a:t>
            </a:r>
          </a:p>
        </p:txBody>
      </p:sp>
      <p:sp>
        <p:nvSpPr>
          <p:cNvPr id="7" name="cover-disclaimer">
            <a:extLst xmlns:a="http://schemas.openxmlformats.org/drawingml/2006/main">
              <a:ext uri="{FF2B5EF4-FFF2-40B4-BE49-F238E27FC236}">
                <a16:creationId xmlns:a16="http://schemas.microsoft.com/office/drawing/2014/main" id="{090967B7-3B27-4A8C-8C96-B6B2929E068A}"/>
              </a:ext>
            </a:extLst>
          </p:cNvPr>
          <p:cNvSpPr>
            <a:spLocks xmlns:a="http://schemas.openxmlformats.org/drawingml/2006/main" noGrp="1"/>
          </p:cNvSpPr>
          <p:nvPr/>
        </p:nvSpPr>
        <p:spPr>
          <a:xfrm xmlns:a="http://schemas.openxmlformats.org/drawingml/2006/main">
            <a:off x="723900" y="5943600"/>
            <a:ext cx="1000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0">
                <a:solidFill>
                  <a:srgbClr val="78837F"/>
                </a:solidFill>
                <a:latin typeface="Arial"/>
                <a:ea typeface="Arial"/>
                <a:cs typeface="Arial"/>
              </a:defRPr>
            </a:pPr>
            <a:r>
              <a:rPr sz="1275" b="0">
                <a:solidFill>
                  <a:srgbClr val="78837F"/>
                </a:solidFill>
                <a:latin typeface="Arial"/>
                <a:ea typeface="Arial"/>
                <a:cs typeface="Arial"/>
              </a:rPr>
              <a:t>실거래 DEX 아님  ·  가치 없는 Local Devnet 테스트 자산</a:t>
            </a:r>
          </a:p>
        </p:txBody>
      </p:sp>
    </p:spTree>
    <p:extLst>
      <p:ext uri="{BB962C8B-B14F-4D97-AF65-F5344CB8AC3E}">
        <p14:creationId xmlns:p14="http://schemas.microsoft.com/office/powerpoint/2010/main" val="1403302962"/>
      </p:ext>
    </p:extLst>
  </p:cSld>
</p:sld>
</file>

<file path=ppt/slides/slide2.xml><?xml version="1.0" encoding="utf-8"?>
<p:sld xmlns:p="http://schemas.openxmlformats.org/presentationml/2006/main">
  <p:cSld>
    <p:bg>
      <p:bgPr>
        <a:solidFill xmlns:a="http://schemas.openxmlformats.org/drawingml/2006/main">
          <a:srgbClr val="090C0D"/>
        </a:solidFill>
      </p:bgPr>
    </p:bg>
    <p:spTree>
      <p:nvGrpSpPr>
        <p:cNvPr id="1" name=""/>
        <p:cNvGrpSpPr/>
        <p:nvPr/>
      </p:nvGrpSpPr>
      <p:grpSpPr>
        <a:xfrm xmlns:a="http://schemas.openxmlformats.org/drawingml/2006/main"/>
      </p:grpSpPr>
      <p:sp>
        <p:nvSpPr>
          <p:cNvPr id="14" name="slide-title">
            <a:extLst xmlns:a="http://schemas.openxmlformats.org/drawingml/2006/main">
              <a:ext uri="{FF2B5EF4-FFF2-40B4-BE49-F238E27FC236}">
                <a16:creationId xmlns:a16="http://schemas.microsoft.com/office/drawing/2014/main" id="{607B651C-1468-485D-BDB7-82C39728C63C}"/>
              </a:ext>
            </a:extLst>
          </p:cNvPr>
          <p:cNvSpPr>
            <a:spLocks xmlns:a="http://schemas.openxmlformats.org/drawingml/2006/main" noGrp="1"/>
          </p:cNvSpPr>
          <p:nvPr/>
        </p:nvSpPr>
        <p:spPr>
          <a:xfrm xmlns:a="http://schemas.openxmlformats.org/drawingml/2006/main">
            <a:off x="685800" y="514350"/>
            <a:ext cx="10763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675" b="1">
                <a:solidFill>
                  <a:srgbClr val="F3F6F2"/>
                </a:solidFill>
                <a:latin typeface="Arial"/>
                <a:ea typeface="Arial"/>
                <a:cs typeface="Arial"/>
              </a:defRPr>
            </a:pPr>
            <a:r>
              <a:rPr sz="3675" b="1">
                <a:solidFill>
                  <a:srgbClr val="F3F6F2"/>
                </a:solidFill>
                <a:latin typeface="Arial"/>
                <a:ea typeface="Arial"/>
                <a:cs typeface="Arial"/>
              </a:rPr>
              <a:t>공개 포지션은 경쟁자의 신호가 됩니다</a:t>
            </a:r>
          </a:p>
        </p:txBody>
      </p:sp>
      <p:sp>
        <p:nvSpPr>
          <p:cNvPr id="2" name="">
            <a:extLst xmlns:a="http://schemas.openxmlformats.org/drawingml/2006/main">
              <a:ext uri="{FF2B5EF4-FFF2-40B4-BE49-F238E27FC236}">
                <a16:creationId xmlns:a16="http://schemas.microsoft.com/office/drawing/2014/main" id="{0F8D596F-CD5B-4CF4-B995-D1CA61315314}"/>
              </a:ext>
            </a:extLst>
          </p:cNvPr>
          <p:cNvSpPr>
            <a:spLocks xmlns:a="http://schemas.openxmlformats.org/drawingml/2006/main" noGrp="1"/>
          </p:cNvSpPr>
          <p:nvPr/>
        </p:nvSpPr>
        <p:spPr>
          <a:xfrm xmlns:a="http://schemas.openxmlformats.org/drawingml/2006/main">
            <a:off x="685800" y="6334125"/>
            <a:ext cx="10820400" cy="9525"/>
          </a:xfrm>
          <a:prstGeom xmlns:a="http://schemas.openxmlformats.org/drawingml/2006/main" prst="line">
            <a:avLst/>
          </a:prstGeom>
          <a:noFill xmlns:a="http://schemas.openxmlformats.org/drawingml/2006/main"/>
          <a:ln xmlns:a="http://schemas.openxmlformats.org/drawingml/2006/main" w="9525">
            <a:solidFill>
              <a:srgbClr val="34403C"/>
            </a:solidFill>
            <a:prstDash val="solid"/>
          </a:ln>
        </p:spPr>
      </p:sp>
      <p:sp>
        <p:nvSpPr>
          <p:cNvPr id="3" name="footer">
            <a:extLst xmlns:a="http://schemas.openxmlformats.org/drawingml/2006/main">
              <a:ext uri="{FF2B5EF4-FFF2-40B4-BE49-F238E27FC236}">
                <a16:creationId xmlns:a16="http://schemas.microsoft.com/office/drawing/2014/main" id="{C7EC2AA1-72CD-4BFC-92F9-1CAACD43B690}"/>
              </a:ext>
            </a:extLst>
          </p:cNvPr>
          <p:cNvSpPr>
            <a:spLocks xmlns:a="http://schemas.openxmlformats.org/drawingml/2006/main" noGrp="1"/>
          </p:cNvSpPr>
          <p:nvPr/>
        </p:nvSpPr>
        <p:spPr>
          <a:xfrm xmlns:a="http://schemas.openxmlformats.org/drawingml/2006/main">
            <a:off x="685800" y="64579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a:solidFill>
                  <a:srgbClr val="78837F"/>
                </a:solidFill>
                <a:latin typeface="Arial"/>
                <a:ea typeface="Arial"/>
                <a:cs typeface="Arial"/>
              </a:defRPr>
            </a:pPr>
            <a:r>
              <a:rPr sz="1125" b="0">
                <a:solidFill>
                  <a:srgbClr val="78837F"/>
                </a:solidFill>
                <a:latin typeface="Arial"/>
                <a:ea typeface="Arial"/>
                <a:cs typeface="Arial"/>
              </a:rPr>
              <a:t>SILENCE  /  MIDNIGHT KOREA HACKATHON 2026</a:t>
            </a:r>
          </a:p>
        </p:txBody>
      </p:sp>
      <p:sp>
        <p:nvSpPr>
          <p:cNvPr id="4" name="page">
            <a:extLst xmlns:a="http://schemas.openxmlformats.org/drawingml/2006/main">
              <a:ext uri="{FF2B5EF4-FFF2-40B4-BE49-F238E27FC236}">
                <a16:creationId xmlns:a16="http://schemas.microsoft.com/office/drawing/2014/main" id="{181E5446-87FD-48EA-8FC5-62BCA0644D81}"/>
              </a:ext>
            </a:extLst>
          </p:cNvPr>
          <p:cNvSpPr>
            <a:spLocks xmlns:a="http://schemas.openxmlformats.org/drawingml/2006/main" noGrp="1"/>
          </p:cNvSpPr>
          <p:nvPr/>
        </p:nvSpPr>
        <p:spPr>
          <a:xfrm xmlns:a="http://schemas.openxmlformats.org/drawingml/2006/main">
            <a:off x="10648950" y="6438900"/>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200" b="0">
                <a:solidFill>
                  <a:srgbClr val="A9B3AF"/>
                </a:solidFill>
                <a:latin typeface="Arial"/>
                <a:ea typeface="Arial"/>
                <a:cs typeface="Arial"/>
              </a:defRPr>
            </a:pPr>
            <a:r>
              <a:rPr sz="1200" b="0">
                <a:solidFill>
                  <a:srgbClr val="A9B3AF"/>
                </a:solidFill>
                <a:latin typeface="Arial"/>
                <a:ea typeface="Arial"/>
                <a:cs typeface="Arial"/>
              </a:rPr>
              <a:t>02 / 06</a:t>
            </a:r>
          </a:p>
        </p:txBody>
      </p:sp>
      <p:sp>
        <p:nvSpPr>
          <p:cNvPr id="5" name="label-문제 가설">
            <a:extLst xmlns:a="http://schemas.openxmlformats.org/drawingml/2006/main">
              <a:ext uri="{FF2B5EF4-FFF2-40B4-BE49-F238E27FC236}">
                <a16:creationId xmlns:a16="http://schemas.microsoft.com/office/drawing/2014/main" id="{BD9376A8-94B3-4EAB-8EFC-B0A573400761}"/>
              </a:ext>
            </a:extLst>
          </p:cNvPr>
          <p:cNvSpPr>
            <a:spLocks xmlns:a="http://schemas.openxmlformats.org/drawingml/2006/main" noGrp="1"/>
          </p:cNvSpPr>
          <p:nvPr/>
        </p:nvSpPr>
        <p:spPr>
          <a:xfrm xmlns:a="http://schemas.openxmlformats.org/drawingml/2006/main">
            <a:off x="704850" y="1457325"/>
            <a:ext cx="190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1">
                <a:solidFill>
                  <a:srgbClr val="F5B45C"/>
                </a:solidFill>
                <a:latin typeface="Arial"/>
                <a:ea typeface="Arial"/>
                <a:cs typeface="Arial"/>
              </a:defRPr>
            </a:pPr>
            <a:r>
              <a:rPr sz="1275" b="1">
                <a:solidFill>
                  <a:srgbClr val="F5B45C"/>
                </a:solidFill>
                <a:latin typeface="Arial"/>
                <a:ea typeface="Arial"/>
                <a:cs typeface="Arial"/>
              </a:rPr>
              <a:t>문제 가설</a:t>
            </a:r>
          </a:p>
        </p:txBody>
      </p:sp>
      <p:sp>
        <p:nvSpPr>
          <p:cNvPr id="6" name="flow-public-data">
            <a:extLst xmlns:a="http://schemas.openxmlformats.org/drawingml/2006/main">
              <a:ext uri="{FF2B5EF4-FFF2-40B4-BE49-F238E27FC236}">
                <a16:creationId xmlns:a16="http://schemas.microsoft.com/office/drawing/2014/main" id="{FEFE23E0-9179-4508-8DB0-EA2C5C5A8EAA}"/>
              </a:ext>
            </a:extLst>
          </p:cNvPr>
          <p:cNvSpPr>
            <a:spLocks xmlns:a="http://schemas.openxmlformats.org/drawingml/2006/main" noGrp="1"/>
          </p:cNvSpPr>
          <p:nvPr/>
        </p:nvSpPr>
        <p:spPr>
          <a:xfrm xmlns:a="http://schemas.openxmlformats.org/drawingml/2006/main">
            <a:off x="762000" y="2590800"/>
            <a:ext cx="28575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2325" b="1">
                <a:solidFill>
                  <a:srgbClr val="F3F6F2"/>
                </a:solidFill>
                <a:latin typeface="Arial"/>
                <a:ea typeface="Arial"/>
                <a:cs typeface="Arial"/>
              </a:defRPr>
            </a:pPr>
            <a:r>
              <a:rPr sz="2325" b="1">
                <a:solidFill>
                  <a:srgbClr val="F3F6F2"/>
                </a:solidFill>
                <a:latin typeface="Arial"/>
                <a:ea typeface="Arial"/>
                <a:cs typeface="Arial"/>
              </a:rPr>
              <a:t>공개 주소와</a:t>
            </a:r>
          </a:p>
          <a:p xmlns:a="http://schemas.openxmlformats.org/drawingml/2006/main">
            <a:pPr algn="ctr">
              <a:buNone/>
              <a:defRPr sz="2325" b="1">
                <a:solidFill>
                  <a:srgbClr val="F3F6F2"/>
                </a:solidFill>
                <a:latin typeface="Arial"/>
                <a:ea typeface="Arial"/>
                <a:cs typeface="Arial"/>
              </a:defRPr>
            </a:pPr>
            <a:r>
              <a:rPr sz="2325" b="1">
                <a:solidFill>
                  <a:srgbClr val="F3F6F2"/>
                </a:solidFill>
                <a:latin typeface="Arial"/>
                <a:ea typeface="Arial"/>
                <a:cs typeface="Arial"/>
              </a:rPr>
              <a:t>체인 기록</a:t>
            </a:r>
          </a:p>
        </p:txBody>
      </p:sp>
      <p:sp>
        <p:nvSpPr>
          <p:cNvPr id="7" name="flow-inference">
            <a:extLst xmlns:a="http://schemas.openxmlformats.org/drawingml/2006/main">
              <a:ext uri="{FF2B5EF4-FFF2-40B4-BE49-F238E27FC236}">
                <a16:creationId xmlns:a16="http://schemas.microsoft.com/office/drawing/2014/main" id="{CF3D32B4-3D55-4EEB-9063-E4EE431D2D3E}"/>
              </a:ext>
            </a:extLst>
          </p:cNvPr>
          <p:cNvSpPr>
            <a:spLocks xmlns:a="http://schemas.openxmlformats.org/drawingml/2006/main" noGrp="1"/>
          </p:cNvSpPr>
          <p:nvPr/>
        </p:nvSpPr>
        <p:spPr>
          <a:xfrm xmlns:a="http://schemas.openxmlformats.org/drawingml/2006/main">
            <a:off x="4648200" y="2590800"/>
            <a:ext cx="28575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2325" b="1">
                <a:solidFill>
                  <a:srgbClr val="F3F6F2"/>
                </a:solidFill>
                <a:latin typeface="Arial"/>
                <a:ea typeface="Arial"/>
                <a:cs typeface="Arial"/>
              </a:defRPr>
            </a:pPr>
            <a:r>
              <a:rPr sz="2325" b="1">
                <a:solidFill>
                  <a:srgbClr val="F3F6F2"/>
                </a:solidFill>
                <a:latin typeface="Arial"/>
                <a:ea typeface="Arial"/>
                <a:cs typeface="Arial"/>
              </a:rPr>
              <a:t>방향·규모를</a:t>
            </a:r>
          </a:p>
          <a:p xmlns:a="http://schemas.openxmlformats.org/drawingml/2006/main">
            <a:pPr algn="ctr">
              <a:buNone/>
              <a:defRPr sz="2325" b="1">
                <a:solidFill>
                  <a:srgbClr val="F3F6F2"/>
                </a:solidFill>
                <a:latin typeface="Arial"/>
                <a:ea typeface="Arial"/>
                <a:cs typeface="Arial"/>
              </a:defRPr>
            </a:pPr>
            <a:r>
              <a:rPr sz="2325" b="1">
                <a:solidFill>
                  <a:srgbClr val="F3F6F2"/>
                </a:solidFill>
                <a:latin typeface="Arial"/>
                <a:ea typeface="Arial"/>
                <a:cs typeface="Arial"/>
              </a:rPr>
              <a:t>추정할 단서</a:t>
            </a:r>
          </a:p>
        </p:txBody>
      </p:sp>
      <p:sp>
        <p:nvSpPr>
          <p:cNvPr id="8" name="flow-risk-zone">
            <a:extLst xmlns:a="http://schemas.openxmlformats.org/drawingml/2006/main">
              <a:ext uri="{FF2B5EF4-FFF2-40B4-BE49-F238E27FC236}">
                <a16:creationId xmlns:a16="http://schemas.microsoft.com/office/drawing/2014/main" id="{1A89F788-EF15-4AF4-8A93-35E0CF9C22E7}"/>
              </a:ext>
            </a:extLst>
          </p:cNvPr>
          <p:cNvSpPr>
            <a:spLocks xmlns:a="http://schemas.openxmlformats.org/drawingml/2006/main" noGrp="1"/>
          </p:cNvSpPr>
          <p:nvPr/>
        </p:nvSpPr>
        <p:spPr>
          <a:xfrm xmlns:a="http://schemas.openxmlformats.org/drawingml/2006/main">
            <a:off x="8534400" y="2590800"/>
            <a:ext cx="28575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2325" b="1">
                <a:solidFill>
                  <a:srgbClr val="F3F6F2"/>
                </a:solidFill>
                <a:latin typeface="Arial"/>
                <a:ea typeface="Arial"/>
                <a:cs typeface="Arial"/>
              </a:defRPr>
            </a:pPr>
            <a:r>
              <a:rPr sz="2325" b="1">
                <a:solidFill>
                  <a:srgbClr val="F3F6F2"/>
                </a:solidFill>
                <a:latin typeface="Arial"/>
                <a:ea typeface="Arial"/>
                <a:cs typeface="Arial"/>
              </a:rPr>
              <a:t>청산 위험 구간을</a:t>
            </a:r>
          </a:p>
          <a:p xmlns:a="http://schemas.openxmlformats.org/drawingml/2006/main">
            <a:pPr algn="ctr">
              <a:buNone/>
              <a:defRPr sz="2325" b="1">
                <a:solidFill>
                  <a:srgbClr val="F3F6F2"/>
                </a:solidFill>
                <a:latin typeface="Arial"/>
                <a:ea typeface="Arial"/>
                <a:cs typeface="Arial"/>
              </a:defRPr>
            </a:pPr>
            <a:r>
              <a:rPr sz="2325" b="1">
                <a:solidFill>
                  <a:srgbClr val="F3F6F2"/>
                </a:solidFill>
                <a:latin typeface="Arial"/>
                <a:ea typeface="Arial"/>
                <a:cs typeface="Arial"/>
              </a:rPr>
              <a:t>추정할 가능성</a:t>
            </a:r>
          </a:p>
        </p:txBody>
      </p:sp>
      <p:cxnSp>
        <p:nvCxnSpPr>
          <p:cNvPr id="42" name=""/>
          <p:cNvCxnSpPr>
            <a:stCxn xmlns:a="http://schemas.openxmlformats.org/drawingml/2006/main" id="6" idx="3"/>
            <a:endCxn xmlns:a="http://schemas.openxmlformats.org/drawingml/2006/main" id="7" idx="1"/>
          </p:cNvCxnSpPr>
          <p:nvPr/>
        </p:nvCxnSpPr>
        <p:spPr>
          <a:xfrm xmlns:a="http://schemas.openxmlformats.org/drawingml/2006/main">
            <a:off x="3619500" y="3090863"/>
            <a:ext cx="1028700" cy="0"/>
          </a:xfrm>
          <a:prstGeom xmlns:a="http://schemas.openxmlformats.org/drawingml/2006/main" prst="straightConnector1">
            <a:avLst/>
          </a:prstGeom>
          <a:ln xmlns:a="http://schemas.openxmlformats.org/drawingml/2006/main" w="19050">
            <a:solidFill>
              <a:srgbClr val="C7F36B"/>
            </a:solidFill>
            <a:prstDash val="solid"/>
            <a:tailEnd type="triangle" w="sm" len="sm"/>
          </a:ln>
        </p:spPr>
      </p:cxnSp>
      <p:cxnSp>
        <p:nvCxnSpPr>
          <p:cNvPr id="43" name=""/>
          <p:cNvCxnSpPr>
            <a:stCxn xmlns:a="http://schemas.openxmlformats.org/drawingml/2006/main" id="7" idx="3"/>
            <a:endCxn xmlns:a="http://schemas.openxmlformats.org/drawingml/2006/main" id="8" idx="1"/>
          </p:cNvCxnSpPr>
          <p:nvPr/>
        </p:nvCxnSpPr>
        <p:spPr>
          <a:xfrm xmlns:a="http://schemas.openxmlformats.org/drawingml/2006/main">
            <a:off x="7505700" y="3090863"/>
            <a:ext cx="1028700" cy="0"/>
          </a:xfrm>
          <a:prstGeom xmlns:a="http://schemas.openxmlformats.org/drawingml/2006/main" prst="straightConnector1">
            <a:avLst/>
          </a:prstGeom>
          <a:ln xmlns:a="http://schemas.openxmlformats.org/drawingml/2006/main" w="19050">
            <a:solidFill>
              <a:srgbClr val="C7F36B"/>
            </a:solidFill>
            <a:prstDash val="solid"/>
            <a:tailEnd type="triangle" w="sm" len="sm"/>
          </a:ln>
        </p:spPr>
      </p:cxnSp>
      <p:sp>
        <p:nvSpPr>
          <p:cNvPr id="11" name="">
            <a:extLst xmlns:a="http://schemas.openxmlformats.org/drawingml/2006/main">
              <a:ext uri="{FF2B5EF4-FFF2-40B4-BE49-F238E27FC236}">
                <a16:creationId xmlns:a16="http://schemas.microsoft.com/office/drawing/2014/main" id="{D1B82B35-AA86-412B-8782-DF2945CC9E25}"/>
              </a:ext>
            </a:extLst>
          </p:cNvPr>
          <p:cNvSpPr>
            <a:spLocks xmlns:a="http://schemas.openxmlformats.org/drawingml/2006/main" noGrp="1"/>
          </p:cNvSpPr>
          <p:nvPr/>
        </p:nvSpPr>
        <p:spPr>
          <a:xfrm xmlns:a="http://schemas.openxmlformats.org/drawingml/2006/main">
            <a:off x="762000" y="4229100"/>
            <a:ext cx="10629900" cy="9525"/>
          </a:xfrm>
          <a:prstGeom xmlns:a="http://schemas.openxmlformats.org/drawingml/2006/main" prst="line">
            <a:avLst/>
          </a:prstGeom>
          <a:noFill xmlns:a="http://schemas.openxmlformats.org/drawingml/2006/main"/>
          <a:ln xmlns:a="http://schemas.openxmlformats.org/drawingml/2006/main" w="9525">
            <a:solidFill>
              <a:srgbClr val="34403C"/>
            </a:solidFill>
            <a:prstDash val="solid"/>
          </a:ln>
        </p:spPr>
      </p:sp>
      <p:sp>
        <p:nvSpPr>
          <p:cNvPr id="12" name="problem-human-hook">
            <a:extLst xmlns:a="http://schemas.openxmlformats.org/drawingml/2006/main">
              <a:ext uri="{FF2B5EF4-FFF2-40B4-BE49-F238E27FC236}">
                <a16:creationId xmlns:a16="http://schemas.microsoft.com/office/drawing/2014/main" id="{E0461E4B-6E33-4A59-8355-4BA1D652010D}"/>
              </a:ext>
            </a:extLst>
          </p:cNvPr>
          <p:cNvSpPr>
            <a:spLocks xmlns:a="http://schemas.openxmlformats.org/drawingml/2006/main" noGrp="1"/>
          </p:cNvSpPr>
          <p:nvPr/>
        </p:nvSpPr>
        <p:spPr>
          <a:xfrm xmlns:a="http://schemas.openxmlformats.org/drawingml/2006/main">
            <a:off x="762000" y="4505325"/>
            <a:ext cx="10572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F3F6F2"/>
                </a:solidFill>
                <a:latin typeface="Arial"/>
                <a:ea typeface="Arial"/>
                <a:cs typeface="Arial"/>
              </a:defRPr>
            </a:pPr>
            <a:r>
              <a:rPr sz="2025" b="0">
                <a:solidFill>
                  <a:srgbClr val="F3F6F2"/>
                </a:solidFill>
                <a:latin typeface="Arial"/>
                <a:ea typeface="Arial"/>
                <a:cs typeface="Arial"/>
              </a:rPr>
              <a:t>“내 포지션과 손절 구간을 다른 거래자가 읽을 수 있다면?”</a:t>
            </a:r>
          </a:p>
        </p:txBody>
      </p:sp>
      <p:sp>
        <p:nvSpPr>
          <p:cNvPr id="13" name="problem-qualification">
            <a:extLst xmlns:a="http://schemas.openxmlformats.org/drawingml/2006/main">
              <a:ext uri="{FF2B5EF4-FFF2-40B4-BE49-F238E27FC236}">
                <a16:creationId xmlns:a16="http://schemas.microsoft.com/office/drawing/2014/main" id="{06E8C8C2-8284-447C-AB73-6F94794E9BBB}"/>
              </a:ext>
            </a:extLst>
          </p:cNvPr>
          <p:cNvSpPr>
            <a:spLocks xmlns:a="http://schemas.openxmlformats.org/drawingml/2006/main" noGrp="1"/>
          </p:cNvSpPr>
          <p:nvPr/>
        </p:nvSpPr>
        <p:spPr>
          <a:xfrm xmlns:a="http://schemas.openxmlformats.org/drawingml/2006/main">
            <a:off x="762000" y="5181600"/>
            <a:ext cx="106203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A9B3AF"/>
                </a:solidFill>
                <a:latin typeface="Arial"/>
                <a:ea typeface="Arial"/>
                <a:cs typeface="Arial"/>
              </a:defRPr>
            </a:pPr>
            <a:r>
              <a:rPr sz="1425" b="0">
                <a:solidFill>
                  <a:srgbClr val="A9B3AF"/>
                </a:solidFill>
                <a:latin typeface="Arial"/>
                <a:ea typeface="Arial"/>
                <a:cs typeface="Arial"/>
              </a:rPr>
              <a:t>목표: 보유 중 청산맵 노출 감소.</a:t>
            </a:r>
          </a:p>
          <a:p xmlns:a="http://schemas.openxmlformats.org/drawingml/2006/main">
            <a:pPr algn="l">
              <a:buNone/>
              <a:defRPr sz="1425" b="0">
                <a:solidFill>
                  <a:srgbClr val="A9B3AF"/>
                </a:solidFill>
                <a:latin typeface="Arial"/>
                <a:ea typeface="Arial"/>
                <a:cs typeface="Arial"/>
              </a:defRPr>
            </a:pPr>
            <a:r>
              <a:rPr sz="1425" b="0">
                <a:solidFill>
                  <a:srgbClr val="A9B3AF"/>
                </a:solidFill>
                <a:latin typeface="Arial"/>
                <a:ea typeface="Arial"/>
                <a:cs typeface="Arial"/>
              </a:rPr>
              <a:t>통합 risk-custody simulator 설계상 종료 뒤 공개 가격으로 롱/숏 추정 가능. 제품 체인 proof가 아니며 전체 이력 비공개를 주장하지 않습니다.</a:t>
            </a:r>
          </a:p>
        </p:txBody>
      </p:sp>
    </p:spTree>
    <p:extLst>
      <p:ext uri="{BB962C8B-B14F-4D97-AF65-F5344CB8AC3E}">
        <p14:creationId xmlns:p14="http://schemas.microsoft.com/office/powerpoint/2010/main" val="214266898"/>
      </p:ext>
    </p:extLst>
  </p:cSld>
</p:sld>
</file>

<file path=ppt/slides/slide3.xml><?xml version="1.0" encoding="utf-8"?>
<p:sld xmlns:p="http://schemas.openxmlformats.org/presentationml/2006/main">
  <p:cSld>
    <p:bg>
      <p:bgPr>
        <a:solidFill xmlns:a="http://schemas.openxmlformats.org/drawingml/2006/main">
          <a:srgbClr val="090C0D"/>
        </a:solidFill>
      </p:bgPr>
    </p:bg>
    <p:spTree>
      <p:nvGrpSpPr>
        <p:cNvPr id="1" name=""/>
        <p:cNvGrpSpPr/>
        <p:nvPr/>
      </p:nvGrpSpPr>
      <p:grpSpPr>
        <a:xfrm xmlns:a="http://schemas.openxmlformats.org/drawingml/2006/main"/>
      </p:grpSpPr>
      <p:sp>
        <p:nvSpPr>
          <p:cNvPr id="19" name="slide-title">
            <a:extLst xmlns:a="http://schemas.openxmlformats.org/drawingml/2006/main">
              <a:ext uri="{FF2B5EF4-FFF2-40B4-BE49-F238E27FC236}">
                <a16:creationId xmlns:a16="http://schemas.microsoft.com/office/drawing/2014/main" id="{E1552087-C67D-4D8E-868E-DF4BDAAC2A9A}"/>
              </a:ext>
            </a:extLst>
          </p:cNvPr>
          <p:cNvSpPr>
            <a:spLocks xmlns:a="http://schemas.openxmlformats.org/drawingml/2006/main" noGrp="1"/>
          </p:cNvSpPr>
          <p:nvPr/>
        </p:nvSpPr>
        <p:spPr>
          <a:xfrm xmlns:a="http://schemas.openxmlformats.org/drawingml/2006/main">
            <a:off x="685800" y="514350"/>
            <a:ext cx="10763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675" b="1">
                <a:solidFill>
                  <a:srgbClr val="F3F6F2"/>
                </a:solidFill>
                <a:latin typeface="Arial"/>
                <a:ea typeface="Arial"/>
                <a:cs typeface="Arial"/>
              </a:defRPr>
            </a:pPr>
            <a:r>
              <a:rPr sz="3675" b="1">
                <a:solidFill>
                  <a:srgbClr val="F3F6F2"/>
                </a:solidFill>
                <a:latin typeface="Arial"/>
                <a:ea typeface="Arial"/>
                <a:cs typeface="Arial"/>
              </a:rPr>
              <a:t>프라이버시 경계는 참여자마다 다릅니다</a:t>
            </a:r>
          </a:p>
        </p:txBody>
      </p:sp>
      <p:sp>
        <p:nvSpPr>
          <p:cNvPr id="2" name="">
            <a:extLst xmlns:a="http://schemas.openxmlformats.org/drawingml/2006/main">
              <a:ext uri="{FF2B5EF4-FFF2-40B4-BE49-F238E27FC236}">
                <a16:creationId xmlns:a16="http://schemas.microsoft.com/office/drawing/2014/main" id="{CB57C81A-0A58-48F9-834F-EDED58C3F9EC}"/>
              </a:ext>
            </a:extLst>
          </p:cNvPr>
          <p:cNvSpPr>
            <a:spLocks xmlns:a="http://schemas.openxmlformats.org/drawingml/2006/main" noGrp="1"/>
          </p:cNvSpPr>
          <p:nvPr/>
        </p:nvSpPr>
        <p:spPr>
          <a:xfrm xmlns:a="http://schemas.openxmlformats.org/drawingml/2006/main">
            <a:off x="685800" y="6334125"/>
            <a:ext cx="10820400" cy="9525"/>
          </a:xfrm>
          <a:prstGeom xmlns:a="http://schemas.openxmlformats.org/drawingml/2006/main" prst="line">
            <a:avLst/>
          </a:prstGeom>
          <a:noFill xmlns:a="http://schemas.openxmlformats.org/drawingml/2006/main"/>
          <a:ln xmlns:a="http://schemas.openxmlformats.org/drawingml/2006/main" w="9525">
            <a:solidFill>
              <a:srgbClr val="34403C"/>
            </a:solidFill>
            <a:prstDash val="solid"/>
          </a:ln>
        </p:spPr>
      </p:sp>
      <p:sp>
        <p:nvSpPr>
          <p:cNvPr id="3" name="footer">
            <a:extLst xmlns:a="http://schemas.openxmlformats.org/drawingml/2006/main">
              <a:ext uri="{FF2B5EF4-FFF2-40B4-BE49-F238E27FC236}">
                <a16:creationId xmlns:a16="http://schemas.microsoft.com/office/drawing/2014/main" id="{DF9FCCA3-20F9-4C3A-B4CE-6BD6E71BDAED}"/>
              </a:ext>
            </a:extLst>
          </p:cNvPr>
          <p:cNvSpPr>
            <a:spLocks xmlns:a="http://schemas.openxmlformats.org/drawingml/2006/main" noGrp="1"/>
          </p:cNvSpPr>
          <p:nvPr/>
        </p:nvSpPr>
        <p:spPr>
          <a:xfrm xmlns:a="http://schemas.openxmlformats.org/drawingml/2006/main">
            <a:off x="685800" y="64579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a:solidFill>
                  <a:srgbClr val="78837F"/>
                </a:solidFill>
                <a:latin typeface="Arial"/>
                <a:ea typeface="Arial"/>
                <a:cs typeface="Arial"/>
              </a:defRPr>
            </a:pPr>
            <a:r>
              <a:rPr sz="1125" b="0">
                <a:solidFill>
                  <a:srgbClr val="78837F"/>
                </a:solidFill>
                <a:latin typeface="Arial"/>
                <a:ea typeface="Arial"/>
                <a:cs typeface="Arial"/>
              </a:rPr>
              <a:t>SILENCE  /  MIDNIGHT KOREA HACKATHON 2026</a:t>
            </a:r>
          </a:p>
        </p:txBody>
      </p:sp>
      <p:sp>
        <p:nvSpPr>
          <p:cNvPr id="4" name="page">
            <a:extLst xmlns:a="http://schemas.openxmlformats.org/drawingml/2006/main">
              <a:ext uri="{FF2B5EF4-FFF2-40B4-BE49-F238E27FC236}">
                <a16:creationId xmlns:a16="http://schemas.microsoft.com/office/drawing/2014/main" id="{E0A645CE-62E9-48CF-8E51-8F52232B4258}"/>
              </a:ext>
            </a:extLst>
          </p:cNvPr>
          <p:cNvSpPr>
            <a:spLocks xmlns:a="http://schemas.openxmlformats.org/drawingml/2006/main" noGrp="1"/>
          </p:cNvSpPr>
          <p:nvPr/>
        </p:nvSpPr>
        <p:spPr>
          <a:xfrm xmlns:a="http://schemas.openxmlformats.org/drawingml/2006/main">
            <a:off x="10648950" y="6438900"/>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200" b="0">
                <a:solidFill>
                  <a:srgbClr val="A9B3AF"/>
                </a:solidFill>
                <a:latin typeface="Arial"/>
                <a:ea typeface="Arial"/>
                <a:cs typeface="Arial"/>
              </a:defRPr>
            </a:pPr>
            <a:r>
              <a:rPr sz="1200" b="0">
                <a:solidFill>
                  <a:srgbClr val="A9B3AF"/>
                </a:solidFill>
                <a:latin typeface="Arial"/>
                <a:ea typeface="Arial"/>
                <a:cs typeface="Arial"/>
              </a:rPr>
              <a:t>03 / 06</a:t>
            </a:r>
          </a:p>
        </p:txBody>
      </p:sp>
      <p:sp>
        <p:nvSpPr>
          <p:cNvPr id="5" name="label-거래자">
            <a:extLst xmlns:a="http://schemas.openxmlformats.org/drawingml/2006/main">
              <a:ext uri="{FF2B5EF4-FFF2-40B4-BE49-F238E27FC236}">
                <a16:creationId xmlns:a16="http://schemas.microsoft.com/office/drawing/2014/main" id="{24FB2C2D-90F6-4D72-A30A-CF261EDE192D}"/>
              </a:ext>
            </a:extLst>
          </p:cNvPr>
          <p:cNvSpPr>
            <a:spLocks xmlns:a="http://schemas.openxmlformats.org/drawingml/2006/main" noGrp="1"/>
          </p:cNvSpPr>
          <p:nvPr/>
        </p:nvSpPr>
        <p:spPr>
          <a:xfrm xmlns:a="http://schemas.openxmlformats.org/drawingml/2006/main">
            <a:off x="723900" y="1581150"/>
            <a:ext cx="3238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1">
                <a:solidFill>
                  <a:srgbClr val="C7F36B"/>
                </a:solidFill>
                <a:latin typeface="Arial"/>
                <a:ea typeface="Arial"/>
                <a:cs typeface="Arial"/>
              </a:defRPr>
            </a:pPr>
            <a:r>
              <a:rPr sz="1275" b="1">
                <a:solidFill>
                  <a:srgbClr val="C7F36B"/>
                </a:solidFill>
                <a:latin typeface="Arial"/>
                <a:ea typeface="Arial"/>
                <a:cs typeface="Arial"/>
              </a:rPr>
              <a:t>거래자</a:t>
            </a:r>
          </a:p>
        </p:txBody>
      </p:sp>
      <p:sp>
        <p:nvSpPr>
          <p:cNvPr id="6" name="boundary-head-0">
            <a:extLst xmlns:a="http://schemas.openxmlformats.org/drawingml/2006/main">
              <a:ext uri="{FF2B5EF4-FFF2-40B4-BE49-F238E27FC236}">
                <a16:creationId xmlns:a16="http://schemas.microsoft.com/office/drawing/2014/main" id="{09A44F66-DB67-435D-8CBF-0AC12DCF8E2D}"/>
              </a:ext>
            </a:extLst>
          </p:cNvPr>
          <p:cNvSpPr>
            <a:spLocks xmlns:a="http://schemas.openxmlformats.org/drawingml/2006/main" noGrp="1"/>
          </p:cNvSpPr>
          <p:nvPr/>
        </p:nvSpPr>
        <p:spPr>
          <a:xfrm xmlns:a="http://schemas.openxmlformats.org/drawingml/2006/main">
            <a:off x="723900" y="1981200"/>
            <a:ext cx="323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1">
                <a:solidFill>
                  <a:srgbClr val="F3F6F2"/>
                </a:solidFill>
                <a:latin typeface="Arial"/>
                <a:ea typeface="Arial"/>
                <a:cs typeface="Arial"/>
              </a:defRPr>
            </a:pPr>
            <a:r>
              <a:rPr sz="1950" b="1">
                <a:solidFill>
                  <a:srgbClr val="F3F6F2"/>
                </a:solidFill>
                <a:latin typeface="Arial"/>
                <a:ea typeface="Arial"/>
                <a:cs typeface="Arial"/>
              </a:rPr>
              <a:t>전체 조건을 압니다</a:t>
            </a:r>
          </a:p>
        </p:txBody>
      </p:sp>
      <p:sp>
        <p:nvSpPr>
          <p:cNvPr id="7" name="boundary-body-0">
            <a:extLst xmlns:a="http://schemas.openxmlformats.org/drawingml/2006/main">
              <a:ext uri="{FF2B5EF4-FFF2-40B4-BE49-F238E27FC236}">
                <a16:creationId xmlns:a16="http://schemas.microsoft.com/office/drawing/2014/main" id="{4BAADD85-242A-49F1-A4DD-84692ADE4197}"/>
              </a:ext>
            </a:extLst>
          </p:cNvPr>
          <p:cNvSpPr>
            <a:spLocks xmlns:a="http://schemas.openxmlformats.org/drawingml/2006/main" noGrp="1"/>
          </p:cNvSpPr>
          <p:nvPr/>
        </p:nvSpPr>
        <p:spPr>
          <a:xfrm xmlns:a="http://schemas.openxmlformats.org/drawingml/2006/main">
            <a:off x="723900" y="2781300"/>
            <a:ext cx="32385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b="0">
                <a:solidFill>
                  <a:srgbClr val="A9B3AF"/>
                </a:solidFill>
                <a:latin typeface="Arial"/>
                <a:ea typeface="Arial"/>
                <a:cs typeface="Arial"/>
              </a:defRPr>
            </a:pPr>
            <a:r>
              <a:rPr sz="1650" b="0">
                <a:solidFill>
                  <a:srgbClr val="A9B3AF"/>
                </a:solidFill>
                <a:latin typeface="Arial"/>
                <a:ea typeface="Arial"/>
                <a:cs typeface="Arial"/>
              </a:rPr>
              <a:t>방향 · 명목 규모</a:t>
            </a:r>
          </a:p>
          <a:p xmlns:a="http://schemas.openxmlformats.org/drawingml/2006/main">
            <a:pPr algn="l">
              <a:buNone/>
              <a:defRPr sz="1650" b="0">
                <a:solidFill>
                  <a:srgbClr val="A9B3AF"/>
                </a:solidFill>
                <a:latin typeface="Arial"/>
                <a:ea typeface="Arial"/>
                <a:cs typeface="Arial"/>
              </a:defRPr>
            </a:pPr>
            <a:r>
              <a:rPr sz="1650" b="0">
                <a:solidFill>
                  <a:srgbClr val="A9B3AF"/>
                </a:solidFill>
                <a:latin typeface="Arial"/>
                <a:ea typeface="Arial"/>
                <a:cs typeface="Arial"/>
              </a:rPr>
              <a:t>진입가 · 보호 가드</a:t>
            </a:r>
          </a:p>
          <a:p xmlns:a="http://schemas.openxmlformats.org/drawingml/2006/main">
            <a:pPr algn="l">
              <a:buNone/>
              <a:defRPr sz="1650" b="0">
                <a:solidFill>
                  <a:srgbClr val="A9B3AF"/>
                </a:solidFill>
                <a:latin typeface="Arial"/>
                <a:ea typeface="Arial"/>
                <a:cs typeface="Arial"/>
              </a:defRPr>
            </a:pPr>
            <a:r>
              <a:rPr sz="1650" b="0">
                <a:solidFill>
                  <a:srgbClr val="A9B3AF"/>
                </a:solidFill>
                <a:latin typeface="Arial"/>
                <a:ea typeface="Arial"/>
                <a:cs typeface="Arial"/>
              </a:rPr>
              <a:t>자기 종료 비밀값</a:t>
            </a:r>
          </a:p>
        </p:txBody>
      </p:sp>
      <p:sp>
        <p:nvSpPr>
          <p:cNvPr id="8" name="label-위험 엔진 / 운영자">
            <a:extLst xmlns:a="http://schemas.openxmlformats.org/drawingml/2006/main">
              <a:ext uri="{FF2B5EF4-FFF2-40B4-BE49-F238E27FC236}">
                <a16:creationId xmlns:a16="http://schemas.microsoft.com/office/drawing/2014/main" id="{DF7BD0E3-2768-4FD9-A0B6-C1DAC067E607}"/>
              </a:ext>
            </a:extLst>
          </p:cNvPr>
          <p:cNvSpPr>
            <a:spLocks xmlns:a="http://schemas.openxmlformats.org/drawingml/2006/main" noGrp="1"/>
          </p:cNvSpPr>
          <p:nvPr/>
        </p:nvSpPr>
        <p:spPr>
          <a:xfrm xmlns:a="http://schemas.openxmlformats.org/drawingml/2006/main">
            <a:off x="4476750" y="1581150"/>
            <a:ext cx="3238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1">
                <a:solidFill>
                  <a:srgbClr val="F5B45C"/>
                </a:solidFill>
                <a:latin typeface="Arial"/>
                <a:ea typeface="Arial"/>
                <a:cs typeface="Arial"/>
              </a:defRPr>
            </a:pPr>
            <a:r>
              <a:rPr sz="1275" b="1">
                <a:solidFill>
                  <a:srgbClr val="F5B45C"/>
                </a:solidFill>
                <a:latin typeface="Arial"/>
                <a:ea typeface="Arial"/>
                <a:cs typeface="Arial"/>
              </a:rPr>
              <a:t>위험 엔진 / 운영자</a:t>
            </a:r>
          </a:p>
        </p:txBody>
      </p:sp>
      <p:sp>
        <p:nvSpPr>
          <p:cNvPr id="9" name="boundary-head-1">
            <a:extLst xmlns:a="http://schemas.openxmlformats.org/drawingml/2006/main">
              <a:ext uri="{FF2B5EF4-FFF2-40B4-BE49-F238E27FC236}">
                <a16:creationId xmlns:a16="http://schemas.microsoft.com/office/drawing/2014/main" id="{03616B24-C3CD-48B7-8E49-AF03458CEF1D}"/>
              </a:ext>
            </a:extLst>
          </p:cNvPr>
          <p:cNvSpPr>
            <a:spLocks xmlns:a="http://schemas.openxmlformats.org/drawingml/2006/main" noGrp="1"/>
          </p:cNvSpPr>
          <p:nvPr/>
        </p:nvSpPr>
        <p:spPr>
          <a:xfrm xmlns:a="http://schemas.openxmlformats.org/drawingml/2006/main">
            <a:off x="4476750" y="1981200"/>
            <a:ext cx="323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1">
                <a:solidFill>
                  <a:srgbClr val="F3F6F2"/>
                </a:solidFill>
                <a:latin typeface="Arial"/>
                <a:ea typeface="Arial"/>
                <a:cs typeface="Arial"/>
              </a:defRPr>
            </a:pPr>
            <a:r>
              <a:rPr sz="1950" b="1">
                <a:solidFill>
                  <a:srgbClr val="F3F6F2"/>
                </a:solidFill>
                <a:latin typeface="Arial"/>
                <a:ea typeface="Arial"/>
                <a:cs typeface="Arial"/>
              </a:rPr>
              <a:t>포지션을 볼 수 있습니다</a:t>
            </a:r>
          </a:p>
        </p:txBody>
      </p:sp>
      <p:sp>
        <p:nvSpPr>
          <p:cNvPr id="10" name="boundary-body-1">
            <a:extLst xmlns:a="http://schemas.openxmlformats.org/drawingml/2006/main">
              <a:ext uri="{FF2B5EF4-FFF2-40B4-BE49-F238E27FC236}">
                <a16:creationId xmlns:a16="http://schemas.microsoft.com/office/drawing/2014/main" id="{0C1FDA5D-A6D7-4A41-B90A-624B1C5E1EF1}"/>
              </a:ext>
            </a:extLst>
          </p:cNvPr>
          <p:cNvSpPr>
            <a:spLocks xmlns:a="http://schemas.openxmlformats.org/drawingml/2006/main" noGrp="1"/>
          </p:cNvSpPr>
          <p:nvPr/>
        </p:nvSpPr>
        <p:spPr>
          <a:xfrm xmlns:a="http://schemas.openxmlformats.org/drawingml/2006/main">
            <a:off x="4476750" y="2781300"/>
            <a:ext cx="32385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b="0">
                <a:solidFill>
                  <a:srgbClr val="A9B3AF"/>
                </a:solidFill>
                <a:latin typeface="Arial"/>
                <a:ea typeface="Arial"/>
                <a:cs typeface="Arial"/>
              </a:defRPr>
            </a:pPr>
            <a:r>
              <a:rPr sz="1650" b="0">
                <a:solidFill>
                  <a:srgbClr val="A9B3AF"/>
                </a:solidFill>
                <a:latin typeface="Arial"/>
                <a:ea typeface="Arial"/>
                <a:cs typeface="Arial"/>
              </a:rPr>
              <a:t>운영 신뢰가 필요합니다</a:t>
            </a:r>
          </a:p>
          <a:p xmlns:a="http://schemas.openxmlformats.org/drawingml/2006/main">
            <a:pPr algn="l">
              <a:buNone/>
              <a:defRPr sz="1650" b="0">
                <a:solidFill>
                  <a:srgbClr val="A9B3AF"/>
                </a:solidFill>
                <a:latin typeface="Arial"/>
                <a:ea typeface="Arial"/>
                <a:cs typeface="Arial"/>
              </a:defRPr>
            </a:pPr>
            <a:r>
              <a:rPr sz="1650" b="0">
                <a:solidFill>
                  <a:srgbClr val="A9B3AF"/>
                </a:solidFill>
                <a:latin typeface="Arial"/>
                <a:ea typeface="Arial"/>
                <a:cs typeface="Arial"/>
              </a:rPr>
              <a:t>지갑 seed는 맡기지 않는 구조를 지향</a:t>
            </a:r>
          </a:p>
          <a:p xmlns:a="http://schemas.openxmlformats.org/drawingml/2006/main">
            <a:pPr algn="l">
              <a:buNone/>
              <a:defRPr sz="1650" b="0">
                <a:solidFill>
                  <a:srgbClr val="A9B3AF"/>
                </a:solidFill>
                <a:latin typeface="Arial"/>
                <a:ea typeface="Arial"/>
                <a:cs typeface="Arial"/>
              </a:defRPr>
            </a:pPr>
            <a:r>
              <a:rPr sz="1650" b="0">
                <a:solidFill>
                  <a:srgbClr val="A9B3AF"/>
                </a:solidFill>
                <a:latin typeface="Arial"/>
                <a:ea typeface="Arial"/>
                <a:cs typeface="Arial"/>
              </a:rPr>
              <a:t>운영자 데이터 비밀성은</a:t>
            </a:r>
          </a:p>
          <a:p xmlns:a="http://schemas.openxmlformats.org/drawingml/2006/main">
            <a:pPr algn="l">
              <a:buNone/>
              <a:defRPr sz="1650" b="0">
                <a:solidFill>
                  <a:srgbClr val="A9B3AF"/>
                </a:solidFill>
                <a:latin typeface="Arial"/>
                <a:ea typeface="Arial"/>
                <a:cs typeface="Arial"/>
              </a:defRPr>
            </a:pPr>
            <a:r>
              <a:rPr sz="1650" b="0">
                <a:solidFill>
                  <a:srgbClr val="A9B3AF"/>
                </a:solidFill>
                <a:latin typeface="Arial"/>
                <a:ea typeface="Arial"/>
                <a:cs typeface="Arial"/>
              </a:rPr>
              <a:t>체인 증명만으로 보장되지 않습니다</a:t>
            </a:r>
          </a:p>
        </p:txBody>
      </p:sp>
      <p:sp>
        <p:nvSpPr>
          <p:cNvPr id="11" name="label-공개 관찰자">
            <a:extLst xmlns:a="http://schemas.openxmlformats.org/drawingml/2006/main">
              <a:ext uri="{FF2B5EF4-FFF2-40B4-BE49-F238E27FC236}">
                <a16:creationId xmlns:a16="http://schemas.microsoft.com/office/drawing/2014/main" id="{5F24FF24-2F1F-4F08-8259-7B371E2470FF}"/>
              </a:ext>
            </a:extLst>
          </p:cNvPr>
          <p:cNvSpPr>
            <a:spLocks xmlns:a="http://schemas.openxmlformats.org/drawingml/2006/main" noGrp="1"/>
          </p:cNvSpPr>
          <p:nvPr/>
        </p:nvSpPr>
        <p:spPr>
          <a:xfrm xmlns:a="http://schemas.openxmlformats.org/drawingml/2006/main">
            <a:off x="8229600" y="1581150"/>
            <a:ext cx="3238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1">
                <a:solidFill>
                  <a:srgbClr val="F3F6F2"/>
                </a:solidFill>
                <a:latin typeface="Arial"/>
                <a:ea typeface="Arial"/>
                <a:cs typeface="Arial"/>
              </a:defRPr>
            </a:pPr>
            <a:r>
              <a:rPr sz="1275" b="1">
                <a:solidFill>
                  <a:srgbClr val="F3F6F2"/>
                </a:solidFill>
                <a:latin typeface="Arial"/>
                <a:ea typeface="Arial"/>
                <a:cs typeface="Arial"/>
              </a:rPr>
              <a:t>공개 관찰자</a:t>
            </a:r>
          </a:p>
        </p:txBody>
      </p:sp>
      <p:sp>
        <p:nvSpPr>
          <p:cNvPr id="12" name="boundary-head-2">
            <a:extLst xmlns:a="http://schemas.openxmlformats.org/drawingml/2006/main">
              <a:ext uri="{FF2B5EF4-FFF2-40B4-BE49-F238E27FC236}">
                <a16:creationId xmlns:a16="http://schemas.microsoft.com/office/drawing/2014/main" id="{CF8141CA-F232-4420-93E6-91C095EB3C7B}"/>
              </a:ext>
            </a:extLst>
          </p:cNvPr>
          <p:cNvSpPr>
            <a:spLocks xmlns:a="http://schemas.openxmlformats.org/drawingml/2006/main" noGrp="1"/>
          </p:cNvSpPr>
          <p:nvPr/>
        </p:nvSpPr>
        <p:spPr>
          <a:xfrm xmlns:a="http://schemas.openxmlformats.org/drawingml/2006/main">
            <a:off x="8229600" y="1981200"/>
            <a:ext cx="323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1">
                <a:solidFill>
                  <a:srgbClr val="F3F6F2"/>
                </a:solidFill>
                <a:latin typeface="Arial"/>
                <a:ea typeface="Arial"/>
                <a:cs typeface="Arial"/>
              </a:defRPr>
            </a:pPr>
            <a:r>
              <a:rPr sz="1950" b="1">
                <a:solidFill>
                  <a:srgbClr val="F3F6F2"/>
                </a:solidFill>
                <a:latin typeface="Arial"/>
                <a:ea typeface="Arial"/>
                <a:cs typeface="Arial"/>
              </a:rPr>
              <a:t>고정 담보와 기록은 봅니다</a:t>
            </a:r>
          </a:p>
        </p:txBody>
      </p:sp>
      <p:sp>
        <p:nvSpPr>
          <p:cNvPr id="13" name="boundary-body-2">
            <a:extLst xmlns:a="http://schemas.openxmlformats.org/drawingml/2006/main">
              <a:ext uri="{FF2B5EF4-FFF2-40B4-BE49-F238E27FC236}">
                <a16:creationId xmlns:a16="http://schemas.microsoft.com/office/drawing/2014/main" id="{F94277B9-77AB-4A9C-A78C-F31C6E7089B1}"/>
              </a:ext>
            </a:extLst>
          </p:cNvPr>
          <p:cNvSpPr>
            <a:spLocks xmlns:a="http://schemas.openxmlformats.org/drawingml/2006/main" noGrp="1"/>
          </p:cNvSpPr>
          <p:nvPr/>
        </p:nvSpPr>
        <p:spPr>
          <a:xfrm xmlns:a="http://schemas.openxmlformats.org/drawingml/2006/main">
            <a:off x="8229600" y="2781300"/>
            <a:ext cx="32385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b="0">
                <a:solidFill>
                  <a:srgbClr val="A9B3AF"/>
                </a:solidFill>
                <a:latin typeface="Arial"/>
                <a:ea typeface="Arial"/>
                <a:cs typeface="Arial"/>
              </a:defRPr>
            </a:pPr>
            <a:r>
              <a:rPr sz="1650" b="0">
                <a:solidFill>
                  <a:srgbClr val="A9B3AF"/>
                </a:solidFill>
                <a:latin typeface="Arial"/>
                <a:ea typeface="Arial"/>
                <a:cs typeface="Arial"/>
              </a:rPr>
              <a:t>1,000 테스트 단위 · coin index</a:t>
            </a:r>
          </a:p>
          <a:p xmlns:a="http://schemas.openxmlformats.org/drawingml/2006/main">
            <a:pPr algn="l">
              <a:buNone/>
              <a:defRPr sz="1650" b="0">
                <a:solidFill>
                  <a:srgbClr val="A9B3AF"/>
                </a:solidFill>
                <a:latin typeface="Arial"/>
                <a:ea typeface="Arial"/>
                <a:cs typeface="Arial"/>
              </a:defRPr>
            </a:pPr>
            <a:r>
              <a:rPr sz="1650" b="0">
                <a:solidFill>
                  <a:srgbClr val="A9B3AF"/>
                </a:solidFill>
                <a:latin typeface="Arial"/>
                <a:ea typeface="Arial"/>
                <a:cs typeface="Arial"/>
              </a:rPr>
              <a:t>commitment · 거래 시각</a:t>
            </a:r>
          </a:p>
          <a:p xmlns:a="http://schemas.openxmlformats.org/drawingml/2006/main">
            <a:pPr algn="l">
              <a:buNone/>
              <a:defRPr sz="1650" b="0">
                <a:solidFill>
                  <a:srgbClr val="A9B3AF"/>
                </a:solidFill>
                <a:latin typeface="Arial"/>
                <a:ea typeface="Arial"/>
                <a:cs typeface="Arial"/>
              </a:defRPr>
            </a:pPr>
            <a:r>
              <a:rPr sz="1650" b="0">
                <a:solidFill>
                  <a:srgbClr val="A9B3AF"/>
                </a:solidFill>
                <a:latin typeface="Arial"/>
                <a:ea typeface="Arial"/>
                <a:cs typeface="Arial"/>
              </a:rPr>
              <a:t>종료 시 수취인 공개 경계</a:t>
            </a:r>
          </a:p>
        </p:txBody>
      </p:sp>
      <p:sp>
        <p:nvSpPr>
          <p:cNvPr id="14" name="">
            <a:extLst xmlns:a="http://schemas.openxmlformats.org/drawingml/2006/main">
              <a:ext uri="{FF2B5EF4-FFF2-40B4-BE49-F238E27FC236}">
                <a16:creationId xmlns:a16="http://schemas.microsoft.com/office/drawing/2014/main" id="{40ED9915-15AE-4AA5-AACE-81411B35071C}"/>
              </a:ext>
            </a:extLst>
          </p:cNvPr>
          <p:cNvSpPr>
            <a:spLocks xmlns:a="http://schemas.openxmlformats.org/drawingml/2006/main" noGrp="1"/>
          </p:cNvSpPr>
          <p:nvPr/>
        </p:nvSpPr>
        <p:spPr>
          <a:xfrm xmlns:a="http://schemas.openxmlformats.org/drawingml/2006/main">
            <a:off x="4200525" y="1571625"/>
            <a:ext cx="9525" cy="9525"/>
          </a:xfrm>
          <a:prstGeom xmlns:a="http://schemas.openxmlformats.org/drawingml/2006/main" prst="line">
            <a:avLst/>
          </a:prstGeom>
          <a:noFill xmlns:a="http://schemas.openxmlformats.org/drawingml/2006/main"/>
          <a:ln xmlns:a="http://schemas.openxmlformats.org/drawingml/2006/main" w="9525">
            <a:solidFill>
              <a:srgbClr val="34403C"/>
            </a:solidFill>
            <a:prstDash val="solid"/>
          </a:ln>
        </p:spPr>
      </p:sp>
      <p:sp>
        <p:nvSpPr>
          <p:cNvPr id="15" name="">
            <a:extLst xmlns:a="http://schemas.openxmlformats.org/drawingml/2006/main">
              <a:ext uri="{FF2B5EF4-FFF2-40B4-BE49-F238E27FC236}">
                <a16:creationId xmlns:a16="http://schemas.microsoft.com/office/drawing/2014/main" id="{20987AC1-94A6-4363-9D4D-3891B1F04461}"/>
              </a:ext>
            </a:extLst>
          </p:cNvPr>
          <p:cNvSpPr>
            <a:spLocks xmlns:a="http://schemas.openxmlformats.org/drawingml/2006/main" noGrp="1"/>
          </p:cNvSpPr>
          <p:nvPr/>
        </p:nvSpPr>
        <p:spPr>
          <a:xfrm xmlns:a="http://schemas.openxmlformats.org/drawingml/2006/main">
            <a:off x="7953375" y="1571625"/>
            <a:ext cx="9525" cy="9525"/>
          </a:xfrm>
          <a:prstGeom xmlns:a="http://schemas.openxmlformats.org/drawingml/2006/main" prst="line">
            <a:avLst/>
          </a:prstGeom>
          <a:noFill xmlns:a="http://schemas.openxmlformats.org/drawingml/2006/main"/>
          <a:ln xmlns:a="http://schemas.openxmlformats.org/drawingml/2006/main" w="9525">
            <a:solidFill>
              <a:srgbClr val="34403C"/>
            </a:solidFill>
            <a:prstDash val="solid"/>
          </a:ln>
        </p:spPr>
      </p:sp>
      <p:sp>
        <p:nvSpPr>
          <p:cNvPr id="16" name="">
            <a:extLst xmlns:a="http://schemas.openxmlformats.org/drawingml/2006/main">
              <a:ext uri="{FF2B5EF4-FFF2-40B4-BE49-F238E27FC236}">
                <a16:creationId xmlns:a16="http://schemas.microsoft.com/office/drawing/2014/main" id="{29A26C37-85E6-45F0-B5EE-279841D42395}"/>
              </a:ext>
            </a:extLst>
          </p:cNvPr>
          <p:cNvSpPr>
            <a:spLocks xmlns:a="http://schemas.openxmlformats.org/drawingml/2006/main" noGrp="1"/>
          </p:cNvSpPr>
          <p:nvPr/>
        </p:nvSpPr>
        <p:spPr>
          <a:xfrm xmlns:a="http://schemas.openxmlformats.org/drawingml/2006/main">
            <a:off x="723900" y="4762500"/>
            <a:ext cx="10744200" cy="9525"/>
          </a:xfrm>
          <a:prstGeom xmlns:a="http://schemas.openxmlformats.org/drawingml/2006/main" prst="line">
            <a:avLst/>
          </a:prstGeom>
          <a:noFill xmlns:a="http://schemas.openxmlformats.org/drawingml/2006/main"/>
          <a:ln xmlns:a="http://schemas.openxmlformats.org/drawingml/2006/main" w="9525">
            <a:solidFill>
              <a:srgbClr val="34403C"/>
            </a:solidFill>
            <a:prstDash val="solid"/>
          </a:ln>
        </p:spPr>
      </p:sp>
      <p:sp>
        <p:nvSpPr>
          <p:cNvPr id="17" name="boundary-result">
            <a:extLst xmlns:a="http://schemas.openxmlformats.org/drawingml/2006/main">
              <a:ext uri="{FF2B5EF4-FFF2-40B4-BE49-F238E27FC236}">
                <a16:creationId xmlns:a16="http://schemas.microsoft.com/office/drawing/2014/main" id="{1CB29CEC-BB3C-439C-AD0D-0C42586B3B49}"/>
              </a:ext>
            </a:extLst>
          </p:cNvPr>
          <p:cNvSpPr>
            <a:spLocks xmlns:a="http://schemas.openxmlformats.org/drawingml/2006/main" noGrp="1"/>
          </p:cNvSpPr>
          <p:nvPr/>
        </p:nvSpPr>
        <p:spPr>
          <a:xfrm xmlns:a="http://schemas.openxmlformats.org/drawingml/2006/main">
            <a:off x="723900" y="4991100"/>
            <a:ext cx="1071562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a:solidFill>
                  <a:srgbClr val="F3F6F2"/>
                </a:solidFill>
                <a:latin typeface="Arial"/>
                <a:ea typeface="Arial"/>
                <a:cs typeface="Arial"/>
              </a:defRPr>
            </a:pPr>
            <a:r>
              <a:rPr sz="1575" b="0">
                <a:solidFill>
                  <a:srgbClr val="F3F6F2"/>
                </a:solidFill>
                <a:latin typeface="Arial"/>
                <a:ea typeface="Arial"/>
                <a:cs typeface="Arial"/>
              </a:rPr>
              <a:t>단 한 건의 Local Devnet open 기록 검사에서 side·정확한 notional·entry·guard 값은 발견되지 않았습니다.</a:t>
            </a:r>
          </a:p>
        </p:txBody>
      </p:sp>
      <p:sp>
        <p:nvSpPr>
          <p:cNvPr id="18" name="boundary-limit">
            <a:extLst xmlns:a="http://schemas.openxmlformats.org/drawingml/2006/main">
              <a:ext uri="{FF2B5EF4-FFF2-40B4-BE49-F238E27FC236}">
                <a16:creationId xmlns:a16="http://schemas.microsoft.com/office/drawing/2014/main" id="{06AEA635-B4F6-4912-ACE2-BC4147FC52A3}"/>
              </a:ext>
            </a:extLst>
          </p:cNvPr>
          <p:cNvSpPr>
            <a:spLocks xmlns:a="http://schemas.openxmlformats.org/drawingml/2006/main" noGrp="1"/>
          </p:cNvSpPr>
          <p:nvPr/>
        </p:nvSpPr>
        <p:spPr>
          <a:xfrm xmlns:a="http://schemas.openxmlformats.org/drawingml/2006/main">
            <a:off x="723900" y="5562600"/>
            <a:ext cx="107061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a:solidFill>
                  <a:srgbClr val="F5B45C"/>
                </a:solidFill>
                <a:latin typeface="Arial"/>
                <a:ea typeface="Arial"/>
                <a:cs typeface="Arial"/>
              </a:defRPr>
            </a:pPr>
            <a:r>
              <a:rPr sz="1350" b="0">
                <a:solidFill>
                  <a:srgbClr val="F5B45C"/>
                </a:solidFill>
                <a:latin typeface="Arial"/>
                <a:ea typeface="Arial"/>
                <a:cs typeface="Arial"/>
              </a:rPr>
              <a:t>통합 simulator 설계 분석에서는 종료 뒤 공개 가격으로 방향 추정 가능. 제품 체인 검증이나 전체 이력 프라이버시 증명은 아닙니다.</a:t>
            </a:r>
          </a:p>
        </p:txBody>
      </p:sp>
    </p:spTree>
    <p:extLst>
      <p:ext uri="{BB962C8B-B14F-4D97-AF65-F5344CB8AC3E}">
        <p14:creationId xmlns:p14="http://schemas.microsoft.com/office/powerpoint/2010/main" val="832252125"/>
      </p:ext>
    </p:extLst>
  </p:cSld>
</p:sld>
</file>

<file path=ppt/slides/slide4.xml><?xml version="1.0" encoding="utf-8"?>
<p:sld xmlns:p="http://schemas.openxmlformats.org/presentationml/2006/main">
  <p:cSld>
    <p:bg>
      <p:bgPr>
        <a:solidFill xmlns:a="http://schemas.openxmlformats.org/drawingml/2006/main">
          <a:srgbClr val="090C0D"/>
        </a:solidFill>
      </p:bgPr>
    </p:bg>
    <p:spTree>
      <p:nvGrpSpPr>
        <p:cNvPr id="1" name=""/>
        <p:cNvGrpSpPr/>
        <p:nvPr/>
      </p:nvGrpSpPr>
      <p:grpSpPr>
        <a:xfrm xmlns:a="http://schemas.openxmlformats.org/drawingml/2006/main"/>
      </p:grpSpPr>
      <p:sp>
        <p:nvSpPr>
          <p:cNvPr id="28" name="slide-title">
            <a:extLst xmlns:a="http://schemas.openxmlformats.org/drawingml/2006/main">
              <a:ext uri="{FF2B5EF4-FFF2-40B4-BE49-F238E27FC236}">
                <a16:creationId xmlns:a16="http://schemas.microsoft.com/office/drawing/2014/main" id="{1C51C52F-61C5-46E1-BFEC-59EEF27B7211}"/>
              </a:ext>
            </a:extLst>
          </p:cNvPr>
          <p:cNvSpPr>
            <a:spLocks xmlns:a="http://schemas.openxmlformats.org/drawingml/2006/main" noGrp="1"/>
          </p:cNvSpPr>
          <p:nvPr/>
        </p:nvSpPr>
        <p:spPr>
          <a:xfrm xmlns:a="http://schemas.openxmlformats.org/drawingml/2006/main">
            <a:off x="685800" y="514350"/>
            <a:ext cx="10763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675" b="1">
                <a:solidFill>
                  <a:srgbClr val="F3F6F2"/>
                </a:solidFill>
                <a:latin typeface="Arial"/>
                <a:ea typeface="Arial"/>
                <a:cs typeface="Arial"/>
              </a:defRPr>
            </a:pPr>
            <a:r>
              <a:rPr sz="3675" b="1">
                <a:solidFill>
                  <a:srgbClr val="F3F6F2"/>
                </a:solidFill>
                <a:latin typeface="Arial"/>
                <a:ea typeface="Arial"/>
                <a:cs typeface="Arial"/>
              </a:rPr>
              <a:t>Local Devnet에서 확인한 실제 계약 흐름</a:t>
            </a:r>
          </a:p>
        </p:txBody>
      </p:sp>
      <p:sp>
        <p:nvSpPr>
          <p:cNvPr id="2" name="">
            <a:extLst xmlns:a="http://schemas.openxmlformats.org/drawingml/2006/main">
              <a:ext uri="{FF2B5EF4-FFF2-40B4-BE49-F238E27FC236}">
                <a16:creationId xmlns:a16="http://schemas.microsoft.com/office/drawing/2014/main" id="{70A0372F-6C00-492F-B157-B517BAF83CDC}"/>
              </a:ext>
            </a:extLst>
          </p:cNvPr>
          <p:cNvSpPr>
            <a:spLocks xmlns:a="http://schemas.openxmlformats.org/drawingml/2006/main" noGrp="1"/>
          </p:cNvSpPr>
          <p:nvPr/>
        </p:nvSpPr>
        <p:spPr>
          <a:xfrm xmlns:a="http://schemas.openxmlformats.org/drawingml/2006/main">
            <a:off x="685800" y="6334125"/>
            <a:ext cx="10820400" cy="9525"/>
          </a:xfrm>
          <a:prstGeom xmlns:a="http://schemas.openxmlformats.org/drawingml/2006/main" prst="line">
            <a:avLst/>
          </a:prstGeom>
          <a:noFill xmlns:a="http://schemas.openxmlformats.org/drawingml/2006/main"/>
          <a:ln xmlns:a="http://schemas.openxmlformats.org/drawingml/2006/main" w="9525">
            <a:solidFill>
              <a:srgbClr val="34403C"/>
            </a:solidFill>
            <a:prstDash val="solid"/>
          </a:ln>
        </p:spPr>
      </p:sp>
      <p:sp>
        <p:nvSpPr>
          <p:cNvPr id="3" name="footer">
            <a:extLst xmlns:a="http://schemas.openxmlformats.org/drawingml/2006/main">
              <a:ext uri="{FF2B5EF4-FFF2-40B4-BE49-F238E27FC236}">
                <a16:creationId xmlns:a16="http://schemas.microsoft.com/office/drawing/2014/main" id="{4E8EC421-B8D0-4053-97F0-C8586FA36BB8}"/>
              </a:ext>
            </a:extLst>
          </p:cNvPr>
          <p:cNvSpPr>
            <a:spLocks xmlns:a="http://schemas.openxmlformats.org/drawingml/2006/main" noGrp="1"/>
          </p:cNvSpPr>
          <p:nvPr/>
        </p:nvSpPr>
        <p:spPr>
          <a:xfrm xmlns:a="http://schemas.openxmlformats.org/drawingml/2006/main">
            <a:off x="685800" y="64579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a:solidFill>
                  <a:srgbClr val="78837F"/>
                </a:solidFill>
                <a:latin typeface="Arial"/>
                <a:ea typeface="Arial"/>
                <a:cs typeface="Arial"/>
              </a:defRPr>
            </a:pPr>
            <a:r>
              <a:rPr sz="1125" b="0">
                <a:solidFill>
                  <a:srgbClr val="78837F"/>
                </a:solidFill>
                <a:latin typeface="Arial"/>
                <a:ea typeface="Arial"/>
                <a:cs typeface="Arial"/>
              </a:rPr>
              <a:t>SILENCE  /  MIDNIGHT KOREA HACKATHON 2026</a:t>
            </a:r>
          </a:p>
        </p:txBody>
      </p:sp>
      <p:sp>
        <p:nvSpPr>
          <p:cNvPr id="4" name="page">
            <a:extLst xmlns:a="http://schemas.openxmlformats.org/drawingml/2006/main">
              <a:ext uri="{FF2B5EF4-FFF2-40B4-BE49-F238E27FC236}">
                <a16:creationId xmlns:a16="http://schemas.microsoft.com/office/drawing/2014/main" id="{D72A9381-5F95-4B48-964D-9573F0CAC010}"/>
              </a:ext>
            </a:extLst>
          </p:cNvPr>
          <p:cNvSpPr>
            <a:spLocks xmlns:a="http://schemas.openxmlformats.org/drawingml/2006/main" noGrp="1"/>
          </p:cNvSpPr>
          <p:nvPr/>
        </p:nvSpPr>
        <p:spPr>
          <a:xfrm xmlns:a="http://schemas.openxmlformats.org/drawingml/2006/main">
            <a:off x="10648950" y="6438900"/>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200" b="0">
                <a:solidFill>
                  <a:srgbClr val="A9B3AF"/>
                </a:solidFill>
                <a:latin typeface="Arial"/>
                <a:ea typeface="Arial"/>
                <a:cs typeface="Arial"/>
              </a:defRPr>
            </a:pPr>
            <a:r>
              <a:rPr sz="1200" b="0">
                <a:solidFill>
                  <a:srgbClr val="A9B3AF"/>
                </a:solidFill>
                <a:latin typeface="Arial"/>
                <a:ea typeface="Arial"/>
                <a:cs typeface="Arial"/>
              </a:rPr>
              <a:t>04 / 06</a:t>
            </a:r>
          </a:p>
        </p:txBody>
      </p:sp>
      <p:sp>
        <p:nvSpPr>
          <p:cNvPr id="5" name="proof-summary">
            <a:extLst xmlns:a="http://schemas.openxmlformats.org/drawingml/2006/main">
              <a:ext uri="{FF2B5EF4-FFF2-40B4-BE49-F238E27FC236}">
                <a16:creationId xmlns:a16="http://schemas.microsoft.com/office/drawing/2014/main" id="{1E6977EF-0F84-4623-829B-B704C02BBF8C}"/>
              </a:ext>
            </a:extLst>
          </p:cNvPr>
          <p:cNvSpPr>
            <a:spLocks xmlns:a="http://schemas.openxmlformats.org/drawingml/2006/main" noGrp="1"/>
          </p:cNvSpPr>
          <p:nvPr/>
        </p:nvSpPr>
        <p:spPr>
          <a:xfrm xmlns:a="http://schemas.openxmlformats.org/drawingml/2006/main">
            <a:off x="723900" y="1400175"/>
            <a:ext cx="1066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75" b="0">
                <a:solidFill>
                  <a:srgbClr val="A9B3AF"/>
                </a:solidFill>
                <a:latin typeface="Arial"/>
                <a:ea typeface="Arial"/>
                <a:cs typeface="Arial"/>
              </a:defRPr>
            </a:pPr>
            <a:r>
              <a:rPr sz="1875" b="0">
                <a:solidFill>
                  <a:srgbClr val="A9B3AF"/>
                </a:solidFill>
                <a:latin typeface="Arial"/>
                <a:ea typeface="Arial"/>
                <a:cs typeface="Arial"/>
              </a:rPr>
              <a:t>한 번의 실제 fixed-lot custody 및 owner-close 사이클</a:t>
            </a:r>
          </a:p>
        </p:txBody>
      </p:sp>
      <p:sp>
        <p:nvSpPr>
          <p:cNvPr id="6" name="proof-node-0">
            <a:extLst xmlns:a="http://schemas.openxmlformats.org/drawingml/2006/main">
              <a:ext uri="{FF2B5EF4-FFF2-40B4-BE49-F238E27FC236}">
                <a16:creationId xmlns:a16="http://schemas.microsoft.com/office/drawing/2014/main" id="{C6AA1C90-DE5F-4E39-A7CE-C6EB9C5B8281}"/>
              </a:ext>
            </a:extLst>
          </p:cNvPr>
          <p:cNvSpPr>
            <a:spLocks xmlns:a="http://schemas.openxmlformats.org/drawingml/2006/main" noGrp="1"/>
          </p:cNvSpPr>
          <p:nvPr/>
        </p:nvSpPr>
        <p:spPr>
          <a:xfrm xmlns:a="http://schemas.openxmlformats.org/drawingml/2006/main">
            <a:off x="1828800" y="2667000"/>
            <a:ext cx="152400" cy="152400"/>
          </a:xfrm>
          <a:prstGeom xmlns:a="http://schemas.openxmlformats.org/drawingml/2006/main" prst="ellipse">
            <a:avLst/>
          </a:prstGeom>
          <a:solidFill xmlns:a="http://schemas.openxmlformats.org/drawingml/2006/main">
            <a:srgbClr val="C7F36B"/>
          </a:solidFill>
          <a:ln xmlns:a="http://schemas.openxmlformats.org/drawingml/2006/main" w="9525">
            <a:solidFill>
              <a:srgbClr val="C7F36B"/>
            </a:solidFill>
            <a:prstDash val="solid"/>
          </a:ln>
        </p:spPr>
      </p:sp>
      <p:sp>
        <p:nvSpPr>
          <p:cNvPr id="7" name="proof-block-0">
            <a:extLst xmlns:a="http://schemas.openxmlformats.org/drawingml/2006/main">
              <a:ext uri="{FF2B5EF4-FFF2-40B4-BE49-F238E27FC236}">
                <a16:creationId xmlns:a16="http://schemas.microsoft.com/office/drawing/2014/main" id="{2632F532-AAE6-4F73-9B31-E132839D49A4}"/>
              </a:ext>
            </a:extLst>
          </p:cNvPr>
          <p:cNvSpPr>
            <a:spLocks xmlns:a="http://schemas.openxmlformats.org/drawingml/2006/main" noGrp="1"/>
          </p:cNvSpPr>
          <p:nvPr/>
        </p:nvSpPr>
        <p:spPr>
          <a:xfrm xmlns:a="http://schemas.openxmlformats.org/drawingml/2006/main">
            <a:off x="990600" y="2076450"/>
            <a:ext cx="1828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b="1">
                <a:solidFill>
                  <a:srgbClr val="C7F36B"/>
                </a:solidFill>
                <a:latin typeface="Arial"/>
                <a:ea typeface="Arial"/>
                <a:cs typeface="Arial"/>
              </a:defRPr>
            </a:pPr>
            <a:r>
              <a:rPr sz="1350" b="1">
                <a:solidFill>
                  <a:srgbClr val="C7F36B"/>
                </a:solidFill>
                <a:latin typeface="Arial"/>
                <a:ea typeface="Arial"/>
                <a:cs typeface="Arial"/>
              </a:rPr>
              <a:t>BLOCK 153</a:t>
            </a:r>
          </a:p>
        </p:txBody>
      </p:sp>
      <p:sp>
        <p:nvSpPr>
          <p:cNvPr id="8" name="proof-event-0">
            <a:extLst xmlns:a="http://schemas.openxmlformats.org/drawingml/2006/main">
              <a:ext uri="{FF2B5EF4-FFF2-40B4-BE49-F238E27FC236}">
                <a16:creationId xmlns:a16="http://schemas.microsoft.com/office/drawing/2014/main" id="{4E16B638-C7CF-4598-80FF-65446A250764}"/>
              </a:ext>
            </a:extLst>
          </p:cNvPr>
          <p:cNvSpPr>
            <a:spLocks xmlns:a="http://schemas.openxmlformats.org/drawingml/2006/main" noGrp="1"/>
          </p:cNvSpPr>
          <p:nvPr/>
        </p:nvSpPr>
        <p:spPr>
          <a:xfrm xmlns:a="http://schemas.openxmlformats.org/drawingml/2006/main">
            <a:off x="714375" y="3038475"/>
            <a:ext cx="238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00" b="1">
                <a:solidFill>
                  <a:srgbClr val="F3F6F2"/>
                </a:solidFill>
                <a:latin typeface="Arial"/>
                <a:ea typeface="Arial"/>
                <a:cs typeface="Arial"/>
              </a:defRPr>
            </a:pPr>
            <a:r>
              <a:rPr sz="1800" b="1">
                <a:solidFill>
                  <a:srgbClr val="F3F6F2"/>
                </a:solidFill>
                <a:latin typeface="Arial"/>
                <a:ea typeface="Arial"/>
                <a:cs typeface="Arial"/>
              </a:rPr>
              <a:t>배포</a:t>
            </a:r>
          </a:p>
        </p:txBody>
      </p:sp>
      <p:sp>
        <p:nvSpPr>
          <p:cNvPr id="9" name="proof-node-1">
            <a:extLst xmlns:a="http://schemas.openxmlformats.org/drawingml/2006/main">
              <a:ext uri="{FF2B5EF4-FFF2-40B4-BE49-F238E27FC236}">
                <a16:creationId xmlns:a16="http://schemas.microsoft.com/office/drawing/2014/main" id="{483BDC2D-DE5E-408E-BF44-8C1D290ED657}"/>
              </a:ext>
            </a:extLst>
          </p:cNvPr>
          <p:cNvSpPr>
            <a:spLocks xmlns:a="http://schemas.openxmlformats.org/drawingml/2006/main" noGrp="1"/>
          </p:cNvSpPr>
          <p:nvPr/>
        </p:nvSpPr>
        <p:spPr>
          <a:xfrm xmlns:a="http://schemas.openxmlformats.org/drawingml/2006/main">
            <a:off x="4591050" y="2667000"/>
            <a:ext cx="152400" cy="152400"/>
          </a:xfrm>
          <a:prstGeom xmlns:a="http://schemas.openxmlformats.org/drawingml/2006/main" prst="ellipse">
            <a:avLst/>
          </a:prstGeom>
          <a:solidFill xmlns:a="http://schemas.openxmlformats.org/drawingml/2006/main">
            <a:srgbClr val="C7F36B"/>
          </a:solidFill>
          <a:ln xmlns:a="http://schemas.openxmlformats.org/drawingml/2006/main" w="9525">
            <a:solidFill>
              <a:srgbClr val="C7F36B"/>
            </a:solidFill>
            <a:prstDash val="solid"/>
          </a:ln>
        </p:spPr>
      </p:sp>
      <p:sp>
        <p:nvSpPr>
          <p:cNvPr id="10" name="proof-block-1">
            <a:extLst xmlns:a="http://schemas.openxmlformats.org/drawingml/2006/main">
              <a:ext uri="{FF2B5EF4-FFF2-40B4-BE49-F238E27FC236}">
                <a16:creationId xmlns:a16="http://schemas.microsoft.com/office/drawing/2014/main" id="{24FDF06A-2A1B-460E-B2FA-6A032EC8983B}"/>
              </a:ext>
            </a:extLst>
          </p:cNvPr>
          <p:cNvSpPr>
            <a:spLocks xmlns:a="http://schemas.openxmlformats.org/drawingml/2006/main" noGrp="1"/>
          </p:cNvSpPr>
          <p:nvPr/>
        </p:nvSpPr>
        <p:spPr>
          <a:xfrm xmlns:a="http://schemas.openxmlformats.org/drawingml/2006/main">
            <a:off x="3752850" y="2076450"/>
            <a:ext cx="1828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b="1">
                <a:solidFill>
                  <a:srgbClr val="C7F36B"/>
                </a:solidFill>
                <a:latin typeface="Arial"/>
                <a:ea typeface="Arial"/>
                <a:cs typeface="Arial"/>
              </a:defRPr>
            </a:pPr>
            <a:r>
              <a:rPr sz="1350" b="1">
                <a:solidFill>
                  <a:srgbClr val="C7F36B"/>
                </a:solidFill>
                <a:latin typeface="Arial"/>
                <a:ea typeface="Arial"/>
                <a:cs typeface="Arial"/>
              </a:rPr>
              <a:t>BLOCK 156</a:t>
            </a:r>
          </a:p>
        </p:txBody>
      </p:sp>
      <p:sp>
        <p:nvSpPr>
          <p:cNvPr id="11" name="proof-event-1">
            <a:extLst xmlns:a="http://schemas.openxmlformats.org/drawingml/2006/main">
              <a:ext uri="{FF2B5EF4-FFF2-40B4-BE49-F238E27FC236}">
                <a16:creationId xmlns:a16="http://schemas.microsoft.com/office/drawing/2014/main" id="{098E3F5F-B59E-478B-BB45-5C4BF2E60905}"/>
              </a:ext>
            </a:extLst>
          </p:cNvPr>
          <p:cNvSpPr>
            <a:spLocks xmlns:a="http://schemas.openxmlformats.org/drawingml/2006/main" noGrp="1"/>
          </p:cNvSpPr>
          <p:nvPr/>
        </p:nvSpPr>
        <p:spPr>
          <a:xfrm xmlns:a="http://schemas.openxmlformats.org/drawingml/2006/main">
            <a:off x="3476625" y="3038475"/>
            <a:ext cx="238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00" b="1">
                <a:solidFill>
                  <a:srgbClr val="F3F6F2"/>
                </a:solidFill>
                <a:latin typeface="Arial"/>
                <a:ea typeface="Arial"/>
                <a:cs typeface="Arial"/>
              </a:defRPr>
            </a:pPr>
            <a:r>
              <a:rPr sz="1800" b="1">
                <a:solidFill>
                  <a:srgbClr val="F3F6F2"/>
                </a:solidFill>
                <a:latin typeface="Arial"/>
                <a:ea typeface="Arial"/>
                <a:cs typeface="Arial"/>
              </a:rPr>
              <a:t>테스트 mint</a:t>
            </a:r>
          </a:p>
        </p:txBody>
      </p:sp>
      <p:sp>
        <p:nvSpPr>
          <p:cNvPr id="12" name="proof-node-2">
            <a:extLst xmlns:a="http://schemas.openxmlformats.org/drawingml/2006/main">
              <a:ext uri="{FF2B5EF4-FFF2-40B4-BE49-F238E27FC236}">
                <a16:creationId xmlns:a16="http://schemas.microsoft.com/office/drawing/2014/main" id="{B6475D3D-54FA-44C3-A131-02677867AE79}"/>
              </a:ext>
            </a:extLst>
          </p:cNvPr>
          <p:cNvSpPr>
            <a:spLocks xmlns:a="http://schemas.openxmlformats.org/drawingml/2006/main" noGrp="1"/>
          </p:cNvSpPr>
          <p:nvPr/>
        </p:nvSpPr>
        <p:spPr>
          <a:xfrm xmlns:a="http://schemas.openxmlformats.org/drawingml/2006/main">
            <a:off x="7448550" y="2667000"/>
            <a:ext cx="152400" cy="152400"/>
          </a:xfrm>
          <a:prstGeom xmlns:a="http://schemas.openxmlformats.org/drawingml/2006/main" prst="ellipse">
            <a:avLst/>
          </a:prstGeom>
          <a:solidFill xmlns:a="http://schemas.openxmlformats.org/drawingml/2006/main">
            <a:srgbClr val="C7F36B"/>
          </a:solidFill>
          <a:ln xmlns:a="http://schemas.openxmlformats.org/drawingml/2006/main" w="9525">
            <a:solidFill>
              <a:srgbClr val="C7F36B"/>
            </a:solidFill>
            <a:prstDash val="solid"/>
          </a:ln>
        </p:spPr>
      </p:sp>
      <p:sp>
        <p:nvSpPr>
          <p:cNvPr id="13" name="proof-block-2">
            <a:extLst xmlns:a="http://schemas.openxmlformats.org/drawingml/2006/main">
              <a:ext uri="{FF2B5EF4-FFF2-40B4-BE49-F238E27FC236}">
                <a16:creationId xmlns:a16="http://schemas.microsoft.com/office/drawing/2014/main" id="{B2BBDBC9-6997-4BF3-A5F5-BD6E9BC114B1}"/>
              </a:ext>
            </a:extLst>
          </p:cNvPr>
          <p:cNvSpPr>
            <a:spLocks xmlns:a="http://schemas.openxmlformats.org/drawingml/2006/main" noGrp="1"/>
          </p:cNvSpPr>
          <p:nvPr/>
        </p:nvSpPr>
        <p:spPr>
          <a:xfrm xmlns:a="http://schemas.openxmlformats.org/drawingml/2006/main">
            <a:off x="6610350" y="2076450"/>
            <a:ext cx="1828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b="1">
                <a:solidFill>
                  <a:srgbClr val="C7F36B"/>
                </a:solidFill>
                <a:latin typeface="Arial"/>
                <a:ea typeface="Arial"/>
                <a:cs typeface="Arial"/>
              </a:defRPr>
            </a:pPr>
            <a:r>
              <a:rPr sz="1350" b="1">
                <a:solidFill>
                  <a:srgbClr val="C7F36B"/>
                </a:solidFill>
                <a:latin typeface="Arial"/>
                <a:ea typeface="Arial"/>
                <a:cs typeface="Arial"/>
              </a:rPr>
              <a:t>BLOCK 160</a:t>
            </a:r>
          </a:p>
        </p:txBody>
      </p:sp>
      <p:sp>
        <p:nvSpPr>
          <p:cNvPr id="14" name="proof-event-2">
            <a:extLst xmlns:a="http://schemas.openxmlformats.org/drawingml/2006/main">
              <a:ext uri="{FF2B5EF4-FFF2-40B4-BE49-F238E27FC236}">
                <a16:creationId xmlns:a16="http://schemas.microsoft.com/office/drawing/2014/main" id="{249FC973-EEE2-4CCE-BD31-EE0340C68918}"/>
              </a:ext>
            </a:extLst>
          </p:cNvPr>
          <p:cNvSpPr>
            <a:spLocks xmlns:a="http://schemas.openxmlformats.org/drawingml/2006/main" noGrp="1"/>
          </p:cNvSpPr>
          <p:nvPr/>
        </p:nvSpPr>
        <p:spPr>
          <a:xfrm xmlns:a="http://schemas.openxmlformats.org/drawingml/2006/main">
            <a:off x="6334125" y="3038475"/>
            <a:ext cx="238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00" b="1">
                <a:solidFill>
                  <a:srgbClr val="F3F6F2"/>
                </a:solidFill>
                <a:latin typeface="Arial"/>
                <a:ea typeface="Arial"/>
                <a:cs typeface="Arial"/>
              </a:defRPr>
            </a:pPr>
            <a:r>
              <a:rPr sz="1800" b="1">
                <a:solidFill>
                  <a:srgbClr val="F3F6F2"/>
                </a:solidFill>
                <a:latin typeface="Arial"/>
                <a:ea typeface="Arial"/>
                <a:cs typeface="Arial"/>
              </a:rPr>
              <a:t>terms commit</a:t>
            </a:r>
          </a:p>
        </p:txBody>
      </p:sp>
      <p:sp>
        <p:nvSpPr>
          <p:cNvPr id="15" name="proof-node-3">
            <a:extLst xmlns:a="http://schemas.openxmlformats.org/drawingml/2006/main">
              <a:ext uri="{FF2B5EF4-FFF2-40B4-BE49-F238E27FC236}">
                <a16:creationId xmlns:a16="http://schemas.microsoft.com/office/drawing/2014/main" id="{AED2F7F3-0449-426F-AFFE-CE9BEE31A971}"/>
              </a:ext>
            </a:extLst>
          </p:cNvPr>
          <p:cNvSpPr>
            <a:spLocks xmlns:a="http://schemas.openxmlformats.org/drawingml/2006/main" noGrp="1"/>
          </p:cNvSpPr>
          <p:nvPr/>
        </p:nvSpPr>
        <p:spPr>
          <a:xfrm xmlns:a="http://schemas.openxmlformats.org/drawingml/2006/main">
            <a:off x="10210800" y="2667000"/>
            <a:ext cx="152400" cy="152400"/>
          </a:xfrm>
          <a:prstGeom xmlns:a="http://schemas.openxmlformats.org/drawingml/2006/main" prst="ellipse">
            <a:avLst/>
          </a:prstGeom>
          <a:solidFill xmlns:a="http://schemas.openxmlformats.org/drawingml/2006/main">
            <a:srgbClr val="C7F36B"/>
          </a:solidFill>
          <a:ln xmlns:a="http://schemas.openxmlformats.org/drawingml/2006/main" w="9525">
            <a:solidFill>
              <a:srgbClr val="C7F36B"/>
            </a:solidFill>
            <a:prstDash val="solid"/>
          </a:ln>
        </p:spPr>
      </p:sp>
      <p:sp>
        <p:nvSpPr>
          <p:cNvPr id="16" name="proof-block-3">
            <a:extLst xmlns:a="http://schemas.openxmlformats.org/drawingml/2006/main">
              <a:ext uri="{FF2B5EF4-FFF2-40B4-BE49-F238E27FC236}">
                <a16:creationId xmlns:a16="http://schemas.microsoft.com/office/drawing/2014/main" id="{B2C4179F-6BE5-4CDB-85E5-9C909E3A62EB}"/>
              </a:ext>
            </a:extLst>
          </p:cNvPr>
          <p:cNvSpPr>
            <a:spLocks xmlns:a="http://schemas.openxmlformats.org/drawingml/2006/main" noGrp="1"/>
          </p:cNvSpPr>
          <p:nvPr/>
        </p:nvSpPr>
        <p:spPr>
          <a:xfrm xmlns:a="http://schemas.openxmlformats.org/drawingml/2006/main">
            <a:off x="9372600" y="2076450"/>
            <a:ext cx="1828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b="1">
                <a:solidFill>
                  <a:srgbClr val="C7F36B"/>
                </a:solidFill>
                <a:latin typeface="Arial"/>
                <a:ea typeface="Arial"/>
                <a:cs typeface="Arial"/>
              </a:defRPr>
            </a:pPr>
            <a:r>
              <a:rPr sz="1350" b="1">
                <a:solidFill>
                  <a:srgbClr val="C7F36B"/>
                </a:solidFill>
                <a:latin typeface="Arial"/>
                <a:ea typeface="Arial"/>
                <a:cs typeface="Arial"/>
              </a:rPr>
              <a:t>BLOCK 164</a:t>
            </a:r>
          </a:p>
        </p:txBody>
      </p:sp>
      <p:sp>
        <p:nvSpPr>
          <p:cNvPr id="17" name="proof-event-3">
            <a:extLst xmlns:a="http://schemas.openxmlformats.org/drawingml/2006/main">
              <a:ext uri="{FF2B5EF4-FFF2-40B4-BE49-F238E27FC236}">
                <a16:creationId xmlns:a16="http://schemas.microsoft.com/office/drawing/2014/main" id="{5A2CCC33-D799-43F3-A03E-F619BE2CEBEB}"/>
              </a:ext>
            </a:extLst>
          </p:cNvPr>
          <p:cNvSpPr>
            <a:spLocks xmlns:a="http://schemas.openxmlformats.org/drawingml/2006/main" noGrp="1"/>
          </p:cNvSpPr>
          <p:nvPr/>
        </p:nvSpPr>
        <p:spPr>
          <a:xfrm xmlns:a="http://schemas.openxmlformats.org/drawingml/2006/main">
            <a:off x="9096375" y="3038475"/>
            <a:ext cx="238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00" b="1">
                <a:solidFill>
                  <a:srgbClr val="F3F6F2"/>
                </a:solidFill>
                <a:latin typeface="Arial"/>
                <a:ea typeface="Arial"/>
                <a:cs typeface="Arial"/>
              </a:defRPr>
            </a:pPr>
            <a:r>
              <a:rPr sz="1800" b="1">
                <a:solidFill>
                  <a:srgbClr val="F3F6F2"/>
                </a:solidFill>
                <a:latin typeface="Arial"/>
                <a:ea typeface="Arial"/>
                <a:cs typeface="Arial"/>
              </a:rPr>
              <a:t>owner close</a:t>
            </a:r>
          </a:p>
        </p:txBody>
      </p:sp>
      <p:sp>
        <p:nvSpPr>
          <p:cNvPr id="18" name="">
            <a:extLst xmlns:a="http://schemas.openxmlformats.org/drawingml/2006/main">
              <a:ext uri="{FF2B5EF4-FFF2-40B4-BE49-F238E27FC236}">
                <a16:creationId xmlns:a16="http://schemas.microsoft.com/office/drawing/2014/main" id="{990608E3-50D2-4848-AE8D-662D705A43E6}"/>
              </a:ext>
            </a:extLst>
          </p:cNvPr>
          <p:cNvSpPr>
            <a:spLocks xmlns:a="http://schemas.openxmlformats.org/drawingml/2006/main" noGrp="1"/>
          </p:cNvSpPr>
          <p:nvPr/>
        </p:nvSpPr>
        <p:spPr>
          <a:xfrm xmlns:a="http://schemas.openxmlformats.org/drawingml/2006/main">
            <a:off x="1905000" y="2743200"/>
            <a:ext cx="8382000" cy="9525"/>
          </a:xfrm>
          <a:prstGeom xmlns:a="http://schemas.openxmlformats.org/drawingml/2006/main" prst="line">
            <a:avLst/>
          </a:prstGeom>
          <a:noFill xmlns:a="http://schemas.openxmlformats.org/drawingml/2006/main"/>
          <a:ln xmlns:a="http://schemas.openxmlformats.org/drawingml/2006/main" w="19050">
            <a:solidFill>
              <a:srgbClr val="34403C"/>
            </a:solidFill>
            <a:prstDash val="solid"/>
          </a:ln>
        </p:spPr>
      </p:sp>
      <p:sp>
        <p:nvSpPr>
          <p:cNvPr id="19" name="balance-label">
            <a:extLst xmlns:a="http://schemas.openxmlformats.org/drawingml/2006/main">
              <a:ext uri="{FF2B5EF4-FFF2-40B4-BE49-F238E27FC236}">
                <a16:creationId xmlns:a16="http://schemas.microsoft.com/office/drawing/2014/main" id="{0997CDD6-BF2A-4DCF-8648-BAE3632170E7}"/>
              </a:ext>
            </a:extLst>
          </p:cNvPr>
          <p:cNvSpPr>
            <a:spLocks xmlns:a="http://schemas.openxmlformats.org/drawingml/2006/main" noGrp="1"/>
          </p:cNvSpPr>
          <p:nvPr/>
        </p:nvSpPr>
        <p:spPr>
          <a:xfrm xmlns:a="http://schemas.openxmlformats.org/drawingml/2006/main">
            <a:off x="723900" y="392430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a:solidFill>
                  <a:srgbClr val="A9B3AF"/>
                </a:solidFill>
                <a:latin typeface="Arial"/>
                <a:ea typeface="Arial"/>
                <a:cs typeface="Arial"/>
              </a:defRPr>
            </a:pPr>
            <a:r>
              <a:rPr sz="1575" b="0">
                <a:solidFill>
                  <a:srgbClr val="A9B3AF"/>
                </a:solidFill>
                <a:latin typeface="Arial"/>
                <a:ea typeface="Arial"/>
                <a:cs typeface="Arial"/>
              </a:rPr>
              <a:t>owner shielded 잔고</a:t>
            </a:r>
          </a:p>
        </p:txBody>
      </p:sp>
      <p:sp>
        <p:nvSpPr>
          <p:cNvPr id="20" name="balance-before">
            <a:extLst xmlns:a="http://schemas.openxmlformats.org/drawingml/2006/main">
              <a:ext uri="{FF2B5EF4-FFF2-40B4-BE49-F238E27FC236}">
                <a16:creationId xmlns:a16="http://schemas.microsoft.com/office/drawing/2014/main" id="{2DABA6DC-CEE4-4A89-AE4D-6646BA00A847}"/>
              </a:ext>
            </a:extLst>
          </p:cNvPr>
          <p:cNvSpPr>
            <a:spLocks xmlns:a="http://schemas.openxmlformats.org/drawingml/2006/main" noGrp="1"/>
          </p:cNvSpPr>
          <p:nvPr/>
        </p:nvSpPr>
        <p:spPr>
          <a:xfrm xmlns:a="http://schemas.openxmlformats.org/drawingml/2006/main">
            <a:off x="723900" y="4362450"/>
            <a:ext cx="1714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4200" b="1">
                <a:solidFill>
                  <a:srgbClr val="F3F6F2"/>
                </a:solidFill>
                <a:latin typeface="Arial"/>
                <a:ea typeface="Arial"/>
                <a:cs typeface="Arial"/>
              </a:defRPr>
            </a:pPr>
            <a:r>
              <a:rPr sz="4200" b="1">
                <a:solidFill>
                  <a:srgbClr val="F3F6F2"/>
                </a:solidFill>
                <a:latin typeface="Arial"/>
                <a:ea typeface="Arial"/>
                <a:cs typeface="Arial"/>
              </a:rPr>
              <a:t>0</a:t>
            </a:r>
          </a:p>
        </p:txBody>
      </p:sp>
      <p:sp>
        <p:nvSpPr>
          <p:cNvPr id="21" name="balance-before-caption">
            <a:extLst xmlns:a="http://schemas.openxmlformats.org/drawingml/2006/main">
              <a:ext uri="{FF2B5EF4-FFF2-40B4-BE49-F238E27FC236}">
                <a16:creationId xmlns:a16="http://schemas.microsoft.com/office/drawing/2014/main" id="{776CA711-E3B1-47FE-AB10-3DFF757E67B2}"/>
              </a:ext>
            </a:extLst>
          </p:cNvPr>
          <p:cNvSpPr>
            <a:spLocks xmlns:a="http://schemas.openxmlformats.org/drawingml/2006/main" noGrp="1"/>
          </p:cNvSpPr>
          <p:nvPr/>
        </p:nvSpPr>
        <p:spPr>
          <a:xfrm xmlns:a="http://schemas.openxmlformats.org/drawingml/2006/main">
            <a:off x="742950" y="5057775"/>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a:solidFill>
                  <a:srgbClr val="78837F"/>
                </a:solidFill>
                <a:latin typeface="Arial"/>
                <a:ea typeface="Arial"/>
                <a:cs typeface="Arial"/>
              </a:defRPr>
            </a:pPr>
            <a:r>
              <a:rPr sz="1350" b="0">
                <a:solidFill>
                  <a:srgbClr val="78837F"/>
                </a:solidFill>
                <a:latin typeface="Arial"/>
                <a:ea typeface="Arial"/>
                <a:cs typeface="Arial"/>
              </a:rPr>
              <a:t>종료 전</a:t>
            </a:r>
          </a:p>
        </p:txBody>
      </p:sp>
      <p:sp>
        <p:nvSpPr>
          <p:cNvPr id="22" name="">
            <a:extLst xmlns:a="http://schemas.openxmlformats.org/drawingml/2006/main">
              <a:ext uri="{FF2B5EF4-FFF2-40B4-BE49-F238E27FC236}">
                <a16:creationId xmlns:a16="http://schemas.microsoft.com/office/drawing/2014/main" id="{923B1826-EF2A-4769-B719-C0F0A58108AD}"/>
              </a:ext>
            </a:extLst>
          </p:cNvPr>
          <p:cNvSpPr>
            <a:spLocks xmlns:a="http://schemas.openxmlformats.org/drawingml/2006/main" noGrp="1"/>
          </p:cNvSpPr>
          <p:nvPr/>
        </p:nvSpPr>
        <p:spPr>
          <a:xfrm xmlns:a="http://schemas.openxmlformats.org/drawingml/2006/main">
            <a:off x="2952750" y="4286250"/>
            <a:ext cx="19050" cy="9525"/>
          </a:xfrm>
          <a:prstGeom xmlns:a="http://schemas.openxmlformats.org/drawingml/2006/main" prst="line">
            <a:avLst/>
          </a:prstGeom>
          <a:noFill xmlns:a="http://schemas.openxmlformats.org/drawingml/2006/main"/>
          <a:ln xmlns:a="http://schemas.openxmlformats.org/drawingml/2006/main" w="19050">
            <a:solidFill>
              <a:srgbClr val="34403C"/>
            </a:solidFill>
            <a:prstDash val="solid"/>
          </a:ln>
        </p:spPr>
      </p:sp>
      <p:sp>
        <p:nvSpPr>
          <p:cNvPr id="23" name="balance-after">
            <a:extLst xmlns:a="http://schemas.openxmlformats.org/drawingml/2006/main">
              <a:ext uri="{FF2B5EF4-FFF2-40B4-BE49-F238E27FC236}">
                <a16:creationId xmlns:a16="http://schemas.microsoft.com/office/drawing/2014/main" id="{56DCD6E8-E4A9-4026-9814-DD8C621473D5}"/>
              </a:ext>
            </a:extLst>
          </p:cNvPr>
          <p:cNvSpPr>
            <a:spLocks xmlns:a="http://schemas.openxmlformats.org/drawingml/2006/main" noGrp="1"/>
          </p:cNvSpPr>
          <p:nvPr/>
        </p:nvSpPr>
        <p:spPr>
          <a:xfrm xmlns:a="http://schemas.openxmlformats.org/drawingml/2006/main">
            <a:off x="3333750" y="4362450"/>
            <a:ext cx="2762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4200" b="1">
                <a:solidFill>
                  <a:srgbClr val="C7F36B"/>
                </a:solidFill>
                <a:latin typeface="Arial"/>
                <a:ea typeface="Arial"/>
                <a:cs typeface="Arial"/>
              </a:defRPr>
            </a:pPr>
            <a:r>
              <a:rPr sz="4200" b="1">
                <a:solidFill>
                  <a:srgbClr val="C7F36B"/>
                </a:solidFill>
                <a:latin typeface="Arial"/>
                <a:ea typeface="Arial"/>
                <a:cs typeface="Arial"/>
              </a:rPr>
              <a:t>1,000</a:t>
            </a:r>
          </a:p>
        </p:txBody>
      </p:sp>
      <p:sp>
        <p:nvSpPr>
          <p:cNvPr id="24" name="balance-after-caption">
            <a:extLst xmlns:a="http://schemas.openxmlformats.org/drawingml/2006/main">
              <a:ext uri="{FF2B5EF4-FFF2-40B4-BE49-F238E27FC236}">
                <a16:creationId xmlns:a16="http://schemas.microsoft.com/office/drawing/2014/main" id="{D8B983E2-E435-4830-80F4-736CECEC63DE}"/>
              </a:ext>
            </a:extLst>
          </p:cNvPr>
          <p:cNvSpPr>
            <a:spLocks xmlns:a="http://schemas.openxmlformats.org/drawingml/2006/main" noGrp="1"/>
          </p:cNvSpPr>
          <p:nvPr/>
        </p:nvSpPr>
        <p:spPr>
          <a:xfrm xmlns:a="http://schemas.openxmlformats.org/drawingml/2006/main">
            <a:off x="3352800" y="5057775"/>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a:solidFill>
                  <a:srgbClr val="78837F"/>
                </a:solidFill>
                <a:latin typeface="Arial"/>
                <a:ea typeface="Arial"/>
                <a:cs typeface="Arial"/>
              </a:defRPr>
            </a:pPr>
            <a:r>
              <a:rPr sz="1350" b="0">
                <a:solidFill>
                  <a:srgbClr val="78837F"/>
                </a:solidFill>
                <a:latin typeface="Arial"/>
                <a:ea typeface="Arial"/>
                <a:cs typeface="Arial"/>
              </a:rPr>
              <a:t>종료 후 · 테스트 단위</a:t>
            </a:r>
          </a:p>
        </p:txBody>
      </p:sp>
      <p:sp>
        <p:nvSpPr>
          <p:cNvPr id="25" name="auth-checks">
            <a:extLst xmlns:a="http://schemas.openxmlformats.org/drawingml/2006/main">
              <a:ext uri="{FF2B5EF4-FFF2-40B4-BE49-F238E27FC236}">
                <a16:creationId xmlns:a16="http://schemas.microsoft.com/office/drawing/2014/main" id="{4B717CA2-B944-4037-A789-3E34CEF29A93}"/>
              </a:ext>
            </a:extLst>
          </p:cNvPr>
          <p:cNvSpPr>
            <a:spLocks xmlns:a="http://schemas.openxmlformats.org/drawingml/2006/main" noGrp="1"/>
          </p:cNvSpPr>
          <p:nvPr/>
        </p:nvSpPr>
        <p:spPr>
          <a:xfrm xmlns:a="http://schemas.openxmlformats.org/drawingml/2006/main">
            <a:off x="6667500" y="4333875"/>
            <a:ext cx="4667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b="1">
                <a:solidFill>
                  <a:srgbClr val="F3F6F2"/>
                </a:solidFill>
                <a:latin typeface="Arial"/>
                <a:ea typeface="Arial"/>
                <a:cs typeface="Arial"/>
              </a:defRPr>
            </a:pPr>
            <a:r>
              <a:rPr sz="1650" b="1">
                <a:solidFill>
                  <a:srgbClr val="F3F6F2"/>
                </a:solidFill>
                <a:latin typeface="Arial"/>
                <a:ea typeface="Arial"/>
                <a:cs typeface="Arial"/>
              </a:rPr>
              <a:t>잘못된 종료 비밀값은 거절  ·  종료 replay도 거절</a:t>
            </a:r>
          </a:p>
        </p:txBody>
      </p:sp>
      <p:sp>
        <p:nvSpPr>
          <p:cNvPr id="26" name="auth-errors">
            <a:extLst xmlns:a="http://schemas.openxmlformats.org/drawingml/2006/main">
              <a:ext uri="{FF2B5EF4-FFF2-40B4-BE49-F238E27FC236}">
                <a16:creationId xmlns:a16="http://schemas.microsoft.com/office/drawing/2014/main" id="{FA67D5BD-BF38-44A8-9F2D-0BED608C90F4}"/>
              </a:ext>
            </a:extLst>
          </p:cNvPr>
          <p:cNvSpPr>
            <a:spLocks xmlns:a="http://schemas.openxmlformats.org/drawingml/2006/main" noGrp="1"/>
          </p:cNvSpPr>
          <p:nvPr/>
        </p:nvSpPr>
        <p:spPr>
          <a:xfrm xmlns:a="http://schemas.openxmlformats.org/drawingml/2006/main">
            <a:off x="6667500" y="4933950"/>
            <a:ext cx="47148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0">
                <a:solidFill>
                  <a:srgbClr val="F5B45C"/>
                </a:solidFill>
                <a:latin typeface="Arial"/>
                <a:ea typeface="Arial"/>
                <a:cs typeface="Arial"/>
              </a:defRPr>
            </a:pPr>
            <a:r>
              <a:rPr sz="1275" b="0">
                <a:solidFill>
                  <a:srgbClr val="F5B45C"/>
                </a:solidFill>
                <a:latin typeface="Arial"/>
                <a:ea typeface="Arial"/>
                <a:cs typeface="Arial"/>
              </a:rPr>
              <a:t>NOT_POSITION_OWNER  /  POSITION_NOT_OPEN</a:t>
            </a:r>
          </a:p>
        </p:txBody>
      </p:sp>
      <p:sp>
        <p:nvSpPr>
          <p:cNvPr id="27" name="proof-caveat">
            <a:extLst xmlns:a="http://schemas.openxmlformats.org/drawingml/2006/main">
              <a:ext uri="{FF2B5EF4-FFF2-40B4-BE49-F238E27FC236}">
                <a16:creationId xmlns:a16="http://schemas.microsoft.com/office/drawing/2014/main" id="{5CB994D7-304B-4EBC-9E36-F4FD28C21060}"/>
              </a:ext>
            </a:extLst>
          </p:cNvPr>
          <p:cNvSpPr>
            <a:spLocks xmlns:a="http://schemas.openxmlformats.org/drawingml/2006/main" noGrp="1"/>
          </p:cNvSpPr>
          <p:nvPr/>
        </p:nvSpPr>
        <p:spPr>
          <a:xfrm xmlns:a="http://schemas.openxmlformats.org/drawingml/2006/main">
            <a:off x="723900" y="5686425"/>
            <a:ext cx="10706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a:solidFill>
                  <a:srgbClr val="F5B45C"/>
                </a:solidFill>
                <a:latin typeface="Arial"/>
                <a:ea typeface="Arial"/>
                <a:cs typeface="Arial"/>
              </a:defRPr>
            </a:pPr>
            <a:r>
              <a:rPr sz="1350" b="0">
                <a:solidFill>
                  <a:srgbClr val="F5B45C"/>
                </a:solidFill>
                <a:latin typeface="Arial"/>
                <a:ea typeface="Arial"/>
                <a:cs typeface="Arial"/>
              </a:rPr>
              <a:t>고정 1,000단위 공개 테스트 담보  ·  오라클·PnL·청산은 없음</a:t>
            </a:r>
          </a:p>
        </p:txBody>
      </p:sp>
    </p:spTree>
    <p:extLst>
      <p:ext uri="{BB962C8B-B14F-4D97-AF65-F5344CB8AC3E}">
        <p14:creationId xmlns:p14="http://schemas.microsoft.com/office/powerpoint/2010/main" val="1099217913"/>
      </p:ext>
    </p:extLst>
  </p:cSld>
</p:sld>
</file>

<file path=ppt/slides/slide5.xml><?xml version="1.0" encoding="utf-8"?>
<p:sld xmlns:p="http://schemas.openxmlformats.org/presentationml/2006/main">
  <p:cSld>
    <p:bg>
      <p:bgPr>
        <a:solidFill xmlns:a="http://schemas.openxmlformats.org/drawingml/2006/main">
          <a:srgbClr val="090C0D"/>
        </a:solidFill>
      </p:bgPr>
    </p:bg>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FF2AACEA-0963-41CB-91F9-D22AB1BE10D8}"/>
              </a:ext>
            </a:extLst>
          </p:cNvPr>
          <p:cNvSpPr>
            <a:spLocks xmlns:a="http://schemas.openxmlformats.org/drawingml/2006/main" noGrp="1"/>
          </p:cNvSpPr>
          <p:nvPr/>
        </p:nvSpPr>
        <p:spPr>
          <a:xfrm xmlns:a="http://schemas.openxmlformats.org/drawingml/2006/main">
            <a:off x="685800" y="514350"/>
            <a:ext cx="10763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675" b="1">
                <a:solidFill>
                  <a:srgbClr val="F3F6F2"/>
                </a:solidFill>
                <a:latin typeface="Arial"/>
                <a:ea typeface="Arial"/>
                <a:cs typeface="Arial"/>
              </a:defRPr>
            </a:pPr>
            <a:r>
              <a:rPr sz="3675" b="1">
                <a:solidFill>
                  <a:srgbClr val="F3F6F2"/>
                </a:solidFill>
                <a:latin typeface="Arial"/>
                <a:ea typeface="Arial"/>
                <a:cs typeface="Arial"/>
              </a:rPr>
              <a:t>웹 화면은 연결되지 않은 기능을 숨기지 않습니다</a:t>
            </a:r>
          </a:p>
        </p:txBody>
      </p:sp>
      <p:sp>
        <p:nvSpPr>
          <p:cNvPr id="2" name="">
            <a:extLst xmlns:a="http://schemas.openxmlformats.org/drawingml/2006/main">
              <a:ext uri="{FF2B5EF4-FFF2-40B4-BE49-F238E27FC236}">
                <a16:creationId xmlns:a16="http://schemas.microsoft.com/office/drawing/2014/main" id="{36563BC1-ADB9-4247-95DC-993C1972DFDA}"/>
              </a:ext>
            </a:extLst>
          </p:cNvPr>
          <p:cNvSpPr>
            <a:spLocks xmlns:a="http://schemas.openxmlformats.org/drawingml/2006/main" noGrp="1"/>
          </p:cNvSpPr>
          <p:nvPr/>
        </p:nvSpPr>
        <p:spPr>
          <a:xfrm xmlns:a="http://schemas.openxmlformats.org/drawingml/2006/main">
            <a:off x="685800" y="6334125"/>
            <a:ext cx="10820400" cy="9525"/>
          </a:xfrm>
          <a:prstGeom xmlns:a="http://schemas.openxmlformats.org/drawingml/2006/main" prst="line">
            <a:avLst/>
          </a:prstGeom>
          <a:noFill xmlns:a="http://schemas.openxmlformats.org/drawingml/2006/main"/>
          <a:ln xmlns:a="http://schemas.openxmlformats.org/drawingml/2006/main" w="9525">
            <a:solidFill>
              <a:srgbClr val="34403C"/>
            </a:solidFill>
            <a:prstDash val="solid"/>
          </a:ln>
        </p:spPr>
      </p:sp>
      <p:sp>
        <p:nvSpPr>
          <p:cNvPr id="3" name="footer">
            <a:extLst xmlns:a="http://schemas.openxmlformats.org/drawingml/2006/main">
              <a:ext uri="{FF2B5EF4-FFF2-40B4-BE49-F238E27FC236}">
                <a16:creationId xmlns:a16="http://schemas.microsoft.com/office/drawing/2014/main" id="{0E74A8FD-3C73-4D42-9EA9-F4D6883D4466}"/>
              </a:ext>
            </a:extLst>
          </p:cNvPr>
          <p:cNvSpPr>
            <a:spLocks xmlns:a="http://schemas.openxmlformats.org/drawingml/2006/main" noGrp="1"/>
          </p:cNvSpPr>
          <p:nvPr/>
        </p:nvSpPr>
        <p:spPr>
          <a:xfrm xmlns:a="http://schemas.openxmlformats.org/drawingml/2006/main">
            <a:off x="685800" y="64579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a:solidFill>
                  <a:srgbClr val="78837F"/>
                </a:solidFill>
                <a:latin typeface="Arial"/>
                <a:ea typeface="Arial"/>
                <a:cs typeface="Arial"/>
              </a:defRPr>
            </a:pPr>
            <a:r>
              <a:rPr sz="1125" b="0">
                <a:solidFill>
                  <a:srgbClr val="78837F"/>
                </a:solidFill>
                <a:latin typeface="Arial"/>
                <a:ea typeface="Arial"/>
                <a:cs typeface="Arial"/>
              </a:rPr>
              <a:t>SILENCE  /  MIDNIGHT KOREA HACKATHON 2026</a:t>
            </a:r>
          </a:p>
        </p:txBody>
      </p:sp>
      <p:sp>
        <p:nvSpPr>
          <p:cNvPr id="4" name="page">
            <a:extLst xmlns:a="http://schemas.openxmlformats.org/drawingml/2006/main">
              <a:ext uri="{FF2B5EF4-FFF2-40B4-BE49-F238E27FC236}">
                <a16:creationId xmlns:a16="http://schemas.microsoft.com/office/drawing/2014/main" id="{FB3FDE9E-0AC3-486A-8ACE-8833777E2F63}"/>
              </a:ext>
            </a:extLst>
          </p:cNvPr>
          <p:cNvSpPr>
            <a:spLocks xmlns:a="http://schemas.openxmlformats.org/drawingml/2006/main" noGrp="1"/>
          </p:cNvSpPr>
          <p:nvPr/>
        </p:nvSpPr>
        <p:spPr>
          <a:xfrm xmlns:a="http://schemas.openxmlformats.org/drawingml/2006/main">
            <a:off x="10648950" y="6438900"/>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200" b="0">
                <a:solidFill>
                  <a:srgbClr val="A9B3AF"/>
                </a:solidFill>
                <a:latin typeface="Arial"/>
                <a:ea typeface="Arial"/>
                <a:cs typeface="Arial"/>
              </a:defRPr>
            </a:pPr>
            <a:r>
              <a:rPr sz="1200" b="0">
                <a:solidFill>
                  <a:srgbClr val="A9B3AF"/>
                </a:solidFill>
                <a:latin typeface="Arial"/>
                <a:ea typeface="Arial"/>
                <a:cs typeface="Arial"/>
              </a:rPr>
              <a:t>05 / 06</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97976f2ce0e045de"/>
          <a:stretch xmlns:a="http://schemas.openxmlformats.org/drawingml/2006/main"/>
        </p:blipFill>
        <p:spPr>
          <a:xfrm xmlns:a="http://schemas.openxmlformats.org/drawingml/2006/main">
            <a:off x="685800" y="1504950"/>
            <a:ext cx="7543800" cy="4714875"/>
          </a:xfrm>
          <a:prstGeom xmlns:a="http://schemas.openxmlformats.org/drawingml/2006/main" prst="rect">
            <a:avLst/>
          </a:prstGeom>
        </p:spPr>
      </p:pic>
      <p:sp>
        <p:nvSpPr>
          <p:cNvPr id="6" name="label-실제 로컬 화면">
            <a:extLst xmlns:a="http://schemas.openxmlformats.org/drawingml/2006/main">
              <a:ext uri="{FF2B5EF4-FFF2-40B4-BE49-F238E27FC236}">
                <a16:creationId xmlns:a16="http://schemas.microsoft.com/office/drawing/2014/main" id="{C88E61EE-DCA5-42D3-A7DA-283747C9D632}"/>
              </a:ext>
            </a:extLst>
          </p:cNvPr>
          <p:cNvSpPr>
            <a:spLocks xmlns:a="http://schemas.openxmlformats.org/drawingml/2006/main" noGrp="1"/>
          </p:cNvSpPr>
          <p:nvPr/>
        </p:nvSpPr>
        <p:spPr>
          <a:xfrm xmlns:a="http://schemas.openxmlformats.org/drawingml/2006/main">
            <a:off x="8648700" y="1638300"/>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1">
                <a:solidFill>
                  <a:srgbClr val="C7F36B"/>
                </a:solidFill>
                <a:latin typeface="Arial"/>
                <a:ea typeface="Arial"/>
                <a:cs typeface="Arial"/>
              </a:defRPr>
            </a:pPr>
            <a:r>
              <a:rPr sz="1275" b="1">
                <a:solidFill>
                  <a:srgbClr val="C7F36B"/>
                </a:solidFill>
                <a:latin typeface="Arial"/>
                <a:ea typeface="Arial"/>
                <a:cs typeface="Arial"/>
              </a:rPr>
              <a:t>실제 로컬 화면</a:t>
            </a:r>
          </a:p>
        </p:txBody>
      </p:sp>
      <p:sp>
        <p:nvSpPr>
          <p:cNvPr id="7" name="ui-oracle">
            <a:extLst xmlns:a="http://schemas.openxmlformats.org/drawingml/2006/main">
              <a:ext uri="{FF2B5EF4-FFF2-40B4-BE49-F238E27FC236}">
                <a16:creationId xmlns:a16="http://schemas.microsoft.com/office/drawing/2014/main" id="{5192CE6A-BD28-4632-A55F-D9FE8B32541F}"/>
              </a:ext>
            </a:extLst>
          </p:cNvPr>
          <p:cNvSpPr>
            <a:spLocks xmlns:a="http://schemas.openxmlformats.org/drawingml/2006/main" noGrp="1"/>
          </p:cNvSpPr>
          <p:nvPr/>
        </p:nvSpPr>
        <p:spPr>
          <a:xfrm xmlns:a="http://schemas.openxmlformats.org/drawingml/2006/main">
            <a:off x="8648700" y="2133600"/>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1">
                <a:solidFill>
                  <a:srgbClr val="F3F6F2"/>
                </a:solidFill>
                <a:latin typeface="Arial"/>
                <a:ea typeface="Arial"/>
                <a:cs typeface="Arial"/>
              </a:defRPr>
            </a:pPr>
            <a:r>
              <a:rPr sz="1725" b="1">
                <a:solidFill>
                  <a:srgbClr val="F3F6F2"/>
                </a:solidFill>
                <a:latin typeface="Arial"/>
                <a:ea typeface="Arial"/>
                <a:cs typeface="Arial"/>
              </a:rPr>
              <a:t>오라클</a:t>
            </a:r>
          </a:p>
        </p:txBody>
      </p:sp>
      <p:sp>
        <p:nvSpPr>
          <p:cNvPr id="8" name="ui-oracle-detail">
            <a:extLst xmlns:a="http://schemas.openxmlformats.org/drawingml/2006/main">
              <a:ext uri="{FF2B5EF4-FFF2-40B4-BE49-F238E27FC236}">
                <a16:creationId xmlns:a16="http://schemas.microsoft.com/office/drawing/2014/main" id="{A31F6F56-DC2F-426A-85FA-A2FD45B622A3}"/>
              </a:ext>
            </a:extLst>
          </p:cNvPr>
          <p:cNvSpPr>
            <a:spLocks xmlns:a="http://schemas.openxmlformats.org/drawingml/2006/main" noGrp="1"/>
          </p:cNvSpPr>
          <p:nvPr/>
        </p:nvSpPr>
        <p:spPr>
          <a:xfrm xmlns:a="http://schemas.openxmlformats.org/drawingml/2006/main">
            <a:off x="8648700" y="2457450"/>
            <a:ext cx="27622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b="0">
                <a:solidFill>
                  <a:srgbClr val="F5B45C"/>
                </a:solidFill>
                <a:latin typeface="Arial"/>
                <a:ea typeface="Arial"/>
                <a:cs typeface="Arial"/>
              </a:defRPr>
            </a:pPr>
            <a:r>
              <a:rPr sz="1650" b="0">
                <a:solidFill>
                  <a:srgbClr val="F5B45C"/>
                </a:solidFill>
                <a:latin typeface="Arial"/>
                <a:ea typeface="Arial"/>
                <a:cs typeface="Arial"/>
              </a:rPr>
              <a:t>미연결</a:t>
            </a:r>
          </a:p>
        </p:txBody>
      </p:sp>
      <p:sp>
        <p:nvSpPr>
          <p:cNvPr id="9" name="ui-order">
            <a:extLst xmlns:a="http://schemas.openxmlformats.org/drawingml/2006/main">
              <a:ext uri="{FF2B5EF4-FFF2-40B4-BE49-F238E27FC236}">
                <a16:creationId xmlns:a16="http://schemas.microsoft.com/office/drawing/2014/main" id="{49328AFD-83C2-4906-ADEE-8179050E2E08}"/>
              </a:ext>
            </a:extLst>
          </p:cNvPr>
          <p:cNvSpPr>
            <a:spLocks xmlns:a="http://schemas.openxmlformats.org/drawingml/2006/main" noGrp="1"/>
          </p:cNvSpPr>
          <p:nvPr/>
        </p:nvSpPr>
        <p:spPr>
          <a:xfrm xmlns:a="http://schemas.openxmlformats.org/drawingml/2006/main">
            <a:off x="8648700" y="3105150"/>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1">
                <a:solidFill>
                  <a:srgbClr val="F3F6F2"/>
                </a:solidFill>
                <a:latin typeface="Arial"/>
                <a:ea typeface="Arial"/>
                <a:cs typeface="Arial"/>
              </a:defRPr>
            </a:pPr>
            <a:r>
              <a:rPr sz="1725" b="1">
                <a:solidFill>
                  <a:srgbClr val="F3F6F2"/>
                </a:solidFill>
                <a:latin typeface="Arial"/>
                <a:ea typeface="Arial"/>
                <a:cs typeface="Arial"/>
              </a:rPr>
              <a:t>주문 실행</a:t>
            </a:r>
          </a:p>
        </p:txBody>
      </p:sp>
      <p:sp>
        <p:nvSpPr>
          <p:cNvPr id="10" name="ui-order-detail">
            <a:extLst xmlns:a="http://schemas.openxmlformats.org/drawingml/2006/main">
              <a:ext uri="{FF2B5EF4-FFF2-40B4-BE49-F238E27FC236}">
                <a16:creationId xmlns:a16="http://schemas.microsoft.com/office/drawing/2014/main" id="{EC332331-6295-4CA5-9C9F-D767DDFAF20E}"/>
              </a:ext>
            </a:extLst>
          </p:cNvPr>
          <p:cNvSpPr>
            <a:spLocks xmlns:a="http://schemas.openxmlformats.org/drawingml/2006/main" noGrp="1"/>
          </p:cNvSpPr>
          <p:nvPr/>
        </p:nvSpPr>
        <p:spPr>
          <a:xfrm xmlns:a="http://schemas.openxmlformats.org/drawingml/2006/main">
            <a:off x="8648700" y="3429000"/>
            <a:ext cx="27622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b="0">
                <a:solidFill>
                  <a:srgbClr val="F5B45C"/>
                </a:solidFill>
                <a:latin typeface="Arial"/>
                <a:ea typeface="Arial"/>
                <a:cs typeface="Arial"/>
              </a:defRPr>
            </a:pPr>
            <a:r>
              <a:rPr sz="1650" b="0">
                <a:solidFill>
                  <a:srgbClr val="F5B45C"/>
                </a:solidFill>
                <a:latin typeface="Arial"/>
                <a:ea typeface="Arial"/>
                <a:cs typeface="Arial"/>
              </a:rPr>
              <a:t>비활성</a:t>
            </a:r>
          </a:p>
        </p:txBody>
      </p:sp>
      <p:sp>
        <p:nvSpPr>
          <p:cNvPr id="11" name="ui-collateral">
            <a:extLst xmlns:a="http://schemas.openxmlformats.org/drawingml/2006/main">
              <a:ext uri="{FF2B5EF4-FFF2-40B4-BE49-F238E27FC236}">
                <a16:creationId xmlns:a16="http://schemas.microsoft.com/office/drawing/2014/main" id="{4EB573A8-DAC6-4B3A-9FAE-AC7E1AC12808}"/>
              </a:ext>
            </a:extLst>
          </p:cNvPr>
          <p:cNvSpPr>
            <a:spLocks xmlns:a="http://schemas.openxmlformats.org/drawingml/2006/main" noGrp="1"/>
          </p:cNvSpPr>
          <p:nvPr/>
        </p:nvSpPr>
        <p:spPr>
          <a:xfrm xmlns:a="http://schemas.openxmlformats.org/drawingml/2006/main">
            <a:off x="8648700" y="4076700"/>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1">
                <a:solidFill>
                  <a:srgbClr val="F3F6F2"/>
                </a:solidFill>
                <a:latin typeface="Arial"/>
                <a:ea typeface="Arial"/>
                <a:cs typeface="Arial"/>
              </a:defRPr>
            </a:pPr>
            <a:r>
              <a:rPr sz="1725" b="1">
                <a:solidFill>
                  <a:srgbClr val="F3F6F2"/>
                </a:solidFill>
                <a:latin typeface="Arial"/>
                <a:ea typeface="Arial"/>
                <a:cs typeface="Arial"/>
              </a:rPr>
              <a:t>담보 lot</a:t>
            </a:r>
          </a:p>
        </p:txBody>
      </p:sp>
      <p:sp>
        <p:nvSpPr>
          <p:cNvPr id="12" name="ui-collateral-detail">
            <a:extLst xmlns:a="http://schemas.openxmlformats.org/drawingml/2006/main">
              <a:ext uri="{FF2B5EF4-FFF2-40B4-BE49-F238E27FC236}">
                <a16:creationId xmlns:a16="http://schemas.microsoft.com/office/drawing/2014/main" id="{E8D1382A-8179-44A7-99F2-BE63AB2C9A21}"/>
              </a:ext>
            </a:extLst>
          </p:cNvPr>
          <p:cNvSpPr>
            <a:spLocks xmlns:a="http://schemas.openxmlformats.org/drawingml/2006/main" noGrp="1"/>
          </p:cNvSpPr>
          <p:nvPr/>
        </p:nvSpPr>
        <p:spPr>
          <a:xfrm xmlns:a="http://schemas.openxmlformats.org/drawingml/2006/main">
            <a:off x="8648700" y="4400550"/>
            <a:ext cx="2762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b="0">
                <a:solidFill>
                  <a:srgbClr val="A9B3AF"/>
                </a:solidFill>
                <a:latin typeface="Arial"/>
                <a:ea typeface="Arial"/>
                <a:cs typeface="Arial"/>
              </a:defRPr>
            </a:pPr>
            <a:r>
              <a:rPr sz="1650" b="0">
                <a:solidFill>
                  <a:srgbClr val="A9B3AF"/>
                </a:solidFill>
                <a:latin typeface="Arial"/>
                <a:ea typeface="Arial"/>
                <a:cs typeface="Arial"/>
              </a:rPr>
              <a:t>1,000 테스트 단위</a:t>
            </a:r>
          </a:p>
          <a:p xmlns:a="http://schemas.openxmlformats.org/drawingml/2006/main">
            <a:pPr algn="l">
              <a:buNone/>
              <a:defRPr sz="1650" b="0">
                <a:solidFill>
                  <a:srgbClr val="A9B3AF"/>
                </a:solidFill>
                <a:latin typeface="Arial"/>
                <a:ea typeface="Arial"/>
                <a:cs typeface="Arial"/>
              </a:defRPr>
            </a:pPr>
            <a:r>
              <a:rPr sz="1650" b="0">
                <a:solidFill>
                  <a:srgbClr val="A9B3AF"/>
                </a:solidFill>
                <a:latin typeface="Arial"/>
                <a:ea typeface="Arial"/>
                <a:cs typeface="Arial"/>
              </a:rPr>
              <a:t>공개·고정</a:t>
            </a:r>
          </a:p>
        </p:txBody>
      </p:sp>
      <p:sp>
        <p:nvSpPr>
          <p:cNvPr id="13" name="">
            <a:extLst xmlns:a="http://schemas.openxmlformats.org/drawingml/2006/main">
              <a:ext uri="{FF2B5EF4-FFF2-40B4-BE49-F238E27FC236}">
                <a16:creationId xmlns:a16="http://schemas.microsoft.com/office/drawing/2014/main" id="{FF1266EE-245A-4459-B61E-7FE4B7C3D676}"/>
              </a:ext>
            </a:extLst>
          </p:cNvPr>
          <p:cNvSpPr>
            <a:spLocks xmlns:a="http://schemas.openxmlformats.org/drawingml/2006/main" noGrp="1"/>
          </p:cNvSpPr>
          <p:nvPr/>
        </p:nvSpPr>
        <p:spPr>
          <a:xfrm xmlns:a="http://schemas.openxmlformats.org/drawingml/2006/main">
            <a:off x="8648700" y="5267325"/>
            <a:ext cx="2647950" cy="9525"/>
          </a:xfrm>
          <a:prstGeom xmlns:a="http://schemas.openxmlformats.org/drawingml/2006/main" prst="line">
            <a:avLst/>
          </a:prstGeom>
          <a:noFill xmlns:a="http://schemas.openxmlformats.org/drawingml/2006/main"/>
          <a:ln xmlns:a="http://schemas.openxmlformats.org/drawingml/2006/main" w="9525">
            <a:solidFill>
              <a:srgbClr val="34403C"/>
            </a:solidFill>
            <a:prstDash val="solid"/>
          </a:ln>
        </p:spPr>
      </p:sp>
      <p:sp>
        <p:nvSpPr>
          <p:cNvPr id="14" name="ui-caveat">
            <a:extLst xmlns:a="http://schemas.openxmlformats.org/drawingml/2006/main">
              <a:ext uri="{FF2B5EF4-FFF2-40B4-BE49-F238E27FC236}">
                <a16:creationId xmlns:a16="http://schemas.microsoft.com/office/drawing/2014/main" id="{52D8DDCA-BA0F-437B-A7DE-68FAA67B6018}"/>
              </a:ext>
            </a:extLst>
          </p:cNvPr>
          <p:cNvSpPr>
            <a:spLocks xmlns:a="http://schemas.openxmlformats.org/drawingml/2006/main" noGrp="1"/>
          </p:cNvSpPr>
          <p:nvPr/>
        </p:nvSpPr>
        <p:spPr>
          <a:xfrm xmlns:a="http://schemas.openxmlformats.org/drawingml/2006/main">
            <a:off x="8648700" y="5438775"/>
            <a:ext cx="2762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0">
                <a:solidFill>
                  <a:srgbClr val="78837F"/>
                </a:solidFill>
                <a:latin typeface="Arial"/>
                <a:ea typeface="Arial"/>
                <a:cs typeface="Arial"/>
              </a:defRPr>
            </a:pPr>
            <a:r>
              <a:rPr sz="1275" b="0">
                <a:solidFill>
                  <a:srgbClr val="78837F"/>
                </a:solidFill>
                <a:latin typeface="Arial"/>
                <a:ea typeface="Arial"/>
                <a:cs typeface="Arial"/>
              </a:rPr>
              <a:t>로컬 headless 캡처입니다.</a:t>
            </a:r>
          </a:p>
          <a:p xmlns:a="http://schemas.openxmlformats.org/drawingml/2006/main">
            <a:pPr algn="l">
              <a:buNone/>
              <a:defRPr sz="1275" b="0">
                <a:solidFill>
                  <a:srgbClr val="78837F"/>
                </a:solidFill>
                <a:latin typeface="Arial"/>
                <a:ea typeface="Arial"/>
                <a:cs typeface="Arial"/>
              </a:defRPr>
            </a:pPr>
            <a:r>
              <a:rPr sz="1275" b="0">
                <a:solidFill>
                  <a:srgbClr val="78837F"/>
                </a:solidFill>
                <a:latin typeface="Arial"/>
                <a:ea typeface="Arial"/>
                <a:cs typeface="Arial"/>
              </a:rPr>
              <a:t>실시간 가격이나 거래 기능은 아닙니다.</a:t>
            </a:r>
          </a:p>
        </p:txBody>
      </p:sp>
    </p:spTree>
    <p:extLst>
      <p:ext uri="{BB962C8B-B14F-4D97-AF65-F5344CB8AC3E}">
        <p14:creationId xmlns:p14="http://schemas.microsoft.com/office/powerpoint/2010/main" val="1090579553"/>
      </p:ext>
    </p:extLst>
  </p:cSld>
</p:sld>
</file>

<file path=ppt/slides/slide6.xml><?xml version="1.0" encoding="utf-8"?>
<p:sld xmlns:p="http://schemas.openxmlformats.org/presentationml/2006/main">
  <p:cSld>
    <p:bg>
      <p:bgPr>
        <a:solidFill xmlns:a="http://schemas.openxmlformats.org/drawingml/2006/main">
          <a:srgbClr val="090C0D"/>
        </a:solidFill>
      </p:bgPr>
    </p:bg>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E7B1A6A4-3613-4722-A834-975440F8B24A}"/>
              </a:ext>
            </a:extLst>
          </p:cNvPr>
          <p:cNvSpPr>
            <a:spLocks xmlns:a="http://schemas.openxmlformats.org/drawingml/2006/main" noGrp="1"/>
          </p:cNvSpPr>
          <p:nvPr/>
        </p:nvSpPr>
        <p:spPr>
          <a:xfrm xmlns:a="http://schemas.openxmlformats.org/drawingml/2006/main">
            <a:off x="685800" y="514350"/>
            <a:ext cx="10763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675" b="1">
                <a:solidFill>
                  <a:srgbClr val="F3F6F2"/>
                </a:solidFill>
                <a:latin typeface="Arial"/>
                <a:ea typeface="Arial"/>
                <a:cs typeface="Arial"/>
              </a:defRPr>
            </a:pPr>
            <a:r>
              <a:rPr sz="3675" b="1">
                <a:solidFill>
                  <a:srgbClr val="F3F6F2"/>
                </a:solidFill>
                <a:latin typeface="Arial"/>
                <a:ea typeface="Arial"/>
                <a:cs typeface="Arial"/>
              </a:rPr>
              <a:t>별도 키로 종료와 수령을 Local Devnet에서 확인</a:t>
            </a:r>
          </a:p>
        </p:txBody>
      </p:sp>
      <p:sp>
        <p:nvSpPr>
          <p:cNvPr id="2" name="">
            <a:extLst xmlns:a="http://schemas.openxmlformats.org/drawingml/2006/main">
              <a:ext uri="{FF2B5EF4-FFF2-40B4-BE49-F238E27FC236}">
                <a16:creationId xmlns:a16="http://schemas.microsoft.com/office/drawing/2014/main" id="{29B35F38-A423-40D6-B33E-3221FA22F089}"/>
              </a:ext>
            </a:extLst>
          </p:cNvPr>
          <p:cNvSpPr>
            <a:spLocks xmlns:a="http://schemas.openxmlformats.org/drawingml/2006/main" noGrp="1"/>
          </p:cNvSpPr>
          <p:nvPr/>
        </p:nvSpPr>
        <p:spPr>
          <a:xfrm xmlns:a="http://schemas.openxmlformats.org/drawingml/2006/main">
            <a:off x="685800" y="6334125"/>
            <a:ext cx="10820400" cy="9525"/>
          </a:xfrm>
          <a:prstGeom xmlns:a="http://schemas.openxmlformats.org/drawingml/2006/main" prst="line">
            <a:avLst/>
          </a:prstGeom>
          <a:noFill xmlns:a="http://schemas.openxmlformats.org/drawingml/2006/main"/>
          <a:ln xmlns:a="http://schemas.openxmlformats.org/drawingml/2006/main" w="9525">
            <a:solidFill>
              <a:srgbClr val="34403C"/>
            </a:solidFill>
            <a:prstDash val="solid"/>
          </a:ln>
        </p:spPr>
      </p:sp>
      <p:sp>
        <p:nvSpPr>
          <p:cNvPr id="3" name="footer">
            <a:extLst xmlns:a="http://schemas.openxmlformats.org/drawingml/2006/main">
              <a:ext uri="{FF2B5EF4-FFF2-40B4-BE49-F238E27FC236}">
                <a16:creationId xmlns:a16="http://schemas.microsoft.com/office/drawing/2014/main" id="{848FF448-1B40-46B2-8D27-7E8B14D92841}"/>
              </a:ext>
            </a:extLst>
          </p:cNvPr>
          <p:cNvSpPr>
            <a:spLocks xmlns:a="http://schemas.openxmlformats.org/drawingml/2006/main" noGrp="1"/>
          </p:cNvSpPr>
          <p:nvPr/>
        </p:nvSpPr>
        <p:spPr>
          <a:xfrm xmlns:a="http://schemas.openxmlformats.org/drawingml/2006/main">
            <a:off x="685800" y="64579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125" b="0">
                <a:solidFill>
                  <a:srgbClr val="78837F"/>
                </a:solidFill>
                <a:latin typeface="Arial"/>
                <a:ea typeface="Arial"/>
                <a:cs typeface="Arial"/>
              </a:defRPr>
            </a:pPr>
            <a:r>
              <a:rPr sz="1125" b="0">
                <a:solidFill>
                  <a:srgbClr val="78837F"/>
                </a:solidFill>
                <a:latin typeface="Arial"/>
                <a:ea typeface="Arial"/>
                <a:cs typeface="Arial"/>
              </a:rPr>
              <a:t>SILENCE  /  MIDNIGHT KOREA HACKATHON 2026</a:t>
            </a:r>
          </a:p>
        </p:txBody>
      </p:sp>
      <p:sp>
        <p:nvSpPr>
          <p:cNvPr id="4" name="page">
            <a:extLst xmlns:a="http://schemas.openxmlformats.org/drawingml/2006/main">
              <a:ext uri="{FF2B5EF4-FFF2-40B4-BE49-F238E27FC236}">
                <a16:creationId xmlns:a16="http://schemas.microsoft.com/office/drawing/2014/main" id="{D9FF2D91-3485-4178-A581-2D6C639278A1}"/>
              </a:ext>
            </a:extLst>
          </p:cNvPr>
          <p:cNvSpPr>
            <a:spLocks xmlns:a="http://schemas.openxmlformats.org/drawingml/2006/main" noGrp="1"/>
          </p:cNvSpPr>
          <p:nvPr/>
        </p:nvSpPr>
        <p:spPr>
          <a:xfrm xmlns:a="http://schemas.openxmlformats.org/drawingml/2006/main">
            <a:off x="10648950" y="6438900"/>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200" b="0">
                <a:solidFill>
                  <a:srgbClr val="A9B3AF"/>
                </a:solidFill>
                <a:latin typeface="Arial"/>
                <a:ea typeface="Arial"/>
                <a:cs typeface="Arial"/>
              </a:defRPr>
            </a:pPr>
            <a:r>
              <a:rPr sz="1200" b="0">
                <a:solidFill>
                  <a:srgbClr val="A9B3AF"/>
                </a:solidFill>
                <a:latin typeface="Arial"/>
                <a:ea typeface="Arial"/>
                <a:cs typeface="Arial"/>
              </a:rPr>
              <a:t>06 / 06</a:t>
            </a:r>
          </a:p>
        </p:txBody>
      </p:sp>
      <p:sp>
        <p:nvSpPr>
          <p:cNvPr id="5" name="label-제안된 2단계 흐름 · 제품 체인 미검증">
            <a:extLst xmlns:a="http://schemas.openxmlformats.org/drawingml/2006/main">
              <a:ext uri="{FF2B5EF4-FFF2-40B4-BE49-F238E27FC236}">
                <a16:creationId xmlns:a16="http://schemas.microsoft.com/office/drawing/2014/main" id="{384519A9-E0C7-48EA-A730-6AE2174A32D6}"/>
              </a:ext>
            </a:extLst>
          </p:cNvPr>
          <p:cNvSpPr>
            <a:spLocks xmlns:a="http://schemas.openxmlformats.org/drawingml/2006/main" noGrp="1"/>
          </p:cNvSpPr>
          <p:nvPr/>
        </p:nvSpPr>
        <p:spPr>
          <a:xfrm xmlns:a="http://schemas.openxmlformats.org/drawingml/2006/main">
            <a:off x="723900" y="13906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1">
                <a:solidFill>
                  <a:srgbClr val="F5B45C"/>
                </a:solidFill>
                <a:latin typeface="Arial"/>
                <a:ea typeface="Arial"/>
                <a:cs typeface="Arial"/>
              </a:defRPr>
            </a:pPr>
            <a:r>
              <a:rPr sz="1275" b="1">
                <a:solidFill>
                  <a:srgbClr val="F5B45C"/>
                </a:solidFill>
                <a:latin typeface="Arial"/>
                <a:ea typeface="Arial"/>
                <a:cs typeface="Arial"/>
              </a:rPr>
              <a:t>실제 Local Devnet receipts: open 570, close 573, claim 577</a:t>
            </a:r>
          </a:p>
        </p:txBody>
      </p:sp>
      <p:sp>
        <p:nvSpPr>
          <p:cNvPr id="6" name="step-close">
            <a:extLst xmlns:a="http://schemas.openxmlformats.org/drawingml/2006/main">
              <a:ext uri="{FF2B5EF4-FFF2-40B4-BE49-F238E27FC236}">
                <a16:creationId xmlns:a16="http://schemas.microsoft.com/office/drawing/2014/main" id="{B6C4F9D8-148D-4F49-BA94-0960177B98D0}"/>
              </a:ext>
            </a:extLst>
          </p:cNvPr>
          <p:cNvSpPr>
            <a:spLocks xmlns:a="http://schemas.openxmlformats.org/drawingml/2006/main" noGrp="1"/>
          </p:cNvSpPr>
          <p:nvPr/>
        </p:nvSpPr>
        <p:spPr>
          <a:xfrm xmlns:a="http://schemas.openxmlformats.org/drawingml/2006/main">
            <a:off x="762000" y="2190750"/>
            <a:ext cx="40005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75" b="1">
                <a:solidFill>
                  <a:srgbClr val="F3F6F2"/>
                </a:solidFill>
                <a:latin typeface="Arial"/>
                <a:ea typeface="Arial"/>
                <a:cs typeface="Arial"/>
              </a:defRPr>
            </a:pPr>
            <a:r>
              <a:rPr sz="1875" b="1">
                <a:solidFill>
                  <a:srgbClr val="F3F6F2"/>
                </a:solidFill>
                <a:latin typeface="Arial"/>
                <a:ea typeface="Arial"/>
                <a:cs typeface="Arial"/>
              </a:rPr>
              <a:t>1  operator close · block 573</a:t>
            </a:r>
          </a:p>
          <a:p xmlns:a="http://schemas.openxmlformats.org/drawingml/2006/main">
            <a:pPr algn="l">
              <a:buNone/>
              <a:defRPr sz="1875" b="1">
                <a:solidFill>
                  <a:srgbClr val="F3F6F2"/>
                </a:solidFill>
                <a:latin typeface="Arial"/>
                <a:ea typeface="Arial"/>
                <a:cs typeface="Arial"/>
              </a:defRPr>
            </a:pPr>
            <a:r>
              <a:rPr sz="1875" b="1">
                <a:solidFill>
                  <a:srgbClr val="F3F6F2"/>
                </a:solidFill>
                <a:latin typeface="Arial"/>
                <a:ea typeface="Arial"/>
                <a:cs typeface="Arial"/>
              </a:rPr>
              <a:t>별도 Zswap key로 ClosedUnclaimed</a:t>
            </a:r>
          </a:p>
          <a:p xmlns:a="http://schemas.openxmlformats.org/drawingml/2006/main">
            <a:pPr algn="l">
              <a:buNone/>
              <a:defRPr sz="1875" b="1">
                <a:solidFill>
                  <a:srgbClr val="F3F6F2"/>
                </a:solidFill>
                <a:latin typeface="Arial"/>
                <a:ea typeface="Arial"/>
                <a:cs typeface="Arial"/>
              </a:defRPr>
            </a:pPr>
            <a:r>
              <a:rPr sz="1875" b="1">
                <a:solidFill>
                  <a:srgbClr val="F3F6F2"/>
                </a:solidFill>
                <a:latin typeface="Arial"/>
                <a:ea typeface="Arial"/>
                <a:cs typeface="Arial"/>
              </a:rPr>
              <a:t>owner 잔고 0 · operator 잔고 0</a:t>
            </a:r>
          </a:p>
        </p:txBody>
      </p:sp>
      <p:sp>
        <p:nvSpPr>
          <p:cNvPr id="7" name="step-claim">
            <a:extLst xmlns:a="http://schemas.openxmlformats.org/drawingml/2006/main">
              <a:ext uri="{FF2B5EF4-FFF2-40B4-BE49-F238E27FC236}">
                <a16:creationId xmlns:a16="http://schemas.microsoft.com/office/drawing/2014/main" id="{BA8AFF1B-054D-4124-89A1-9687E4EBA0E2}"/>
              </a:ext>
            </a:extLst>
          </p:cNvPr>
          <p:cNvSpPr>
            <a:spLocks xmlns:a="http://schemas.openxmlformats.org/drawingml/2006/main" noGrp="1"/>
          </p:cNvSpPr>
          <p:nvPr/>
        </p:nvSpPr>
        <p:spPr>
          <a:xfrm xmlns:a="http://schemas.openxmlformats.org/drawingml/2006/main">
            <a:off x="7239000" y="2190750"/>
            <a:ext cx="40005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75" b="1">
                <a:solidFill>
                  <a:srgbClr val="F3F6F2"/>
                </a:solidFill>
                <a:latin typeface="Arial"/>
                <a:ea typeface="Arial"/>
                <a:cs typeface="Arial"/>
              </a:defRPr>
            </a:pPr>
            <a:r>
              <a:rPr sz="1875" b="1">
                <a:solidFill>
                  <a:srgbClr val="F3F6F2"/>
                </a:solidFill>
                <a:latin typeface="Arial"/>
                <a:ea typeface="Arial"/>
                <a:cs typeface="Arial"/>
              </a:rPr>
              <a:t>2  owner claim · block 577</a:t>
            </a:r>
          </a:p>
          <a:p xmlns:a="http://schemas.openxmlformats.org/drawingml/2006/main">
            <a:pPr algn="l">
              <a:buNone/>
              <a:defRPr sz="1875" b="1">
                <a:solidFill>
                  <a:srgbClr val="F3F6F2"/>
                </a:solidFill>
                <a:latin typeface="Arial"/>
                <a:ea typeface="Arial"/>
                <a:cs typeface="Arial"/>
              </a:defRPr>
            </a:pPr>
            <a:r>
              <a:rPr sz="1875" b="1">
                <a:solidFill>
                  <a:srgbClr val="F3F6F2"/>
                </a:solidFill>
                <a:latin typeface="Arial"/>
                <a:ea typeface="Arial"/>
                <a:cs typeface="Arial"/>
              </a:rPr>
              <a:t>원래 owner key로 test lot 수령</a:t>
            </a:r>
          </a:p>
          <a:p xmlns:a="http://schemas.openxmlformats.org/drawingml/2006/main">
            <a:pPr algn="l">
              <a:buNone/>
              <a:defRPr sz="1875" b="1">
                <a:solidFill>
                  <a:srgbClr val="F3F6F2"/>
                </a:solidFill>
                <a:latin typeface="Arial"/>
                <a:ea typeface="Arial"/>
                <a:cs typeface="Arial"/>
              </a:defRPr>
            </a:pPr>
            <a:r>
              <a:rPr sz="1875" b="1">
                <a:solidFill>
                  <a:srgbClr val="F3F6F2"/>
                </a:solidFill>
                <a:latin typeface="Arial"/>
                <a:ea typeface="Arial"/>
                <a:cs typeface="Arial"/>
              </a:rPr>
              <a:t>owner 0에서 1,000 · operator 0</a:t>
            </a:r>
          </a:p>
        </p:txBody>
      </p:sp>
      <p:cxnSp>
        <p:nvCxnSpPr>
          <p:cNvPr id="38" name=""/>
          <p:cNvCxnSpPr>
            <a:stCxn xmlns:a="http://schemas.openxmlformats.org/drawingml/2006/main" id="6" idx="3"/>
            <a:endCxn xmlns:a="http://schemas.openxmlformats.org/drawingml/2006/main" id="7" idx="1"/>
          </p:cNvCxnSpPr>
          <p:nvPr/>
        </p:nvCxnSpPr>
        <p:spPr>
          <a:xfrm xmlns:a="http://schemas.openxmlformats.org/drawingml/2006/main">
            <a:off x="4762500" y="2771775"/>
            <a:ext cx="2476500" cy="0"/>
          </a:xfrm>
          <a:prstGeom xmlns:a="http://schemas.openxmlformats.org/drawingml/2006/main" prst="straightConnector1">
            <a:avLst/>
          </a:prstGeom>
          <a:ln xmlns:a="http://schemas.openxmlformats.org/drawingml/2006/main" w="19050">
            <a:solidFill>
              <a:srgbClr val="C7F36B"/>
            </a:solidFill>
            <a:prstDash val="dash"/>
            <a:tailEnd type="triangle" w="sm" len="sm"/>
          </a:ln>
        </p:spPr>
      </p:cxnSp>
      <p:sp>
        <p:nvSpPr>
          <p:cNvPr id="9" name="step-note-1">
            <a:extLst xmlns:a="http://schemas.openxmlformats.org/drawingml/2006/main">
              <a:ext uri="{FF2B5EF4-FFF2-40B4-BE49-F238E27FC236}">
                <a16:creationId xmlns:a16="http://schemas.microsoft.com/office/drawing/2014/main" id="{6FF863B2-B8A0-4189-BD34-C44A94A237CD}"/>
              </a:ext>
            </a:extLst>
          </p:cNvPr>
          <p:cNvSpPr>
            <a:spLocks xmlns:a="http://schemas.openxmlformats.org/drawingml/2006/main" noGrp="1"/>
          </p:cNvSpPr>
          <p:nvPr/>
        </p:nvSpPr>
        <p:spPr>
          <a:xfrm xmlns:a="http://schemas.openxmlformats.org/drawingml/2006/main">
            <a:off x="762000" y="36004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C7F36B"/>
                </a:solidFill>
                <a:latin typeface="Arial"/>
                <a:ea typeface="Arial"/>
                <a:cs typeface="Arial"/>
              </a:defRPr>
            </a:pPr>
            <a:r>
              <a:rPr sz="1425" b="0">
                <a:solidFill>
                  <a:srgbClr val="F5B45C"/>
                </a:solidFill>
                <a:latin typeface="Arial"/>
                <a:ea typeface="Arial"/>
                <a:cs typeface="Arial"/>
              </a:rPr>
              <a:t>위험 조건 없음 · operator 조기 종료 가능</a:t>
            </a:r>
          </a:p>
        </p:txBody>
      </p:sp>
      <p:sp>
        <p:nvSpPr>
          <p:cNvPr id="10" name="step-note-2">
            <a:extLst xmlns:a="http://schemas.openxmlformats.org/drawingml/2006/main">
              <a:ext uri="{FF2B5EF4-FFF2-40B4-BE49-F238E27FC236}">
                <a16:creationId xmlns:a16="http://schemas.microsoft.com/office/drawing/2014/main" id="{026D281C-5078-4DE8-AEA1-3142FC8F17DB}"/>
              </a:ext>
            </a:extLst>
          </p:cNvPr>
          <p:cNvSpPr>
            <a:spLocks xmlns:a="http://schemas.openxmlformats.org/drawingml/2006/main" noGrp="1"/>
          </p:cNvSpPr>
          <p:nvPr/>
        </p:nvSpPr>
        <p:spPr>
          <a:xfrm xmlns:a="http://schemas.openxmlformats.org/drawingml/2006/main">
            <a:off x="7239000" y="360045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F5B45C"/>
                </a:solidFill>
                <a:latin typeface="Arial"/>
                <a:ea typeface="Arial"/>
                <a:cs typeface="Arial"/>
              </a:defRPr>
            </a:pPr>
            <a:r>
              <a:rPr sz="1275" b="0">
                <a:solidFill>
                  <a:srgbClr val="F5B45C"/>
                </a:solidFill>
                <a:latin typeface="Arial"/>
                <a:ea typeface="Arial"/>
                <a:cs typeface="Arial"/>
              </a:rPr>
              <a:t>같은 runner가 owner DustSecretKey로 fee 대납</a:t>
            </a:r>
          </a:p>
        </p:txBody>
      </p:sp>
      <p:sp>
        <p:nvSpPr>
          <p:cNvPr id="11" name="">
            <a:extLst xmlns:a="http://schemas.openxmlformats.org/drawingml/2006/main">
              <a:ext uri="{FF2B5EF4-FFF2-40B4-BE49-F238E27FC236}">
                <a16:creationId xmlns:a16="http://schemas.microsoft.com/office/drawing/2014/main" id="{DE3A33E4-4182-4A1C-A14E-577F388A529D}"/>
              </a:ext>
            </a:extLst>
          </p:cNvPr>
          <p:cNvSpPr>
            <a:spLocks xmlns:a="http://schemas.openxmlformats.org/drawingml/2006/main" noGrp="1"/>
          </p:cNvSpPr>
          <p:nvPr/>
        </p:nvSpPr>
        <p:spPr>
          <a:xfrm xmlns:a="http://schemas.openxmlformats.org/drawingml/2006/main">
            <a:off x="723900" y="4248150"/>
            <a:ext cx="10744200" cy="9525"/>
          </a:xfrm>
          <a:prstGeom xmlns:a="http://schemas.openxmlformats.org/drawingml/2006/main" prst="line">
            <a:avLst/>
          </a:prstGeom>
          <a:noFill xmlns:a="http://schemas.openxmlformats.org/drawingml/2006/main"/>
          <a:ln xmlns:a="http://schemas.openxmlformats.org/drawingml/2006/main" w="9525">
            <a:solidFill>
              <a:srgbClr val="34403C"/>
            </a:solidFill>
            <a:prstDash val="solid"/>
          </a:ln>
        </p:spPr>
      </p:sp>
      <p:sp>
        <p:nvSpPr>
          <p:cNvPr id="12" name="closing-proof">
            <a:extLst xmlns:a="http://schemas.openxmlformats.org/drawingml/2006/main">
              <a:ext uri="{FF2B5EF4-FFF2-40B4-BE49-F238E27FC236}">
                <a16:creationId xmlns:a16="http://schemas.microsoft.com/office/drawing/2014/main" id="{BBFEF376-5833-44D1-9706-078E13F72165}"/>
              </a:ext>
            </a:extLst>
          </p:cNvPr>
          <p:cNvSpPr>
            <a:spLocks xmlns:a="http://schemas.openxmlformats.org/drawingml/2006/main" noGrp="1"/>
          </p:cNvSpPr>
          <p:nvPr/>
        </p:nvSpPr>
        <p:spPr>
          <a:xfrm xmlns:a="http://schemas.openxmlformats.org/drawingml/2006/main">
            <a:off x="723900" y="4552950"/>
            <a:ext cx="2476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A9B3AF"/>
                </a:solidFill>
                <a:latin typeface="Arial"/>
                <a:ea typeface="Arial"/>
                <a:cs typeface="Arial"/>
              </a:defRPr>
            </a:pPr>
            <a:r>
              <a:rPr sz="1425" b="0">
                <a:solidFill>
                  <a:srgbClr val="A9B3AF"/>
                </a:solidFill>
                <a:latin typeface="Arial"/>
                <a:ea typeface="Arial"/>
                <a:cs typeface="Arial"/>
              </a:rPr>
              <a:t>두 키로 실행한 Local Devnet evidence</a:t>
            </a:r>
          </a:p>
        </p:txBody>
      </p:sp>
      <p:sp>
        <p:nvSpPr>
          <p:cNvPr id="13" name="closing-what-proven">
            <a:extLst xmlns:a="http://schemas.openxmlformats.org/drawingml/2006/main">
              <a:ext uri="{FF2B5EF4-FFF2-40B4-BE49-F238E27FC236}">
                <a16:creationId xmlns:a16="http://schemas.microsoft.com/office/drawing/2014/main" id="{6A2CAF1D-52BA-436C-B513-E71650628FCE}"/>
              </a:ext>
            </a:extLst>
          </p:cNvPr>
          <p:cNvSpPr>
            <a:spLocks xmlns:a="http://schemas.openxmlformats.org/drawingml/2006/main" noGrp="1"/>
          </p:cNvSpPr>
          <p:nvPr/>
        </p:nvSpPr>
        <p:spPr>
          <a:xfrm xmlns:a="http://schemas.openxmlformats.org/drawingml/2006/main">
            <a:off x="723900" y="4876800"/>
            <a:ext cx="10744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1">
                <a:solidFill>
                  <a:srgbClr val="C7F36B"/>
                </a:solidFill>
                <a:latin typeface="Arial"/>
                <a:ea typeface="Arial"/>
                <a:cs typeface="Arial"/>
              </a:defRPr>
            </a:pPr>
            <a:r>
              <a:rPr sz="2025" b="1">
                <a:solidFill>
                  <a:srgbClr val="C7F36B"/>
                </a:solidFill>
                <a:latin typeface="Arial"/>
                <a:ea typeface="Arial"/>
                <a:cs typeface="Arial"/>
              </a:rPr>
              <a:t>operator 종료 후 원래 owner가 자기 키로 담보 claim</a:t>
            </a:r>
          </a:p>
        </p:txBody>
      </p:sp>
      <p:sp>
        <p:nvSpPr>
          <p:cNvPr id="14" name="closing-not-yet">
            <a:extLst xmlns:a="http://schemas.openxmlformats.org/drawingml/2006/main">
              <a:ext uri="{FF2B5EF4-FFF2-40B4-BE49-F238E27FC236}">
                <a16:creationId xmlns:a16="http://schemas.microsoft.com/office/drawing/2014/main" id="{C1CCF225-3FCC-491A-A213-C9B8B2A08D21}"/>
              </a:ext>
            </a:extLst>
          </p:cNvPr>
          <p:cNvSpPr>
            <a:spLocks xmlns:a="http://schemas.openxmlformats.org/drawingml/2006/main" noGrp="1"/>
          </p:cNvSpPr>
          <p:nvPr/>
        </p:nvSpPr>
        <p:spPr>
          <a:xfrm xmlns:a="http://schemas.openxmlformats.org/drawingml/2006/main">
            <a:off x="723900" y="5467350"/>
            <a:ext cx="10744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a:solidFill>
                  <a:srgbClr val="F5B45C"/>
                </a:solidFill>
                <a:latin typeface="Arial"/>
                <a:ea typeface="Arial"/>
                <a:cs typeface="Arial"/>
              </a:defRPr>
            </a:pPr>
            <a:r>
              <a:rPr sz="1575" b="0">
                <a:solidFill>
                  <a:srgbClr val="F5B45C"/>
                </a:solidFill>
                <a:latin typeface="Arial"/>
                <a:ea typeface="Arial"/>
                <a:cs typeface="Arial"/>
              </a:rPr>
              <a:t>전체 이력 프라이버시를 주장하지 않음 · 오라클/위험 판정/PnL·LP/제품/브라우저 미검증</a:t>
            </a:r>
          </a:p>
        </p:txBody>
      </p:sp>
    </p:spTree>
    <p:extLst>
      <p:ext uri="{BB962C8B-B14F-4D97-AF65-F5344CB8AC3E}">
        <p14:creationId xmlns:p14="http://schemas.microsoft.com/office/powerpoint/2010/main" val="202377803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2026-09-25T22:11:15.6550000Z</dcterms:created>
  <dcterms:modified xsi:type="dcterms:W3CDTF">2026-09-25T22:11:15.6550000Z</dcterms:modified>
</coreProperties>
</file>