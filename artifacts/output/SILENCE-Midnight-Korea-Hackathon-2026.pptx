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0d4bc0adce4f39" /><Relationship Type="http://schemas.openxmlformats.org/officeDocument/2006/relationships/extended-properties" Target="/docProps/app.xml" Id="R2d39dc419f9f4544" /><Relationship Type="http://schemas.openxmlformats.org/officeDocument/2006/relationships/officeDocument" Target="/ppt/presentation.xml" Id="Re3c6e4a74ea3476f" /></Relationships>
</file>

<file path=ppt/presentation.xml><?xml version="1.0" encoding="utf-8"?>
<p:presentation xmlns:p="http://schemas.openxmlformats.org/presentationml/2006/main">
  <p:sldMasterIdLst>
    <p:sldMasterId xmlns:r="http://schemas.openxmlformats.org/officeDocument/2006/relationships" id="2147483648" r:id="R3a3a2b4a927b45fd"/>
  </p:sldMasterIdLst>
  <p:notesMasterIdLst>
    <p:notesMasterId xmlns:r="http://schemas.openxmlformats.org/officeDocument/2006/relationships" r:id="R3454f8007b8c47aa"/>
  </p:notesMasterIdLst>
  <p:sldIdLst>
    <p:sldId xmlns:r="http://schemas.openxmlformats.org/officeDocument/2006/relationships" id="256" r:id="Rbc78de50bcd14c40"/>
    <p:sldId xmlns:r="http://schemas.openxmlformats.org/officeDocument/2006/relationships" id="257" r:id="R509c6e96d7a34bce"/>
    <p:sldId xmlns:r="http://schemas.openxmlformats.org/officeDocument/2006/relationships" id="258" r:id="Rdf270d5f4a714b42"/>
    <p:sldId xmlns:r="http://schemas.openxmlformats.org/officeDocument/2006/relationships" id="259" r:id="Rbf77f3b8a5cc4e2b"/>
    <p:sldId xmlns:r="http://schemas.openxmlformats.org/officeDocument/2006/relationships" id="260" r:id="R2fe8fbb4f8fe45be"/>
    <p:sldId xmlns:r="http://schemas.openxmlformats.org/officeDocument/2006/relationships" id="261" r:id="R4e43916462cb41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5f309e1a92456f" /><Relationship Type="http://schemas.openxmlformats.org/officeDocument/2006/relationships/slideMaster" Target="/ppt/slideMasters/slideMaster1.xml" Id="R3a3a2b4a927b45fd" /><Relationship Type="http://schemas.openxmlformats.org/officeDocument/2006/relationships/notesMaster" Target="/ppt/notesMasters/notesMaster1.xml" Id="R3454f8007b8c47aa" /><Relationship Type="http://schemas.openxmlformats.org/officeDocument/2006/relationships/presProps" Target="/ppt/presProps.xml" Id="R2f0318a0adb74727" /><Relationship Type="http://schemas.openxmlformats.org/officeDocument/2006/relationships/tableStyles" Target="/ppt/tableStyles.xml" Id="R909fdefdb1d443d5" /><Relationship Type="http://schemas.openxmlformats.org/officeDocument/2006/relationships/slide" Target="/ppt/slides/slide1.xml" Id="Rbc78de50bcd14c40" /><Relationship Type="http://schemas.openxmlformats.org/officeDocument/2006/relationships/slide" Target="/ppt/slides/slide2.xml" Id="R509c6e96d7a34bce" /><Relationship Type="http://schemas.openxmlformats.org/officeDocument/2006/relationships/slide" Target="/ppt/slides/slide3.xml" Id="Rdf270d5f4a714b42" /><Relationship Type="http://schemas.openxmlformats.org/officeDocument/2006/relationships/slide" Target="/ppt/slides/slide4.xml" Id="Rbf77f3b8a5cc4e2b" /><Relationship Type="http://schemas.openxmlformats.org/officeDocument/2006/relationships/slide" Target="/ppt/slides/slide5.xml" Id="R2fe8fbb4f8fe45be" /><Relationship Type="http://schemas.openxmlformats.org/officeDocument/2006/relationships/slide" Target="/ppt/slides/slide6.xml" Id="R4e43916462cb41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25c66aced74e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11038f72414c09" /><Relationship Type="http://schemas.openxmlformats.org/officeDocument/2006/relationships/notesMaster" Target="/ppt/notesMasters/notesMaster1.xml" Id="R197a70da4d1d43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46bdcbe3ff49f1" /><Relationship Type="http://schemas.openxmlformats.org/officeDocument/2006/relationships/notesMaster" Target="/ppt/notesMasters/notesMaster1.xml" Id="R04db066d48e243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709050e0bf4db6" /><Relationship Type="http://schemas.openxmlformats.org/officeDocument/2006/relationships/notesMaster" Target="/ppt/notesMasters/notesMaster1.xml" Id="R1fbb0b068d2b49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053d1e48194133" /><Relationship Type="http://schemas.openxmlformats.org/officeDocument/2006/relationships/notesMaster" Target="/ppt/notesMasters/notesMaster1.xml" Id="R69b4ee84c80845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e2041db4524f58" /><Relationship Type="http://schemas.openxmlformats.org/officeDocument/2006/relationships/notesMaster" Target="/ppt/notesMasters/notesMaster1.xml" Id="R4b51f25db41e4f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6b69246abd457d" /><Relationship Type="http://schemas.openxmlformats.org/officeDocument/2006/relationships/notesMaster" Target="/ppt/notesMasters/notesMaster1.xml" Id="R29edc208ffc344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a:t>
            </a:r>
          </a:p>
          <a:p xmlns:a="http://schemas.openxmlformats.org/drawingml/2006/main">
            <a:r>
              <a:t>공개형 perp에서는 주소와 거래 데이터를 따라 포지션 방향과 규모, 위험 구간을 추정할 단서가 생길 수 있습니다. SILENCE는 이 노출을 줄이려는 비공개 perp 실험입니다. 현재는 실거래 거래소가 아니라 체인상 비공개 terms commitment의 첫 단계를 검증했습니다.</a:t>
            </a:r>
          </a:p>
          <a:p xmlns:a="http://schemas.openxmlformats.org/drawingml/2006/main">
            <a:r>
              <a:t/>
            </a:r>
          </a:p>
          <a:p xmlns:a="http://schemas.openxmlformats.org/drawingml/2006/main">
            <a:r>
              <a:t>Sources: https://github.com/diveyreadytodive-star/silence/blob/main/README.md ; https://github.com/diveyreadytodive-star/silence/blob/main/docs/security-boundary.md. “청산 단서”는 제품 문제 가설이며 조작 사례를 입증했다는 뜻이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0:20–0:48</a:t>
            </a:r>
          </a:p>
          <a:p xmlns:a="http://schemas.openxmlformats.org/drawingml/2006/main">
            <a:r>
              <a:t>주소와 체인 기록이 공개되면 거래 방향이나 규모를 추정할 단서가 될 수 있고, 그 정보가 청산 위험 구간을 읽는 데 쓰일 수 있습니다. 제품 목표는 보유 중 청산맵 노출을 줄이는 것입니다. 별도 G2 Local Devnet proof에서는 공개 진입·위험 가격으로 종료 뒤 Long 방향을 추정할 수 있었습니다. 이것은 main product contract와 별도인 실험이며 lifetime privacy 주장이 아닙니다.</a:t>
            </a:r>
          </a:p>
          <a:p xmlns:a="http://schemas.openxmlformats.org/drawingml/2006/main">
            <a:r>
              <a:t/>
            </a:r>
          </a:p>
          <a:p xmlns:a="http://schemas.openxmlformats.org/drawingml/2006/main">
            <a:r>
              <a:t>Sources: https://github.com/diveyreadytodive-star/silence/blob/main/README.md ; https://github.com/diveyreadytodive-star/silence/blob/main/spikes/integrated-risk-custody/docs/evidence/local-chain-risk-custody.json ; https://github.com/diveyreadytodive-star/silence/blob/main/docs/security-boundary.md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0:48–1:16</a:t>
            </a:r>
          </a:p>
          <a:p xmlns:a="http://schemas.openxmlformats.org/drawingml/2006/main">
            <a:r>
              <a:t>SILENCE는 모두에게 모든 것을 숨긴다고 말하지 않습니다. 거래자와 위험 엔진은 포지션 값을 알고, 공개 관찰자는 고정 1,000단위 담보와 coin index, commitment, 시각을 봅니다. 실제 main product Phase 1 open 기록에서는 선택된 side/notional/entry/guard 값이 확인되지 않았지만 이는 한 건의 제한된 raw-field 검사입니다. 별도 G2 Local Devnet risk-custody spike에서는 entry 100k, risk price 90k와 84k가 모두 Long의 손실 종료로 이어져 side를 공개 가격에서 추정할 수 있었습니다. 이 G2 경로는 main product contract에 통합되지 않았고 전체 이력 privacy도 아닙니다.</a:t>
            </a:r>
          </a:p>
          <a:p xmlns:a="http://schemas.openxmlformats.org/drawingml/2006/main">
            <a:r>
              <a:t/>
            </a:r>
          </a:p>
          <a:p xmlns:a="http://schemas.openxmlformats.org/drawingml/2006/main">
            <a:r>
              <a:t>Sources: https://github.com/diveyreadytodive-star/silence/blob/main/docs/security-boundary.md ; https://github.com/diveyreadytodive-star/silence/blob/main/docs/evidence/product-phase1-local-devnet.md ; https://github.com/diveyreadytodive-star/silence/blob/main/spikes/integrated-risk-custody/docs/evidence/local-chain-risk-custody.json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1:16–1:58</a:t>
            </a:r>
          </a:p>
          <a:p xmlns:a="http://schemas.openxmlformats.org/drawingml/2006/main">
            <a:r>
              <a:t>실제 제품 계약을 격리된 Local Devnet에 배포했습니다. block 153 배포, 156 테스트 mint, 160 terms commitment, 164 owner close receipt를 확인했습니다. owner 지갑의 shielded 잔고는 종료 전 0, 종료 뒤 1,000단위였습니다. 잘못된 종료 비밀값은 NOT_POSITION_OWNER로, 이미 닫힌 포지션의 재종료는 POSITION_NOT_OPEN으로 거절됐습니다. 공개 담보 lot와 coin index는 보입니다. 이 흐름은 custody와 비공개 terms commitment를 검증했을 뿐, oracle 기반 perp나 PnL settlement를 증명하지 않습니다.</a:t>
            </a:r>
          </a:p>
          <a:p xmlns:a="http://schemas.openxmlformats.org/drawingml/2006/main">
            <a:r>
              <a:t/>
            </a:r>
          </a:p>
          <a:p xmlns:a="http://schemas.openxmlformats.org/drawingml/2006/main">
            <a:r>
              <a:t>Sources: https://github.com/diveyreadytodive-star/silence/blob/main/docs/evidence/product-phase1-local-devnet.md ; https://github.com/diveyreadytodive-star/silence/blob/main/docs/evidence/product-phase1-local-devnet.json ; https://github.com/diveyreadytodive-star/silence/blob/main/docs/verification-status.md.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1:58–2:23</a:t>
            </a:r>
          </a:p>
          <a:p xmlns:a="http://schemas.openxmlformats.org/drawingml/2006/main">
            <a:r>
              <a:t>이 화면은 실제 로컬 headless Chrome 캡처입니다. BTC perp 화면에서 오라클 데이터가 비어 있고 주문 실행이 비활성인 상태, 1,000단위 공개 테스트 담보를 확인했습니다. 브라우저 지갑 거래, 체인 proof 또는 라이브 demo를 보여주는 화면은 아닙니다. UI는 아직 제품 기능으로 이어지지 않은 부분을 그대로 보여줍니다.</a:t>
            </a:r>
          </a:p>
          <a:p xmlns:a="http://schemas.openxmlformats.org/drawingml/2006/main">
            <a:r>
              <a:t/>
            </a:r>
          </a:p>
          <a:p xmlns:a="http://schemas.openxmlformats.org/drawingml/2006/main">
            <a:r>
              <a:t>Sources: https://github.com/diveyreadytodive-star/silence/blob/main/docs/evidence/web-local-headless.md ; https://github.com/diveyreadytodive-star/silence/blob/main/docs/evidence/web-local-headless.png ; https://github.com/diveyreadytodive-star/silence/blob/main/docs/demo-script.md.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2:23–3:00</a:t>
            </a:r>
          </a:p>
          <a:p xmlns:a="http://schemas.openxmlformats.org/drawingml/2006/main">
            <a:r>
              <a:t>두 개는 분리된 Local Devnet 실험입니다. G2 P90 entry/risk 100k/90k receipts는 open/close/claim block 989/995/999, P84 100k/84k는 1012/1019/1023입니다. 공개 가격쌍으로 종료 뒤 Long을 추정할 수 있었고, owner는 loss와 무관하게 fixed 1,000을 받았습니다.</a:t>
            </a:r>
          </a:p>
          <a:p xmlns:a="http://schemas.openxmlformats.org/drawingml/2006/main">
            <a:r>
              <a:t/>
            </a:r>
          </a:p>
          <a:p xmlns:a="http://schemas.openxmlformats.org/drawingml/2006/main">
            <a:r>
              <a:t>M2 static loss는 owner 800/LP 200 at 2855/2859, profit은 owner 1,200/reserve change 300 at 2909/2913이며 LP가 나중에 300을 spend했습니다. Payout은 caller-set 공개값이고 entrypoint가 regime을 드러냅니다. 이는 별도 test paths입니다. PnL/LP 경제 정산, owner self-close, main product integration은 없고 compound claim은 /check HTTP 400입니다. same-process owner/genesis DUST key가 수수료를 냈고 browser/Preprod 미검증입니다.</a:t>
            </a:r>
          </a:p>
          <a:p xmlns:a="http://schemas.openxmlformats.org/drawingml/2006/main">
            <a:r>
              <a:t/>
            </a:r>
          </a:p>
          <a:p xmlns:a="http://schemas.openxmlformats.org/drawingml/2006/main">
            <a:r>
              <a:t>Sources: https://github.com/diveyreadytodive-star/silence/blob/main/spikes/integrated-risk-custody/docs/evidence/local-chain-risk-custody.json ; https://github.com/diveyreadytodive-star/silence/blob/main/spikes/lp-reserve/docs/evidence/diagnostic-loss-static-local-chain.json ; https://github.com/diveyreadytodive-star/silence/blob/main/spikes/lp-reserve/docs/evidence/diagnostic-profit-static-local-chain.json ; https://github.com/diveyreadytodive-star/silence/blob/main/spikes/lp-reserve/README.md ; https://github.com/diveyreadytodive-star/silence/blob/main/docs/verification-status.md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56c17b23be44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5c9dcaa3d747f6" /><Relationship Type="http://schemas.openxmlformats.org/officeDocument/2006/relationships/slideLayout" Target="/ppt/slideLayouts/slideLayout1.xml" Id="Rea33117510c945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33117510c945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63b9cc480e4b9d" /><Relationship Type="http://schemas.openxmlformats.org/officeDocument/2006/relationships/notesSlide" Target="/ppt/notesSlides/notesSlide1.xml" Id="R007bb855683748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d037ad4c344846" /><Relationship Type="http://schemas.openxmlformats.org/officeDocument/2006/relationships/notesSlide" Target="/ppt/notesSlides/notesSlide2.xml" Id="R35ef606f5eec45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1554c591534914" /><Relationship Type="http://schemas.openxmlformats.org/officeDocument/2006/relationships/notesSlide" Target="/ppt/notesSlides/notesSlide3.xml" Id="R713ec9a29a6044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8051b273be4d4e" /><Relationship Type="http://schemas.openxmlformats.org/officeDocument/2006/relationships/notesSlide" Target="/ppt/notesSlides/notesSlide4.xml" Id="Re490e78cb0124d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4efddd612b4d8b" /><Relationship Type="http://schemas.openxmlformats.org/officeDocument/2006/relationships/image" Target="/ppt/media/image.png" Id="Rab39f3aff0044a6f" /><Relationship Type="http://schemas.openxmlformats.org/officeDocument/2006/relationships/notesSlide" Target="/ppt/notesSlides/notesSlide5.xml" Id="R40bc4575868149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a0429846d14552" /><Relationship Type="http://schemas.openxmlformats.org/officeDocument/2006/relationships/notesSlide" Target="/ppt/notesSlides/notesSlide6.xml" Id="R98e11654b9bd421b" /></Relationships>
</file>

<file path=ppt/slides/slide1.xml><?xml version="1.0" encoding="utf-8"?>
<p:sld xmlns:p="http://schemas.openxmlformats.org/presentationml/2006/main">
  <p:cSld>
    <p:bg>
      <p:bgPr>
        <a:solidFill xmlns:a="http://schemas.openxmlformats.org/drawingml/2006/main">
          <a:srgbClr val="090C0D"/>
        </a:solidFill>
      </p:bgPr>
    </p:bg>
    <p:spTree>
      <p:nvGrpSpPr>
        <p:cNvPr id="1" name=""/>
        <p:cNvGrpSpPr/>
        <p:nvPr/>
      </p:nvGrpSpPr>
      <p:grpSpPr>
        <a:xfrm xmlns:a="http://schemas.openxmlformats.org/drawingml/2006/main"/>
      </p:grpSpPr>
      <p:sp>
        <p:nvSpPr>
          <p:cNvPr id="8" name="label-MIDNIGHT KOREA HACKATHON 2026">
            <a:extLst xmlns:a="http://schemas.openxmlformats.org/drawingml/2006/main">
              <a:ext uri="{FF2B5EF4-FFF2-40B4-BE49-F238E27FC236}">
                <a16:creationId xmlns:a16="http://schemas.microsoft.com/office/drawing/2014/main" id="{7608D1E4-C221-440F-804D-665561DB10A0}"/>
              </a:ext>
            </a:extLst>
          </p:cNvPr>
          <p:cNvSpPr>
            <a:spLocks xmlns:a="http://schemas.openxmlformats.org/drawingml/2006/main" noGrp="1"/>
          </p:cNvSpPr>
          <p:nvPr/>
        </p:nvSpPr>
        <p:spPr>
          <a:xfrm xmlns:a="http://schemas.openxmlformats.org/drawingml/2006/main">
            <a:off x="723900" y="7429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C7F36B"/>
                </a:solidFill>
                <a:latin typeface="Arial"/>
                <a:ea typeface="Arial"/>
                <a:cs typeface="Arial"/>
              </a:defRPr>
            </a:pPr>
            <a:r>
              <a:rPr sz="1275" b="1">
                <a:solidFill>
                  <a:srgbClr val="C7F36B"/>
                </a:solidFill>
                <a:latin typeface="Arial"/>
                <a:ea typeface="Arial"/>
                <a:cs typeface="Arial"/>
              </a:rPr>
              <a:t>MIDNIGHT KOREA HACKATHON 2026</a:t>
            </a:r>
          </a:p>
        </p:txBody>
      </p:sp>
      <p:sp>
        <p:nvSpPr>
          <p:cNvPr id="2" name="project-name">
            <a:extLst xmlns:a="http://schemas.openxmlformats.org/drawingml/2006/main">
              <a:ext uri="{FF2B5EF4-FFF2-40B4-BE49-F238E27FC236}">
                <a16:creationId xmlns:a16="http://schemas.microsoft.com/office/drawing/2014/main" id="{678159CF-B3B4-4D29-9994-7BCEB4018C03}"/>
              </a:ext>
            </a:extLst>
          </p:cNvPr>
          <p:cNvSpPr>
            <a:spLocks xmlns:a="http://schemas.openxmlformats.org/drawingml/2006/main" noGrp="1"/>
          </p:cNvSpPr>
          <p:nvPr/>
        </p:nvSpPr>
        <p:spPr>
          <a:xfrm xmlns:a="http://schemas.openxmlformats.org/drawingml/2006/main">
            <a:off x="685800" y="1504950"/>
            <a:ext cx="781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600" b="1">
                <a:solidFill>
                  <a:srgbClr val="F3F6F2"/>
                </a:solidFill>
                <a:latin typeface="Arial"/>
                <a:ea typeface="Arial"/>
                <a:cs typeface="Arial"/>
              </a:defRPr>
            </a:pPr>
            <a:r>
              <a:rPr sz="6600" b="1">
                <a:solidFill>
                  <a:srgbClr val="F3F6F2"/>
                </a:solidFill>
                <a:latin typeface="Arial"/>
                <a:ea typeface="Arial"/>
                <a:cs typeface="Arial"/>
              </a:rPr>
              <a:t>SILENCE</a:t>
            </a:r>
          </a:p>
        </p:txBody>
      </p:sp>
      <p:sp>
        <p:nvSpPr>
          <p:cNvPr id="3" name="cover-claim">
            <a:extLst xmlns:a="http://schemas.openxmlformats.org/drawingml/2006/main">
              <a:ext uri="{FF2B5EF4-FFF2-40B4-BE49-F238E27FC236}">
                <a16:creationId xmlns:a16="http://schemas.microsoft.com/office/drawing/2014/main" id="{258EB0C5-1029-4DC3-9484-1B89947B579B}"/>
              </a:ext>
            </a:extLst>
          </p:cNvPr>
          <p:cNvSpPr>
            <a:spLocks xmlns:a="http://schemas.openxmlformats.org/drawingml/2006/main" noGrp="1"/>
          </p:cNvSpPr>
          <p:nvPr/>
        </p:nvSpPr>
        <p:spPr>
          <a:xfrm xmlns:a="http://schemas.openxmlformats.org/drawingml/2006/main">
            <a:off x="723900" y="2857500"/>
            <a:ext cx="89535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3F6F2"/>
                </a:solidFill>
                <a:latin typeface="Arial"/>
                <a:ea typeface="Arial"/>
                <a:cs typeface="Arial"/>
              </a:defRPr>
            </a:pPr>
            <a:r>
              <a:rPr sz="3600" b="1">
                <a:solidFill>
                  <a:srgbClr val="F3F6F2"/>
                </a:solidFill>
                <a:latin typeface="Arial"/>
                <a:ea typeface="Arial"/>
                <a:cs typeface="Arial"/>
              </a:rPr>
              <a:t>공개 포지션은</a:t>
            </a:r>
          </a:p>
          <a:p xmlns:a="http://schemas.openxmlformats.org/drawingml/2006/main">
            <a:pPr algn="l">
              <a:buNone/>
              <a:defRPr sz="3600" b="1">
                <a:solidFill>
                  <a:srgbClr val="F3F6F2"/>
                </a:solidFill>
                <a:latin typeface="Arial"/>
                <a:ea typeface="Arial"/>
                <a:cs typeface="Arial"/>
              </a:defRPr>
            </a:pPr>
            <a:r>
              <a:rPr sz="3600" b="1">
                <a:solidFill>
                  <a:srgbClr val="F3F6F2"/>
                </a:solidFill>
                <a:latin typeface="Arial"/>
                <a:ea typeface="Arial"/>
                <a:cs typeface="Arial"/>
              </a:rPr>
              <a:t>청산의 단서가 될 수 있습니다</a:t>
            </a:r>
          </a:p>
        </p:txBody>
      </p:sp>
      <p:sp>
        <p:nvSpPr>
          <p:cNvPr id="4" name="">
            <a:extLst xmlns:a="http://schemas.openxmlformats.org/drawingml/2006/main">
              <a:ext uri="{FF2B5EF4-FFF2-40B4-BE49-F238E27FC236}">
                <a16:creationId xmlns:a16="http://schemas.microsoft.com/office/drawing/2014/main" id="{EC4A92C0-12CD-4C1D-BA7C-C2957B07BF3B}"/>
              </a:ext>
            </a:extLst>
          </p:cNvPr>
          <p:cNvSpPr>
            <a:spLocks xmlns:a="http://schemas.openxmlformats.org/drawingml/2006/main" noGrp="1"/>
          </p:cNvSpPr>
          <p:nvPr/>
        </p:nvSpPr>
        <p:spPr>
          <a:xfrm xmlns:a="http://schemas.openxmlformats.org/drawingml/2006/main">
            <a:off x="723900" y="4591050"/>
            <a:ext cx="1524000" cy="9525"/>
          </a:xfrm>
          <a:prstGeom xmlns:a="http://schemas.openxmlformats.org/drawingml/2006/main" prst="line">
            <a:avLst/>
          </a:prstGeom>
          <a:noFill xmlns:a="http://schemas.openxmlformats.org/drawingml/2006/main"/>
          <a:ln xmlns:a="http://schemas.openxmlformats.org/drawingml/2006/main" w="38100">
            <a:solidFill>
              <a:srgbClr val="C7F36B"/>
            </a:solidFill>
            <a:prstDash val="solid"/>
          </a:ln>
        </p:spPr>
      </p:sp>
      <p:sp>
        <p:nvSpPr>
          <p:cNvPr id="5" name="cover-subtitle">
            <a:extLst xmlns:a="http://schemas.openxmlformats.org/drawingml/2006/main">
              <a:ext uri="{FF2B5EF4-FFF2-40B4-BE49-F238E27FC236}">
                <a16:creationId xmlns:a16="http://schemas.microsoft.com/office/drawing/2014/main" id="{16007738-9F90-4303-AFE5-38710C7E4464}"/>
              </a:ext>
            </a:extLst>
          </p:cNvPr>
          <p:cNvSpPr>
            <a:spLocks xmlns:a="http://schemas.openxmlformats.org/drawingml/2006/main" noGrp="1"/>
          </p:cNvSpPr>
          <p:nvPr/>
        </p:nvSpPr>
        <p:spPr>
          <a:xfrm xmlns:a="http://schemas.openxmlformats.org/drawingml/2006/main">
            <a:off x="723900" y="483870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A9B3AF"/>
                </a:solidFill>
                <a:latin typeface="Arial"/>
                <a:ea typeface="Arial"/>
                <a:cs typeface="Arial"/>
              </a:defRPr>
            </a:pPr>
            <a:r>
              <a:rPr sz="2175" b="0">
                <a:solidFill>
                  <a:srgbClr val="A9B3AF"/>
                </a:solidFill>
                <a:latin typeface="Arial"/>
                <a:ea typeface="Arial"/>
                <a:cs typeface="Arial"/>
              </a:rPr>
              <a:t>비공개 perp를 위한 Midnight 프라이버시 실험</a:t>
            </a:r>
          </a:p>
        </p:txBody>
      </p:sp>
      <p:sp>
        <p:nvSpPr>
          <p:cNvPr id="6" name="cover-scope">
            <a:extLst xmlns:a="http://schemas.openxmlformats.org/drawingml/2006/main">
              <a:ext uri="{FF2B5EF4-FFF2-40B4-BE49-F238E27FC236}">
                <a16:creationId xmlns:a16="http://schemas.microsoft.com/office/drawing/2014/main" id="{2B860E63-F368-46A3-86DB-D106846FBF74}"/>
              </a:ext>
            </a:extLst>
          </p:cNvPr>
          <p:cNvSpPr>
            <a:spLocks xmlns:a="http://schemas.openxmlformats.org/drawingml/2006/main" noGrp="1"/>
          </p:cNvSpPr>
          <p:nvPr/>
        </p:nvSpPr>
        <p:spPr>
          <a:xfrm xmlns:a="http://schemas.openxmlformats.org/drawingml/2006/main">
            <a:off x="723900" y="554355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C7F36B"/>
                </a:solidFill>
                <a:latin typeface="Arial"/>
                <a:ea typeface="Arial"/>
                <a:cs typeface="Arial"/>
              </a:defRPr>
            </a:pPr>
            <a:r>
              <a:rPr sz="1500" b="0">
                <a:solidFill>
                  <a:srgbClr val="C7F36B"/>
                </a:solidFill>
                <a:latin typeface="Arial"/>
                <a:ea typeface="Arial"/>
                <a:cs typeface="Arial"/>
              </a:rPr>
              <a:t>현재 검증 범위  ·  고정 담보 custody + 비공개 terms commitment</a:t>
            </a:r>
          </a:p>
        </p:txBody>
      </p:sp>
      <p:sp>
        <p:nvSpPr>
          <p:cNvPr id="7" name="cover-disclaimer">
            <a:extLst xmlns:a="http://schemas.openxmlformats.org/drawingml/2006/main">
              <a:ext uri="{FF2B5EF4-FFF2-40B4-BE49-F238E27FC236}">
                <a16:creationId xmlns:a16="http://schemas.microsoft.com/office/drawing/2014/main" id="{090967B7-3B27-4A8C-8C96-B6B2929E068A}"/>
              </a:ext>
            </a:extLst>
          </p:cNvPr>
          <p:cNvSpPr>
            <a:spLocks xmlns:a="http://schemas.openxmlformats.org/drawingml/2006/main" noGrp="1"/>
          </p:cNvSpPr>
          <p:nvPr/>
        </p:nvSpPr>
        <p:spPr>
          <a:xfrm xmlns:a="http://schemas.openxmlformats.org/drawingml/2006/main">
            <a:off x="723900" y="594360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78837F"/>
                </a:solidFill>
                <a:latin typeface="Arial"/>
                <a:ea typeface="Arial"/>
                <a:cs typeface="Arial"/>
              </a:defRPr>
            </a:pPr>
            <a:r>
              <a:rPr sz="1275" b="0">
                <a:solidFill>
                  <a:srgbClr val="78837F"/>
                </a:solidFill>
                <a:latin typeface="Arial"/>
                <a:ea typeface="Arial"/>
                <a:cs typeface="Arial"/>
              </a:rPr>
              <a:t>실거래 DEX 아님  ·  가치 없는 Local Devnet 테스트 자산</a:t>
            </a:r>
          </a:p>
        </p:txBody>
      </p:sp>
    </p:spTree>
    <p:extLst>
      <p:ext uri="{BB962C8B-B14F-4D97-AF65-F5344CB8AC3E}">
        <p14:creationId xmlns:p14="http://schemas.microsoft.com/office/powerpoint/2010/main" val="1403302962"/>
      </p:ext>
    </p:extLst>
  </p:cSld>
</p:sld>
</file>

<file path=ppt/slides/slide2.xml><?xml version="1.0" encoding="utf-8"?>
<p:sld xmlns:p="http://schemas.openxmlformats.org/presentationml/2006/main">
  <p:cSld>
    <p:bg>
      <p:bgPr>
        <a:solidFill xmlns:a="http://schemas.openxmlformats.org/drawingml/2006/main">
          <a:srgbClr val="090C0D"/>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607B651C-1468-485D-BDB7-82C39728C63C}"/>
              </a:ext>
            </a:extLst>
          </p:cNvPr>
          <p:cNvSpPr>
            <a:spLocks xmlns:a="http://schemas.openxmlformats.org/drawingml/2006/main" noGrp="1"/>
          </p:cNvSpPr>
          <p:nvPr/>
        </p:nvSpPr>
        <p:spPr>
          <a:xfrm xmlns:a="http://schemas.openxmlformats.org/drawingml/2006/main">
            <a:off x="685800" y="5143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F3F6F2"/>
                </a:solidFill>
                <a:latin typeface="Arial"/>
                <a:ea typeface="Arial"/>
                <a:cs typeface="Arial"/>
              </a:defRPr>
            </a:pPr>
            <a:r>
              <a:rPr sz="3675" b="1">
                <a:solidFill>
                  <a:srgbClr val="F3F6F2"/>
                </a:solidFill>
                <a:latin typeface="Arial"/>
                <a:ea typeface="Arial"/>
                <a:cs typeface="Arial"/>
              </a:rPr>
              <a:t>공개 포지션은 경쟁자의 신호가 됩니다</a:t>
            </a:r>
          </a:p>
        </p:txBody>
      </p:sp>
      <p:sp>
        <p:nvSpPr>
          <p:cNvPr id="2" name="">
            <a:extLst xmlns:a="http://schemas.openxmlformats.org/drawingml/2006/main">
              <a:ext uri="{FF2B5EF4-FFF2-40B4-BE49-F238E27FC236}">
                <a16:creationId xmlns:a16="http://schemas.microsoft.com/office/drawing/2014/main" id="{0F8D596F-CD5B-4CF4-B995-D1CA61315314}"/>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3" name="footer">
            <a:extLst xmlns:a="http://schemas.openxmlformats.org/drawingml/2006/main">
              <a:ext uri="{FF2B5EF4-FFF2-40B4-BE49-F238E27FC236}">
                <a16:creationId xmlns:a16="http://schemas.microsoft.com/office/drawing/2014/main" id="{C7EC2AA1-72CD-4BFC-92F9-1CAACD43B690}"/>
              </a:ext>
            </a:extLst>
          </p:cNvPr>
          <p:cNvSpPr>
            <a:spLocks xmlns:a="http://schemas.openxmlformats.org/drawingml/2006/main" noGrp="1"/>
          </p:cNvSpPr>
          <p:nvPr/>
        </p:nvSpPr>
        <p:spPr>
          <a:xfrm xmlns:a="http://schemas.openxmlformats.org/drawingml/2006/main">
            <a:off x="685800" y="64579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78837F"/>
                </a:solidFill>
                <a:latin typeface="Arial"/>
                <a:ea typeface="Arial"/>
                <a:cs typeface="Arial"/>
              </a:defRPr>
            </a:pPr>
            <a:r>
              <a:rPr sz="1125" b="0">
                <a:solidFill>
                  <a:srgbClr val="78837F"/>
                </a:solidFill>
                <a:latin typeface="Arial"/>
                <a:ea typeface="Arial"/>
                <a:cs typeface="Arial"/>
              </a:rPr>
              <a:t>SILENCE  /  MIDNIGHT KOREA HACKATHON 2026</a:t>
            </a:r>
          </a:p>
        </p:txBody>
      </p:sp>
      <p:sp>
        <p:nvSpPr>
          <p:cNvPr id="4" name="page">
            <a:extLst xmlns:a="http://schemas.openxmlformats.org/drawingml/2006/main">
              <a:ext uri="{FF2B5EF4-FFF2-40B4-BE49-F238E27FC236}">
                <a16:creationId xmlns:a16="http://schemas.microsoft.com/office/drawing/2014/main" id="{181E5446-87FD-48EA-8FC5-62BCA0644D81}"/>
              </a:ext>
            </a:extLst>
          </p:cNvPr>
          <p:cNvSpPr>
            <a:spLocks xmlns:a="http://schemas.openxmlformats.org/drawingml/2006/main" noGrp="1"/>
          </p:cNvSpPr>
          <p:nvPr/>
        </p:nvSpPr>
        <p:spPr>
          <a:xfrm xmlns:a="http://schemas.openxmlformats.org/drawingml/2006/main">
            <a:off x="10648950" y="64389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A9B3AF"/>
                </a:solidFill>
                <a:latin typeface="Arial"/>
                <a:ea typeface="Arial"/>
                <a:cs typeface="Arial"/>
              </a:defRPr>
            </a:pPr>
            <a:r>
              <a:rPr sz="1200" b="0">
                <a:solidFill>
                  <a:srgbClr val="A9B3AF"/>
                </a:solidFill>
                <a:latin typeface="Arial"/>
                <a:ea typeface="Arial"/>
                <a:cs typeface="Arial"/>
              </a:rPr>
              <a:t>02 / 06</a:t>
            </a:r>
          </a:p>
        </p:txBody>
      </p:sp>
      <p:sp>
        <p:nvSpPr>
          <p:cNvPr id="5" name="label-문제 가설">
            <a:extLst xmlns:a="http://schemas.openxmlformats.org/drawingml/2006/main">
              <a:ext uri="{FF2B5EF4-FFF2-40B4-BE49-F238E27FC236}">
                <a16:creationId xmlns:a16="http://schemas.microsoft.com/office/drawing/2014/main" id="{BD9376A8-94B3-4EAB-8EFC-B0A573400761}"/>
              </a:ext>
            </a:extLst>
          </p:cNvPr>
          <p:cNvSpPr>
            <a:spLocks xmlns:a="http://schemas.openxmlformats.org/drawingml/2006/main" noGrp="1"/>
          </p:cNvSpPr>
          <p:nvPr/>
        </p:nvSpPr>
        <p:spPr>
          <a:xfrm xmlns:a="http://schemas.openxmlformats.org/drawingml/2006/main">
            <a:off x="704850" y="145732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5B45C"/>
                </a:solidFill>
                <a:latin typeface="Arial"/>
                <a:ea typeface="Arial"/>
                <a:cs typeface="Arial"/>
              </a:defRPr>
            </a:pPr>
            <a:r>
              <a:rPr sz="1275" b="1">
                <a:solidFill>
                  <a:srgbClr val="F5B45C"/>
                </a:solidFill>
                <a:latin typeface="Arial"/>
                <a:ea typeface="Arial"/>
                <a:cs typeface="Arial"/>
              </a:rPr>
              <a:t>문제 가설</a:t>
            </a:r>
          </a:p>
        </p:txBody>
      </p:sp>
      <p:sp>
        <p:nvSpPr>
          <p:cNvPr id="6" name="flow-public-data">
            <a:extLst xmlns:a="http://schemas.openxmlformats.org/drawingml/2006/main">
              <a:ext uri="{FF2B5EF4-FFF2-40B4-BE49-F238E27FC236}">
                <a16:creationId xmlns:a16="http://schemas.microsoft.com/office/drawing/2014/main" id="{FEFE23E0-9179-4508-8DB0-EA2C5C5A8EAA}"/>
              </a:ext>
            </a:extLst>
          </p:cNvPr>
          <p:cNvSpPr>
            <a:spLocks xmlns:a="http://schemas.openxmlformats.org/drawingml/2006/main" noGrp="1"/>
          </p:cNvSpPr>
          <p:nvPr/>
        </p:nvSpPr>
        <p:spPr>
          <a:xfrm xmlns:a="http://schemas.openxmlformats.org/drawingml/2006/main">
            <a:off x="762000" y="2590800"/>
            <a:ext cx="285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325" b="1">
                <a:solidFill>
                  <a:srgbClr val="F3F6F2"/>
                </a:solidFill>
                <a:latin typeface="Arial"/>
                <a:ea typeface="Arial"/>
                <a:cs typeface="Arial"/>
              </a:defRPr>
            </a:pPr>
            <a:r>
              <a:rPr sz="2325" b="1">
                <a:solidFill>
                  <a:srgbClr val="F3F6F2"/>
                </a:solidFill>
                <a:latin typeface="Arial"/>
                <a:ea typeface="Arial"/>
                <a:cs typeface="Arial"/>
              </a:rPr>
              <a:t>공개 주소와</a:t>
            </a:r>
          </a:p>
          <a:p xmlns:a="http://schemas.openxmlformats.org/drawingml/2006/main">
            <a:pPr algn="ctr">
              <a:buNone/>
              <a:defRPr sz="2325" b="1">
                <a:solidFill>
                  <a:srgbClr val="F3F6F2"/>
                </a:solidFill>
                <a:latin typeface="Arial"/>
                <a:ea typeface="Arial"/>
                <a:cs typeface="Arial"/>
              </a:defRPr>
            </a:pPr>
            <a:r>
              <a:rPr sz="2325" b="1">
                <a:solidFill>
                  <a:srgbClr val="F3F6F2"/>
                </a:solidFill>
                <a:latin typeface="Arial"/>
                <a:ea typeface="Arial"/>
                <a:cs typeface="Arial"/>
              </a:rPr>
              <a:t>체인 기록</a:t>
            </a:r>
          </a:p>
        </p:txBody>
      </p:sp>
      <p:sp>
        <p:nvSpPr>
          <p:cNvPr id="7" name="flow-inference">
            <a:extLst xmlns:a="http://schemas.openxmlformats.org/drawingml/2006/main">
              <a:ext uri="{FF2B5EF4-FFF2-40B4-BE49-F238E27FC236}">
                <a16:creationId xmlns:a16="http://schemas.microsoft.com/office/drawing/2014/main" id="{CF3D32B4-3D55-4EEB-9063-E4EE431D2D3E}"/>
              </a:ext>
            </a:extLst>
          </p:cNvPr>
          <p:cNvSpPr>
            <a:spLocks xmlns:a="http://schemas.openxmlformats.org/drawingml/2006/main" noGrp="1"/>
          </p:cNvSpPr>
          <p:nvPr/>
        </p:nvSpPr>
        <p:spPr>
          <a:xfrm xmlns:a="http://schemas.openxmlformats.org/drawingml/2006/main">
            <a:off x="4648200" y="2590800"/>
            <a:ext cx="285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325" b="1">
                <a:solidFill>
                  <a:srgbClr val="F3F6F2"/>
                </a:solidFill>
                <a:latin typeface="Arial"/>
                <a:ea typeface="Arial"/>
                <a:cs typeface="Arial"/>
              </a:defRPr>
            </a:pPr>
            <a:r>
              <a:rPr sz="2325" b="1">
                <a:solidFill>
                  <a:srgbClr val="F3F6F2"/>
                </a:solidFill>
                <a:latin typeface="Arial"/>
                <a:ea typeface="Arial"/>
                <a:cs typeface="Arial"/>
              </a:rPr>
              <a:t>방향·규모를</a:t>
            </a:r>
          </a:p>
          <a:p xmlns:a="http://schemas.openxmlformats.org/drawingml/2006/main">
            <a:pPr algn="ctr">
              <a:buNone/>
              <a:defRPr sz="2325" b="1">
                <a:solidFill>
                  <a:srgbClr val="F3F6F2"/>
                </a:solidFill>
                <a:latin typeface="Arial"/>
                <a:ea typeface="Arial"/>
                <a:cs typeface="Arial"/>
              </a:defRPr>
            </a:pPr>
            <a:r>
              <a:rPr sz="2325" b="1">
                <a:solidFill>
                  <a:srgbClr val="F3F6F2"/>
                </a:solidFill>
                <a:latin typeface="Arial"/>
                <a:ea typeface="Arial"/>
                <a:cs typeface="Arial"/>
              </a:rPr>
              <a:t>추정할 단서</a:t>
            </a:r>
          </a:p>
        </p:txBody>
      </p:sp>
      <p:sp>
        <p:nvSpPr>
          <p:cNvPr id="8" name="flow-risk-zone">
            <a:extLst xmlns:a="http://schemas.openxmlformats.org/drawingml/2006/main">
              <a:ext uri="{FF2B5EF4-FFF2-40B4-BE49-F238E27FC236}">
                <a16:creationId xmlns:a16="http://schemas.microsoft.com/office/drawing/2014/main" id="{1A89F788-EF15-4AF4-8A93-35E0CF9C22E7}"/>
              </a:ext>
            </a:extLst>
          </p:cNvPr>
          <p:cNvSpPr>
            <a:spLocks xmlns:a="http://schemas.openxmlformats.org/drawingml/2006/main" noGrp="1"/>
          </p:cNvSpPr>
          <p:nvPr/>
        </p:nvSpPr>
        <p:spPr>
          <a:xfrm xmlns:a="http://schemas.openxmlformats.org/drawingml/2006/main">
            <a:off x="8534400" y="2590800"/>
            <a:ext cx="285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325" b="1">
                <a:solidFill>
                  <a:srgbClr val="F3F6F2"/>
                </a:solidFill>
                <a:latin typeface="Arial"/>
                <a:ea typeface="Arial"/>
                <a:cs typeface="Arial"/>
              </a:defRPr>
            </a:pPr>
            <a:r>
              <a:rPr sz="2325" b="1">
                <a:solidFill>
                  <a:srgbClr val="F3F6F2"/>
                </a:solidFill>
                <a:latin typeface="Arial"/>
                <a:ea typeface="Arial"/>
                <a:cs typeface="Arial"/>
              </a:rPr>
              <a:t>청산 위험 구간을</a:t>
            </a:r>
          </a:p>
          <a:p xmlns:a="http://schemas.openxmlformats.org/drawingml/2006/main">
            <a:pPr algn="ctr">
              <a:buNone/>
              <a:defRPr sz="2325" b="1">
                <a:solidFill>
                  <a:srgbClr val="F3F6F2"/>
                </a:solidFill>
                <a:latin typeface="Arial"/>
                <a:ea typeface="Arial"/>
                <a:cs typeface="Arial"/>
              </a:defRPr>
            </a:pPr>
            <a:r>
              <a:rPr sz="2325" b="1">
                <a:solidFill>
                  <a:srgbClr val="F3F6F2"/>
                </a:solidFill>
                <a:latin typeface="Arial"/>
                <a:ea typeface="Arial"/>
                <a:cs typeface="Arial"/>
              </a:rPr>
              <a:t>추정할 가능성</a:t>
            </a:r>
          </a:p>
        </p:txBody>
      </p:sp>
      <p:cxnSp>
        <p:nvCxnSpPr>
          <p:cNvPr id="62" name=""/>
          <p:cNvCxnSpPr>
            <a:stCxn xmlns:a="http://schemas.openxmlformats.org/drawingml/2006/main" id="6" idx="3"/>
            <a:endCxn xmlns:a="http://schemas.openxmlformats.org/drawingml/2006/main" id="7" idx="1"/>
          </p:cNvCxnSpPr>
          <p:nvPr/>
        </p:nvCxnSpPr>
        <p:spPr>
          <a:xfrm xmlns:a="http://schemas.openxmlformats.org/drawingml/2006/main">
            <a:off x="3619500" y="3090863"/>
            <a:ext cx="1028700" cy="0"/>
          </a:xfrm>
          <a:prstGeom xmlns:a="http://schemas.openxmlformats.org/drawingml/2006/main" prst="straightConnector1">
            <a:avLst/>
          </a:prstGeom>
          <a:ln xmlns:a="http://schemas.openxmlformats.org/drawingml/2006/main" w="19050">
            <a:solidFill>
              <a:srgbClr val="C7F36B"/>
            </a:solidFill>
            <a:prstDash val="solid"/>
            <a:tailEnd type="triangle" w="sm" len="sm"/>
          </a:ln>
        </p:spPr>
      </p:cxnSp>
      <p:cxnSp>
        <p:nvCxnSpPr>
          <p:cNvPr id="63" name=""/>
          <p:cNvCxnSpPr>
            <a:stCxn xmlns:a="http://schemas.openxmlformats.org/drawingml/2006/main" id="7" idx="3"/>
            <a:endCxn xmlns:a="http://schemas.openxmlformats.org/drawingml/2006/main" id="8" idx="1"/>
          </p:cNvCxnSpPr>
          <p:nvPr/>
        </p:nvCxnSpPr>
        <p:spPr>
          <a:xfrm xmlns:a="http://schemas.openxmlformats.org/drawingml/2006/main">
            <a:off x="7505700" y="3090863"/>
            <a:ext cx="1028700" cy="0"/>
          </a:xfrm>
          <a:prstGeom xmlns:a="http://schemas.openxmlformats.org/drawingml/2006/main" prst="straightConnector1">
            <a:avLst/>
          </a:prstGeom>
          <a:ln xmlns:a="http://schemas.openxmlformats.org/drawingml/2006/main" w="19050">
            <a:solidFill>
              <a:srgbClr val="C7F36B"/>
            </a:solidFill>
            <a:prstDash val="solid"/>
            <a:tailEnd type="triangle" w="sm" len="sm"/>
          </a:ln>
        </p:spPr>
      </p:cxnSp>
      <p:sp>
        <p:nvSpPr>
          <p:cNvPr id="11" name="">
            <a:extLst xmlns:a="http://schemas.openxmlformats.org/drawingml/2006/main">
              <a:ext uri="{FF2B5EF4-FFF2-40B4-BE49-F238E27FC236}">
                <a16:creationId xmlns:a16="http://schemas.microsoft.com/office/drawing/2014/main" id="{D1B82B35-AA86-412B-8782-DF2945CC9E25}"/>
              </a:ext>
            </a:extLst>
          </p:cNvPr>
          <p:cNvSpPr>
            <a:spLocks xmlns:a="http://schemas.openxmlformats.org/drawingml/2006/main" noGrp="1"/>
          </p:cNvSpPr>
          <p:nvPr/>
        </p:nvSpPr>
        <p:spPr>
          <a:xfrm xmlns:a="http://schemas.openxmlformats.org/drawingml/2006/main">
            <a:off x="762000" y="4229100"/>
            <a:ext cx="1062990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12" name="problem-human-hook">
            <a:extLst xmlns:a="http://schemas.openxmlformats.org/drawingml/2006/main">
              <a:ext uri="{FF2B5EF4-FFF2-40B4-BE49-F238E27FC236}">
                <a16:creationId xmlns:a16="http://schemas.microsoft.com/office/drawing/2014/main" id="{E0461E4B-6E33-4A59-8355-4BA1D652010D}"/>
              </a:ext>
            </a:extLst>
          </p:cNvPr>
          <p:cNvSpPr>
            <a:spLocks xmlns:a="http://schemas.openxmlformats.org/drawingml/2006/main" noGrp="1"/>
          </p:cNvSpPr>
          <p:nvPr/>
        </p:nvSpPr>
        <p:spPr>
          <a:xfrm xmlns:a="http://schemas.openxmlformats.org/drawingml/2006/main">
            <a:off x="762000" y="450532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F3F6F2"/>
                </a:solidFill>
                <a:latin typeface="Arial"/>
                <a:ea typeface="Arial"/>
                <a:cs typeface="Arial"/>
              </a:defRPr>
            </a:pPr>
            <a:r>
              <a:rPr sz="2025" b="0">
                <a:solidFill>
                  <a:srgbClr val="F3F6F2"/>
                </a:solidFill>
                <a:latin typeface="Arial"/>
                <a:ea typeface="Arial"/>
                <a:cs typeface="Arial"/>
              </a:rPr>
              <a:t>“내 포지션과 손절 구간을 다른 거래자가 읽을 수 있다면?”</a:t>
            </a:r>
          </a:p>
        </p:txBody>
      </p:sp>
      <p:sp>
        <p:nvSpPr>
          <p:cNvPr id="13" name="problem-qualification">
            <a:extLst xmlns:a="http://schemas.openxmlformats.org/drawingml/2006/main">
              <a:ext uri="{FF2B5EF4-FFF2-40B4-BE49-F238E27FC236}">
                <a16:creationId xmlns:a16="http://schemas.microsoft.com/office/drawing/2014/main" id="{06E8C8C2-8284-447C-AB73-6F94794E9BBB}"/>
              </a:ext>
            </a:extLst>
          </p:cNvPr>
          <p:cNvSpPr>
            <a:spLocks xmlns:a="http://schemas.openxmlformats.org/drawingml/2006/main" noGrp="1"/>
          </p:cNvSpPr>
          <p:nvPr/>
        </p:nvSpPr>
        <p:spPr>
          <a:xfrm xmlns:a="http://schemas.openxmlformats.org/drawingml/2006/main">
            <a:off x="762000" y="5181600"/>
            <a:ext cx="1062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A9B3AF"/>
                </a:solidFill>
                <a:latin typeface="Arial"/>
                <a:ea typeface="Arial"/>
                <a:cs typeface="Arial"/>
              </a:defRPr>
            </a:pPr>
            <a:r>
              <a:rPr sz="1425" b="0">
                <a:solidFill>
                  <a:srgbClr val="A9B3AF"/>
                </a:solidFill>
                <a:latin typeface="Arial"/>
                <a:ea typeface="Arial"/>
                <a:cs typeface="Arial"/>
              </a:rPr>
              <a:t>목표: 보유 중 청산맵 노출 감소.</a:t>
            </a:r>
          </a:p>
          <a:p xmlns:a="http://schemas.openxmlformats.org/drawingml/2006/main">
            <a:pPr algn="l">
              <a:buNone/>
              <a:defRPr sz="1425" b="0">
                <a:solidFill>
                  <a:srgbClr val="A9B3AF"/>
                </a:solidFill>
                <a:latin typeface="Arial"/>
                <a:ea typeface="Arial"/>
                <a:cs typeface="Arial"/>
              </a:defRPr>
            </a:pPr>
            <a:r>
              <a:rPr sz="1425" b="0">
                <a:solidFill>
                  <a:srgbClr val="A9B3AF"/>
                </a:solidFill>
                <a:latin typeface="Arial"/>
                <a:ea typeface="Arial"/>
                <a:cs typeface="Arial"/>
              </a:rPr>
              <a:t>별도 G2 Local Devnet proof에서 종료 뒤 Long 추론 가능. Main product 미통합, 전체 이력 비공개 아님.</a:t>
            </a:r>
          </a:p>
        </p:txBody>
      </p:sp>
    </p:spTree>
    <p:extLst>
      <p:ext uri="{BB962C8B-B14F-4D97-AF65-F5344CB8AC3E}">
        <p14:creationId xmlns:p14="http://schemas.microsoft.com/office/powerpoint/2010/main" val="214266898"/>
      </p:ext>
    </p:extLst>
  </p:cSld>
</p:sld>
</file>

<file path=ppt/slides/slide3.xml><?xml version="1.0" encoding="utf-8"?>
<p:sld xmlns:p="http://schemas.openxmlformats.org/presentationml/2006/main">
  <p:cSld>
    <p:bg>
      <p:bgPr>
        <a:solidFill xmlns:a="http://schemas.openxmlformats.org/drawingml/2006/main">
          <a:srgbClr val="090C0D"/>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E1552087-C67D-4D8E-868E-DF4BDAAC2A9A}"/>
              </a:ext>
            </a:extLst>
          </p:cNvPr>
          <p:cNvSpPr>
            <a:spLocks xmlns:a="http://schemas.openxmlformats.org/drawingml/2006/main" noGrp="1"/>
          </p:cNvSpPr>
          <p:nvPr/>
        </p:nvSpPr>
        <p:spPr>
          <a:xfrm xmlns:a="http://schemas.openxmlformats.org/drawingml/2006/main">
            <a:off x="685800" y="5143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F3F6F2"/>
                </a:solidFill>
                <a:latin typeface="Arial"/>
                <a:ea typeface="Arial"/>
                <a:cs typeface="Arial"/>
              </a:defRPr>
            </a:pPr>
            <a:r>
              <a:rPr sz="3675" b="1">
                <a:solidFill>
                  <a:srgbClr val="F3F6F2"/>
                </a:solidFill>
                <a:latin typeface="Arial"/>
                <a:ea typeface="Arial"/>
                <a:cs typeface="Arial"/>
              </a:rPr>
              <a:t>프라이버시 경계는 참여자마다 다릅니다</a:t>
            </a:r>
          </a:p>
        </p:txBody>
      </p:sp>
      <p:sp>
        <p:nvSpPr>
          <p:cNvPr id="2" name="">
            <a:extLst xmlns:a="http://schemas.openxmlformats.org/drawingml/2006/main">
              <a:ext uri="{FF2B5EF4-FFF2-40B4-BE49-F238E27FC236}">
                <a16:creationId xmlns:a16="http://schemas.microsoft.com/office/drawing/2014/main" id="{CB57C81A-0A58-48F9-834F-EDED58C3F9EC}"/>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3" name="footer">
            <a:extLst xmlns:a="http://schemas.openxmlformats.org/drawingml/2006/main">
              <a:ext uri="{FF2B5EF4-FFF2-40B4-BE49-F238E27FC236}">
                <a16:creationId xmlns:a16="http://schemas.microsoft.com/office/drawing/2014/main" id="{DF9FCCA3-20F9-4C3A-B4CE-6BD6E71BDAED}"/>
              </a:ext>
            </a:extLst>
          </p:cNvPr>
          <p:cNvSpPr>
            <a:spLocks xmlns:a="http://schemas.openxmlformats.org/drawingml/2006/main" noGrp="1"/>
          </p:cNvSpPr>
          <p:nvPr/>
        </p:nvSpPr>
        <p:spPr>
          <a:xfrm xmlns:a="http://schemas.openxmlformats.org/drawingml/2006/main">
            <a:off x="685800" y="64579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78837F"/>
                </a:solidFill>
                <a:latin typeface="Arial"/>
                <a:ea typeface="Arial"/>
                <a:cs typeface="Arial"/>
              </a:defRPr>
            </a:pPr>
            <a:r>
              <a:rPr sz="1125" b="0">
                <a:solidFill>
                  <a:srgbClr val="78837F"/>
                </a:solidFill>
                <a:latin typeface="Arial"/>
                <a:ea typeface="Arial"/>
                <a:cs typeface="Arial"/>
              </a:rPr>
              <a:t>SILENCE  /  MIDNIGHT KOREA HACKATHON 2026</a:t>
            </a:r>
          </a:p>
        </p:txBody>
      </p:sp>
      <p:sp>
        <p:nvSpPr>
          <p:cNvPr id="4" name="page">
            <a:extLst xmlns:a="http://schemas.openxmlformats.org/drawingml/2006/main">
              <a:ext uri="{FF2B5EF4-FFF2-40B4-BE49-F238E27FC236}">
                <a16:creationId xmlns:a16="http://schemas.microsoft.com/office/drawing/2014/main" id="{E0A645CE-62E9-48CF-8E51-8F52232B4258}"/>
              </a:ext>
            </a:extLst>
          </p:cNvPr>
          <p:cNvSpPr>
            <a:spLocks xmlns:a="http://schemas.openxmlformats.org/drawingml/2006/main" noGrp="1"/>
          </p:cNvSpPr>
          <p:nvPr/>
        </p:nvSpPr>
        <p:spPr>
          <a:xfrm xmlns:a="http://schemas.openxmlformats.org/drawingml/2006/main">
            <a:off x="10648950" y="64389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A9B3AF"/>
                </a:solidFill>
                <a:latin typeface="Arial"/>
                <a:ea typeface="Arial"/>
                <a:cs typeface="Arial"/>
              </a:defRPr>
            </a:pPr>
            <a:r>
              <a:rPr sz="1200" b="0">
                <a:solidFill>
                  <a:srgbClr val="A9B3AF"/>
                </a:solidFill>
                <a:latin typeface="Arial"/>
                <a:ea typeface="Arial"/>
                <a:cs typeface="Arial"/>
              </a:rPr>
              <a:t>03 / 06</a:t>
            </a:r>
          </a:p>
        </p:txBody>
      </p:sp>
      <p:sp>
        <p:nvSpPr>
          <p:cNvPr id="5" name="label-거래자">
            <a:extLst xmlns:a="http://schemas.openxmlformats.org/drawingml/2006/main">
              <a:ext uri="{FF2B5EF4-FFF2-40B4-BE49-F238E27FC236}">
                <a16:creationId xmlns:a16="http://schemas.microsoft.com/office/drawing/2014/main" id="{24FB2C2D-90F6-4D72-A30A-CF261EDE192D}"/>
              </a:ext>
            </a:extLst>
          </p:cNvPr>
          <p:cNvSpPr>
            <a:spLocks xmlns:a="http://schemas.openxmlformats.org/drawingml/2006/main" noGrp="1"/>
          </p:cNvSpPr>
          <p:nvPr/>
        </p:nvSpPr>
        <p:spPr>
          <a:xfrm xmlns:a="http://schemas.openxmlformats.org/drawingml/2006/main">
            <a:off x="723900" y="15811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C7F36B"/>
                </a:solidFill>
                <a:latin typeface="Arial"/>
                <a:ea typeface="Arial"/>
                <a:cs typeface="Arial"/>
              </a:defRPr>
            </a:pPr>
            <a:r>
              <a:rPr sz="1275" b="1">
                <a:solidFill>
                  <a:srgbClr val="C7F36B"/>
                </a:solidFill>
                <a:latin typeface="Arial"/>
                <a:ea typeface="Arial"/>
                <a:cs typeface="Arial"/>
              </a:rPr>
              <a:t>거래자</a:t>
            </a:r>
          </a:p>
        </p:txBody>
      </p:sp>
      <p:sp>
        <p:nvSpPr>
          <p:cNvPr id="6" name="boundary-head-0">
            <a:extLst xmlns:a="http://schemas.openxmlformats.org/drawingml/2006/main">
              <a:ext uri="{FF2B5EF4-FFF2-40B4-BE49-F238E27FC236}">
                <a16:creationId xmlns:a16="http://schemas.microsoft.com/office/drawing/2014/main" id="{09A44F66-DB67-435D-8CBF-0AC12DCF8E2D}"/>
              </a:ext>
            </a:extLst>
          </p:cNvPr>
          <p:cNvSpPr>
            <a:spLocks xmlns:a="http://schemas.openxmlformats.org/drawingml/2006/main" noGrp="1"/>
          </p:cNvSpPr>
          <p:nvPr/>
        </p:nvSpPr>
        <p:spPr>
          <a:xfrm xmlns:a="http://schemas.openxmlformats.org/drawingml/2006/main">
            <a:off x="723900" y="1981200"/>
            <a:ext cx="323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전체 조건을 압니다</a:t>
            </a:r>
          </a:p>
        </p:txBody>
      </p:sp>
      <p:sp>
        <p:nvSpPr>
          <p:cNvPr id="7" name="boundary-body-0">
            <a:extLst xmlns:a="http://schemas.openxmlformats.org/drawingml/2006/main">
              <a:ext uri="{FF2B5EF4-FFF2-40B4-BE49-F238E27FC236}">
                <a16:creationId xmlns:a16="http://schemas.microsoft.com/office/drawing/2014/main" id="{4BAADD85-242A-49F1-A4DD-84692ADE4197}"/>
              </a:ext>
            </a:extLst>
          </p:cNvPr>
          <p:cNvSpPr>
            <a:spLocks xmlns:a="http://schemas.openxmlformats.org/drawingml/2006/main" noGrp="1"/>
          </p:cNvSpPr>
          <p:nvPr/>
        </p:nvSpPr>
        <p:spPr>
          <a:xfrm xmlns:a="http://schemas.openxmlformats.org/drawingml/2006/main">
            <a:off x="723900" y="2781300"/>
            <a:ext cx="3238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방향 · 명목 규모</a:t>
            </a:r>
          </a:p>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진입가 · 보호 가드</a:t>
            </a:r>
          </a:p>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자기 종료 비밀값</a:t>
            </a:r>
          </a:p>
        </p:txBody>
      </p:sp>
      <p:sp>
        <p:nvSpPr>
          <p:cNvPr id="8" name="label-위험 엔진 / 운영자">
            <a:extLst xmlns:a="http://schemas.openxmlformats.org/drawingml/2006/main">
              <a:ext uri="{FF2B5EF4-FFF2-40B4-BE49-F238E27FC236}">
                <a16:creationId xmlns:a16="http://schemas.microsoft.com/office/drawing/2014/main" id="{DF7BD0E3-2768-4FD9-A0B6-C1DAC067E607}"/>
              </a:ext>
            </a:extLst>
          </p:cNvPr>
          <p:cNvSpPr>
            <a:spLocks xmlns:a="http://schemas.openxmlformats.org/drawingml/2006/main" noGrp="1"/>
          </p:cNvSpPr>
          <p:nvPr/>
        </p:nvSpPr>
        <p:spPr>
          <a:xfrm xmlns:a="http://schemas.openxmlformats.org/drawingml/2006/main">
            <a:off x="4476750" y="15811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5B45C"/>
                </a:solidFill>
                <a:latin typeface="Arial"/>
                <a:ea typeface="Arial"/>
                <a:cs typeface="Arial"/>
              </a:defRPr>
            </a:pPr>
            <a:r>
              <a:rPr sz="1275" b="1">
                <a:solidFill>
                  <a:srgbClr val="F5B45C"/>
                </a:solidFill>
                <a:latin typeface="Arial"/>
                <a:ea typeface="Arial"/>
                <a:cs typeface="Arial"/>
              </a:rPr>
              <a:t>위험 엔진 / 운영자</a:t>
            </a:r>
          </a:p>
        </p:txBody>
      </p:sp>
      <p:sp>
        <p:nvSpPr>
          <p:cNvPr id="9" name="boundary-head-1">
            <a:extLst xmlns:a="http://schemas.openxmlformats.org/drawingml/2006/main">
              <a:ext uri="{FF2B5EF4-FFF2-40B4-BE49-F238E27FC236}">
                <a16:creationId xmlns:a16="http://schemas.microsoft.com/office/drawing/2014/main" id="{03616B24-C3CD-48B7-8E49-AF03458CEF1D}"/>
              </a:ext>
            </a:extLst>
          </p:cNvPr>
          <p:cNvSpPr>
            <a:spLocks xmlns:a="http://schemas.openxmlformats.org/drawingml/2006/main" noGrp="1"/>
          </p:cNvSpPr>
          <p:nvPr/>
        </p:nvSpPr>
        <p:spPr>
          <a:xfrm xmlns:a="http://schemas.openxmlformats.org/drawingml/2006/main">
            <a:off x="4476750" y="1981200"/>
            <a:ext cx="323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포지션을 볼 수 있습니다</a:t>
            </a:r>
          </a:p>
        </p:txBody>
      </p:sp>
      <p:sp>
        <p:nvSpPr>
          <p:cNvPr id="10" name="boundary-body-1">
            <a:extLst xmlns:a="http://schemas.openxmlformats.org/drawingml/2006/main">
              <a:ext uri="{FF2B5EF4-FFF2-40B4-BE49-F238E27FC236}">
                <a16:creationId xmlns:a16="http://schemas.microsoft.com/office/drawing/2014/main" id="{0C1FDA5D-A6D7-4A41-B90A-624B1C5E1EF1}"/>
              </a:ext>
            </a:extLst>
          </p:cNvPr>
          <p:cNvSpPr>
            <a:spLocks xmlns:a="http://schemas.openxmlformats.org/drawingml/2006/main" noGrp="1"/>
          </p:cNvSpPr>
          <p:nvPr/>
        </p:nvSpPr>
        <p:spPr>
          <a:xfrm xmlns:a="http://schemas.openxmlformats.org/drawingml/2006/main">
            <a:off x="4476750" y="2781300"/>
            <a:ext cx="3238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운영 신뢰가 필요합니다</a:t>
            </a:r>
          </a:p>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지갑 seed는 맡기지 않는 구조를 지향</a:t>
            </a:r>
          </a:p>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운영자 데이터 비밀성은</a:t>
            </a:r>
          </a:p>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체인 증명만으로 보장되지 않습니다</a:t>
            </a:r>
          </a:p>
        </p:txBody>
      </p:sp>
      <p:sp>
        <p:nvSpPr>
          <p:cNvPr id="11" name="label-공개 관찰자">
            <a:extLst xmlns:a="http://schemas.openxmlformats.org/drawingml/2006/main">
              <a:ext uri="{FF2B5EF4-FFF2-40B4-BE49-F238E27FC236}">
                <a16:creationId xmlns:a16="http://schemas.microsoft.com/office/drawing/2014/main" id="{5F24FF24-2F1F-4F08-8259-7B371E2470FF}"/>
              </a:ext>
            </a:extLst>
          </p:cNvPr>
          <p:cNvSpPr>
            <a:spLocks xmlns:a="http://schemas.openxmlformats.org/drawingml/2006/main" noGrp="1"/>
          </p:cNvSpPr>
          <p:nvPr/>
        </p:nvSpPr>
        <p:spPr>
          <a:xfrm xmlns:a="http://schemas.openxmlformats.org/drawingml/2006/main">
            <a:off x="8229600" y="15811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3F6F2"/>
                </a:solidFill>
                <a:latin typeface="Arial"/>
                <a:ea typeface="Arial"/>
                <a:cs typeface="Arial"/>
              </a:defRPr>
            </a:pPr>
            <a:r>
              <a:rPr sz="1275" b="1">
                <a:solidFill>
                  <a:srgbClr val="F3F6F2"/>
                </a:solidFill>
                <a:latin typeface="Arial"/>
                <a:ea typeface="Arial"/>
                <a:cs typeface="Arial"/>
              </a:rPr>
              <a:t>공개 관찰자</a:t>
            </a:r>
          </a:p>
        </p:txBody>
      </p:sp>
      <p:sp>
        <p:nvSpPr>
          <p:cNvPr id="12" name="boundary-head-2">
            <a:extLst xmlns:a="http://schemas.openxmlformats.org/drawingml/2006/main">
              <a:ext uri="{FF2B5EF4-FFF2-40B4-BE49-F238E27FC236}">
                <a16:creationId xmlns:a16="http://schemas.microsoft.com/office/drawing/2014/main" id="{CF8141CA-F232-4420-93E6-91C095EB3C7B}"/>
              </a:ext>
            </a:extLst>
          </p:cNvPr>
          <p:cNvSpPr>
            <a:spLocks xmlns:a="http://schemas.openxmlformats.org/drawingml/2006/main" noGrp="1"/>
          </p:cNvSpPr>
          <p:nvPr/>
        </p:nvSpPr>
        <p:spPr>
          <a:xfrm xmlns:a="http://schemas.openxmlformats.org/drawingml/2006/main">
            <a:off x="8229600" y="1981200"/>
            <a:ext cx="323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고정 담보와 기록은 봅니다</a:t>
            </a:r>
          </a:p>
        </p:txBody>
      </p:sp>
      <p:sp>
        <p:nvSpPr>
          <p:cNvPr id="13" name="boundary-body-2">
            <a:extLst xmlns:a="http://schemas.openxmlformats.org/drawingml/2006/main">
              <a:ext uri="{FF2B5EF4-FFF2-40B4-BE49-F238E27FC236}">
                <a16:creationId xmlns:a16="http://schemas.microsoft.com/office/drawing/2014/main" id="{F94277B9-77AB-4A9C-A78C-F31C6E7089B1}"/>
              </a:ext>
            </a:extLst>
          </p:cNvPr>
          <p:cNvSpPr>
            <a:spLocks xmlns:a="http://schemas.openxmlformats.org/drawingml/2006/main" noGrp="1"/>
          </p:cNvSpPr>
          <p:nvPr/>
        </p:nvSpPr>
        <p:spPr>
          <a:xfrm xmlns:a="http://schemas.openxmlformats.org/drawingml/2006/main">
            <a:off x="8229600" y="2781300"/>
            <a:ext cx="3238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1,000 테스트 단위 · coin index</a:t>
            </a:r>
          </a:p>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commitment · 거래 시각</a:t>
            </a:r>
          </a:p>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종료 시 수취인 공개 경계</a:t>
            </a:r>
          </a:p>
        </p:txBody>
      </p:sp>
      <p:sp>
        <p:nvSpPr>
          <p:cNvPr id="14" name="">
            <a:extLst xmlns:a="http://schemas.openxmlformats.org/drawingml/2006/main">
              <a:ext uri="{FF2B5EF4-FFF2-40B4-BE49-F238E27FC236}">
                <a16:creationId xmlns:a16="http://schemas.microsoft.com/office/drawing/2014/main" id="{40ED9915-15AE-4AA5-AACE-81411B35071C}"/>
              </a:ext>
            </a:extLst>
          </p:cNvPr>
          <p:cNvSpPr>
            <a:spLocks xmlns:a="http://schemas.openxmlformats.org/drawingml/2006/main" noGrp="1"/>
          </p:cNvSpPr>
          <p:nvPr/>
        </p:nvSpPr>
        <p:spPr>
          <a:xfrm xmlns:a="http://schemas.openxmlformats.org/drawingml/2006/main">
            <a:off x="4200525" y="1571625"/>
            <a:ext cx="9525"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15" name="">
            <a:extLst xmlns:a="http://schemas.openxmlformats.org/drawingml/2006/main">
              <a:ext uri="{FF2B5EF4-FFF2-40B4-BE49-F238E27FC236}">
                <a16:creationId xmlns:a16="http://schemas.microsoft.com/office/drawing/2014/main" id="{20987AC1-94A6-4363-9D4D-3891B1F04461}"/>
              </a:ext>
            </a:extLst>
          </p:cNvPr>
          <p:cNvSpPr>
            <a:spLocks xmlns:a="http://schemas.openxmlformats.org/drawingml/2006/main" noGrp="1"/>
          </p:cNvSpPr>
          <p:nvPr/>
        </p:nvSpPr>
        <p:spPr>
          <a:xfrm xmlns:a="http://schemas.openxmlformats.org/drawingml/2006/main">
            <a:off x="7953375" y="1571625"/>
            <a:ext cx="9525"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16" name="">
            <a:extLst xmlns:a="http://schemas.openxmlformats.org/drawingml/2006/main">
              <a:ext uri="{FF2B5EF4-FFF2-40B4-BE49-F238E27FC236}">
                <a16:creationId xmlns:a16="http://schemas.microsoft.com/office/drawing/2014/main" id="{29A26C37-85E6-45F0-B5EE-279841D42395}"/>
              </a:ext>
            </a:extLst>
          </p:cNvPr>
          <p:cNvSpPr>
            <a:spLocks xmlns:a="http://schemas.openxmlformats.org/drawingml/2006/main" noGrp="1"/>
          </p:cNvSpPr>
          <p:nvPr/>
        </p:nvSpPr>
        <p:spPr>
          <a:xfrm xmlns:a="http://schemas.openxmlformats.org/drawingml/2006/main">
            <a:off x="723900" y="4762500"/>
            <a:ext cx="1074420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17" name="boundary-result">
            <a:extLst xmlns:a="http://schemas.openxmlformats.org/drawingml/2006/main">
              <a:ext uri="{FF2B5EF4-FFF2-40B4-BE49-F238E27FC236}">
                <a16:creationId xmlns:a16="http://schemas.microsoft.com/office/drawing/2014/main" id="{1CB29CEC-BB3C-439C-AD0D-0C42586B3B49}"/>
              </a:ext>
            </a:extLst>
          </p:cNvPr>
          <p:cNvSpPr>
            <a:spLocks xmlns:a="http://schemas.openxmlformats.org/drawingml/2006/main" noGrp="1"/>
          </p:cNvSpPr>
          <p:nvPr/>
        </p:nvSpPr>
        <p:spPr>
          <a:xfrm xmlns:a="http://schemas.openxmlformats.org/drawingml/2006/main">
            <a:off x="723900" y="4991100"/>
            <a:ext cx="1071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F3F6F2"/>
                </a:solidFill>
                <a:latin typeface="Arial"/>
                <a:ea typeface="Arial"/>
                <a:cs typeface="Arial"/>
              </a:defRPr>
            </a:pPr>
            <a:r>
              <a:rPr sz="1575" b="0">
                <a:solidFill>
                  <a:srgbClr val="F3F6F2"/>
                </a:solidFill>
                <a:latin typeface="Arial"/>
                <a:ea typeface="Arial"/>
                <a:cs typeface="Arial"/>
              </a:rPr>
              <a:t>단 한 건의 Local Devnet open 기록 검사에서 side·정확한 notional·entry·guard 값은 발견되지 않았습니다.</a:t>
            </a:r>
          </a:p>
        </p:txBody>
      </p:sp>
      <p:sp>
        <p:nvSpPr>
          <p:cNvPr id="18" name="boundary-limit">
            <a:extLst xmlns:a="http://schemas.openxmlformats.org/drawingml/2006/main">
              <a:ext uri="{FF2B5EF4-FFF2-40B4-BE49-F238E27FC236}">
                <a16:creationId xmlns:a16="http://schemas.microsoft.com/office/drawing/2014/main" id="{06AEA635-B4F6-4912-ACE2-BC4147FC52A3}"/>
              </a:ext>
            </a:extLst>
          </p:cNvPr>
          <p:cNvSpPr>
            <a:spLocks xmlns:a="http://schemas.openxmlformats.org/drawingml/2006/main" noGrp="1"/>
          </p:cNvSpPr>
          <p:nvPr/>
        </p:nvSpPr>
        <p:spPr>
          <a:xfrm xmlns:a="http://schemas.openxmlformats.org/drawingml/2006/main">
            <a:off x="723900" y="5562600"/>
            <a:ext cx="10706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F5B45C"/>
                </a:solidFill>
                <a:latin typeface="Arial"/>
                <a:ea typeface="Arial"/>
                <a:cs typeface="Arial"/>
              </a:defRPr>
            </a:pPr>
            <a:r>
              <a:rPr sz="1350" b="0">
                <a:solidFill>
                  <a:srgbClr val="F5B45C"/>
                </a:solidFill>
                <a:latin typeface="Arial"/>
                <a:ea typeface="Arial"/>
                <a:cs typeface="Arial"/>
              </a:rPr>
              <a:t>별도 G2 Local Devnet proof에서 종료 뒤 Long 추론 가능. Main product contract와 전체 이력 privacy는 증명하지 않았습니다.</a:t>
            </a:r>
          </a:p>
        </p:txBody>
      </p:sp>
    </p:spTree>
    <p:extLst>
      <p:ext uri="{BB962C8B-B14F-4D97-AF65-F5344CB8AC3E}">
        <p14:creationId xmlns:p14="http://schemas.microsoft.com/office/powerpoint/2010/main" val="832252125"/>
      </p:ext>
    </p:extLst>
  </p:cSld>
</p:sld>
</file>

<file path=ppt/slides/slide4.xml><?xml version="1.0" encoding="utf-8"?>
<p:sld xmlns:p="http://schemas.openxmlformats.org/presentationml/2006/main">
  <p:cSld>
    <p:bg>
      <p:bgPr>
        <a:solidFill xmlns:a="http://schemas.openxmlformats.org/drawingml/2006/main">
          <a:srgbClr val="090C0D"/>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1C51C52F-61C5-46E1-BFEC-59EEF27B7211}"/>
              </a:ext>
            </a:extLst>
          </p:cNvPr>
          <p:cNvSpPr>
            <a:spLocks xmlns:a="http://schemas.openxmlformats.org/drawingml/2006/main" noGrp="1"/>
          </p:cNvSpPr>
          <p:nvPr/>
        </p:nvSpPr>
        <p:spPr>
          <a:xfrm xmlns:a="http://schemas.openxmlformats.org/drawingml/2006/main">
            <a:off x="685800" y="5143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F3F6F2"/>
                </a:solidFill>
                <a:latin typeface="Arial"/>
                <a:ea typeface="Arial"/>
                <a:cs typeface="Arial"/>
              </a:defRPr>
            </a:pPr>
            <a:r>
              <a:rPr sz="3675" b="1">
                <a:solidFill>
                  <a:srgbClr val="F3F6F2"/>
                </a:solidFill>
                <a:latin typeface="Arial"/>
                <a:ea typeface="Arial"/>
                <a:cs typeface="Arial"/>
              </a:rPr>
              <a:t>Local Devnet에서 확인한 실제 계약 흐름</a:t>
            </a:r>
          </a:p>
        </p:txBody>
      </p:sp>
      <p:sp>
        <p:nvSpPr>
          <p:cNvPr id="2" name="">
            <a:extLst xmlns:a="http://schemas.openxmlformats.org/drawingml/2006/main">
              <a:ext uri="{FF2B5EF4-FFF2-40B4-BE49-F238E27FC236}">
                <a16:creationId xmlns:a16="http://schemas.microsoft.com/office/drawing/2014/main" id="{70A0372F-6C00-492F-B157-B517BAF83CDC}"/>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3" name="footer">
            <a:extLst xmlns:a="http://schemas.openxmlformats.org/drawingml/2006/main">
              <a:ext uri="{FF2B5EF4-FFF2-40B4-BE49-F238E27FC236}">
                <a16:creationId xmlns:a16="http://schemas.microsoft.com/office/drawing/2014/main" id="{4E8EC421-B8D0-4053-97F0-C8586FA36BB8}"/>
              </a:ext>
            </a:extLst>
          </p:cNvPr>
          <p:cNvSpPr>
            <a:spLocks xmlns:a="http://schemas.openxmlformats.org/drawingml/2006/main" noGrp="1"/>
          </p:cNvSpPr>
          <p:nvPr/>
        </p:nvSpPr>
        <p:spPr>
          <a:xfrm xmlns:a="http://schemas.openxmlformats.org/drawingml/2006/main">
            <a:off x="685800" y="64579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78837F"/>
                </a:solidFill>
                <a:latin typeface="Arial"/>
                <a:ea typeface="Arial"/>
                <a:cs typeface="Arial"/>
              </a:defRPr>
            </a:pPr>
            <a:r>
              <a:rPr sz="1125" b="0">
                <a:solidFill>
                  <a:srgbClr val="78837F"/>
                </a:solidFill>
                <a:latin typeface="Arial"/>
                <a:ea typeface="Arial"/>
                <a:cs typeface="Arial"/>
              </a:rPr>
              <a:t>SILENCE  /  MIDNIGHT KOREA HACKATHON 2026</a:t>
            </a:r>
          </a:p>
        </p:txBody>
      </p:sp>
      <p:sp>
        <p:nvSpPr>
          <p:cNvPr id="4" name="page">
            <a:extLst xmlns:a="http://schemas.openxmlformats.org/drawingml/2006/main">
              <a:ext uri="{FF2B5EF4-FFF2-40B4-BE49-F238E27FC236}">
                <a16:creationId xmlns:a16="http://schemas.microsoft.com/office/drawing/2014/main" id="{D72A9381-5F95-4B48-964D-9573F0CAC010}"/>
              </a:ext>
            </a:extLst>
          </p:cNvPr>
          <p:cNvSpPr>
            <a:spLocks xmlns:a="http://schemas.openxmlformats.org/drawingml/2006/main" noGrp="1"/>
          </p:cNvSpPr>
          <p:nvPr/>
        </p:nvSpPr>
        <p:spPr>
          <a:xfrm xmlns:a="http://schemas.openxmlformats.org/drawingml/2006/main">
            <a:off x="10648950" y="64389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A9B3AF"/>
                </a:solidFill>
                <a:latin typeface="Arial"/>
                <a:ea typeface="Arial"/>
                <a:cs typeface="Arial"/>
              </a:defRPr>
            </a:pPr>
            <a:r>
              <a:rPr sz="1200" b="0">
                <a:solidFill>
                  <a:srgbClr val="A9B3AF"/>
                </a:solidFill>
                <a:latin typeface="Arial"/>
                <a:ea typeface="Arial"/>
                <a:cs typeface="Arial"/>
              </a:rPr>
              <a:t>04 / 06</a:t>
            </a:r>
          </a:p>
        </p:txBody>
      </p:sp>
      <p:sp>
        <p:nvSpPr>
          <p:cNvPr id="5" name="proof-summary">
            <a:extLst xmlns:a="http://schemas.openxmlformats.org/drawingml/2006/main">
              <a:ext uri="{FF2B5EF4-FFF2-40B4-BE49-F238E27FC236}">
                <a16:creationId xmlns:a16="http://schemas.microsoft.com/office/drawing/2014/main" id="{1E6977EF-0F84-4623-829B-B704C02BBF8C}"/>
              </a:ext>
            </a:extLst>
          </p:cNvPr>
          <p:cNvSpPr>
            <a:spLocks xmlns:a="http://schemas.openxmlformats.org/drawingml/2006/main" noGrp="1"/>
          </p:cNvSpPr>
          <p:nvPr/>
        </p:nvSpPr>
        <p:spPr>
          <a:xfrm xmlns:a="http://schemas.openxmlformats.org/drawingml/2006/main">
            <a:off x="723900" y="14001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A9B3AF"/>
                </a:solidFill>
                <a:latin typeface="Arial"/>
                <a:ea typeface="Arial"/>
                <a:cs typeface="Arial"/>
              </a:defRPr>
            </a:pPr>
            <a:r>
              <a:rPr sz="1875" b="0">
                <a:solidFill>
                  <a:srgbClr val="A9B3AF"/>
                </a:solidFill>
                <a:latin typeface="Arial"/>
                <a:ea typeface="Arial"/>
                <a:cs typeface="Arial"/>
              </a:rPr>
              <a:t>한 번의 실제 fixed-lot custody 및 owner-close 사이클</a:t>
            </a:r>
          </a:p>
        </p:txBody>
      </p:sp>
      <p:sp>
        <p:nvSpPr>
          <p:cNvPr id="6" name="proof-node-0">
            <a:extLst xmlns:a="http://schemas.openxmlformats.org/drawingml/2006/main">
              <a:ext uri="{FF2B5EF4-FFF2-40B4-BE49-F238E27FC236}">
                <a16:creationId xmlns:a16="http://schemas.microsoft.com/office/drawing/2014/main" id="{C6AA1C90-DE5F-4E39-A7CE-C6EB9C5B8281}"/>
              </a:ext>
            </a:extLst>
          </p:cNvPr>
          <p:cNvSpPr>
            <a:spLocks xmlns:a="http://schemas.openxmlformats.org/drawingml/2006/main" noGrp="1"/>
          </p:cNvSpPr>
          <p:nvPr/>
        </p:nvSpPr>
        <p:spPr>
          <a:xfrm xmlns:a="http://schemas.openxmlformats.org/drawingml/2006/main">
            <a:off x="1828800" y="2667000"/>
            <a:ext cx="152400" cy="152400"/>
          </a:xfrm>
          <a:prstGeom xmlns:a="http://schemas.openxmlformats.org/drawingml/2006/main" prst="ellipse">
            <a:avLst/>
          </a:prstGeom>
          <a:solidFill xmlns:a="http://schemas.openxmlformats.org/drawingml/2006/main">
            <a:srgbClr val="C7F36B"/>
          </a:solidFill>
          <a:ln xmlns:a="http://schemas.openxmlformats.org/drawingml/2006/main" w="9525">
            <a:solidFill>
              <a:srgbClr val="C7F36B"/>
            </a:solidFill>
            <a:prstDash val="solid"/>
          </a:ln>
        </p:spPr>
      </p:sp>
      <p:sp>
        <p:nvSpPr>
          <p:cNvPr id="7" name="proof-block-0">
            <a:extLst xmlns:a="http://schemas.openxmlformats.org/drawingml/2006/main">
              <a:ext uri="{FF2B5EF4-FFF2-40B4-BE49-F238E27FC236}">
                <a16:creationId xmlns:a16="http://schemas.microsoft.com/office/drawing/2014/main" id="{2632F532-AAE6-4F73-9B31-E132839D49A4}"/>
              </a:ext>
            </a:extLst>
          </p:cNvPr>
          <p:cNvSpPr>
            <a:spLocks xmlns:a="http://schemas.openxmlformats.org/drawingml/2006/main" noGrp="1"/>
          </p:cNvSpPr>
          <p:nvPr/>
        </p:nvSpPr>
        <p:spPr>
          <a:xfrm xmlns:a="http://schemas.openxmlformats.org/drawingml/2006/main">
            <a:off x="990600" y="20764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7F36B"/>
                </a:solidFill>
                <a:latin typeface="Arial"/>
                <a:ea typeface="Arial"/>
                <a:cs typeface="Arial"/>
              </a:defRPr>
            </a:pPr>
            <a:r>
              <a:rPr sz="1350" b="1">
                <a:solidFill>
                  <a:srgbClr val="C7F36B"/>
                </a:solidFill>
                <a:latin typeface="Arial"/>
                <a:ea typeface="Arial"/>
                <a:cs typeface="Arial"/>
              </a:rPr>
              <a:t>BLOCK 153</a:t>
            </a:r>
          </a:p>
        </p:txBody>
      </p:sp>
      <p:sp>
        <p:nvSpPr>
          <p:cNvPr id="8" name="proof-event-0">
            <a:extLst xmlns:a="http://schemas.openxmlformats.org/drawingml/2006/main">
              <a:ext uri="{FF2B5EF4-FFF2-40B4-BE49-F238E27FC236}">
                <a16:creationId xmlns:a16="http://schemas.microsoft.com/office/drawing/2014/main" id="{4E16B638-C7CF-4598-80FF-65446A250764}"/>
              </a:ext>
            </a:extLst>
          </p:cNvPr>
          <p:cNvSpPr>
            <a:spLocks xmlns:a="http://schemas.openxmlformats.org/drawingml/2006/main" noGrp="1"/>
          </p:cNvSpPr>
          <p:nvPr/>
        </p:nvSpPr>
        <p:spPr>
          <a:xfrm xmlns:a="http://schemas.openxmlformats.org/drawingml/2006/main">
            <a:off x="714375" y="30384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F3F6F2"/>
                </a:solidFill>
                <a:latin typeface="Arial"/>
                <a:ea typeface="Arial"/>
                <a:cs typeface="Arial"/>
              </a:defRPr>
            </a:pPr>
            <a:r>
              <a:rPr sz="1800" b="1">
                <a:solidFill>
                  <a:srgbClr val="F3F6F2"/>
                </a:solidFill>
                <a:latin typeface="Arial"/>
                <a:ea typeface="Arial"/>
                <a:cs typeface="Arial"/>
              </a:rPr>
              <a:t>배포</a:t>
            </a:r>
          </a:p>
        </p:txBody>
      </p:sp>
      <p:sp>
        <p:nvSpPr>
          <p:cNvPr id="9" name="proof-node-1">
            <a:extLst xmlns:a="http://schemas.openxmlformats.org/drawingml/2006/main">
              <a:ext uri="{FF2B5EF4-FFF2-40B4-BE49-F238E27FC236}">
                <a16:creationId xmlns:a16="http://schemas.microsoft.com/office/drawing/2014/main" id="{483BDC2D-DE5E-408E-BF44-8C1D290ED657}"/>
              </a:ext>
            </a:extLst>
          </p:cNvPr>
          <p:cNvSpPr>
            <a:spLocks xmlns:a="http://schemas.openxmlformats.org/drawingml/2006/main" noGrp="1"/>
          </p:cNvSpPr>
          <p:nvPr/>
        </p:nvSpPr>
        <p:spPr>
          <a:xfrm xmlns:a="http://schemas.openxmlformats.org/drawingml/2006/main">
            <a:off x="4591050" y="2667000"/>
            <a:ext cx="152400" cy="152400"/>
          </a:xfrm>
          <a:prstGeom xmlns:a="http://schemas.openxmlformats.org/drawingml/2006/main" prst="ellipse">
            <a:avLst/>
          </a:prstGeom>
          <a:solidFill xmlns:a="http://schemas.openxmlformats.org/drawingml/2006/main">
            <a:srgbClr val="C7F36B"/>
          </a:solidFill>
          <a:ln xmlns:a="http://schemas.openxmlformats.org/drawingml/2006/main" w="9525">
            <a:solidFill>
              <a:srgbClr val="C7F36B"/>
            </a:solidFill>
            <a:prstDash val="solid"/>
          </a:ln>
        </p:spPr>
      </p:sp>
      <p:sp>
        <p:nvSpPr>
          <p:cNvPr id="10" name="proof-block-1">
            <a:extLst xmlns:a="http://schemas.openxmlformats.org/drawingml/2006/main">
              <a:ext uri="{FF2B5EF4-FFF2-40B4-BE49-F238E27FC236}">
                <a16:creationId xmlns:a16="http://schemas.microsoft.com/office/drawing/2014/main" id="{24FDF06A-2A1B-460E-B2FA-6A032EC8983B}"/>
              </a:ext>
            </a:extLst>
          </p:cNvPr>
          <p:cNvSpPr>
            <a:spLocks xmlns:a="http://schemas.openxmlformats.org/drawingml/2006/main" noGrp="1"/>
          </p:cNvSpPr>
          <p:nvPr/>
        </p:nvSpPr>
        <p:spPr>
          <a:xfrm xmlns:a="http://schemas.openxmlformats.org/drawingml/2006/main">
            <a:off x="3752850" y="20764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7F36B"/>
                </a:solidFill>
                <a:latin typeface="Arial"/>
                <a:ea typeface="Arial"/>
                <a:cs typeface="Arial"/>
              </a:defRPr>
            </a:pPr>
            <a:r>
              <a:rPr sz="1350" b="1">
                <a:solidFill>
                  <a:srgbClr val="C7F36B"/>
                </a:solidFill>
                <a:latin typeface="Arial"/>
                <a:ea typeface="Arial"/>
                <a:cs typeface="Arial"/>
              </a:rPr>
              <a:t>BLOCK 156</a:t>
            </a:r>
          </a:p>
        </p:txBody>
      </p:sp>
      <p:sp>
        <p:nvSpPr>
          <p:cNvPr id="11" name="proof-event-1">
            <a:extLst xmlns:a="http://schemas.openxmlformats.org/drawingml/2006/main">
              <a:ext uri="{FF2B5EF4-FFF2-40B4-BE49-F238E27FC236}">
                <a16:creationId xmlns:a16="http://schemas.microsoft.com/office/drawing/2014/main" id="{098E3F5F-B59E-478B-BB45-5C4BF2E60905}"/>
              </a:ext>
            </a:extLst>
          </p:cNvPr>
          <p:cNvSpPr>
            <a:spLocks xmlns:a="http://schemas.openxmlformats.org/drawingml/2006/main" noGrp="1"/>
          </p:cNvSpPr>
          <p:nvPr/>
        </p:nvSpPr>
        <p:spPr>
          <a:xfrm xmlns:a="http://schemas.openxmlformats.org/drawingml/2006/main">
            <a:off x="3476625" y="30384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F3F6F2"/>
                </a:solidFill>
                <a:latin typeface="Arial"/>
                <a:ea typeface="Arial"/>
                <a:cs typeface="Arial"/>
              </a:defRPr>
            </a:pPr>
            <a:r>
              <a:rPr sz="1800" b="1">
                <a:solidFill>
                  <a:srgbClr val="F3F6F2"/>
                </a:solidFill>
                <a:latin typeface="Arial"/>
                <a:ea typeface="Arial"/>
                <a:cs typeface="Arial"/>
              </a:rPr>
              <a:t>테스트 mint</a:t>
            </a:r>
          </a:p>
        </p:txBody>
      </p:sp>
      <p:sp>
        <p:nvSpPr>
          <p:cNvPr id="12" name="proof-node-2">
            <a:extLst xmlns:a="http://schemas.openxmlformats.org/drawingml/2006/main">
              <a:ext uri="{FF2B5EF4-FFF2-40B4-BE49-F238E27FC236}">
                <a16:creationId xmlns:a16="http://schemas.microsoft.com/office/drawing/2014/main" id="{B6475D3D-54FA-44C3-A131-02677867AE79}"/>
              </a:ext>
            </a:extLst>
          </p:cNvPr>
          <p:cNvSpPr>
            <a:spLocks xmlns:a="http://schemas.openxmlformats.org/drawingml/2006/main" noGrp="1"/>
          </p:cNvSpPr>
          <p:nvPr/>
        </p:nvSpPr>
        <p:spPr>
          <a:xfrm xmlns:a="http://schemas.openxmlformats.org/drawingml/2006/main">
            <a:off x="7448550" y="2667000"/>
            <a:ext cx="152400" cy="152400"/>
          </a:xfrm>
          <a:prstGeom xmlns:a="http://schemas.openxmlformats.org/drawingml/2006/main" prst="ellipse">
            <a:avLst/>
          </a:prstGeom>
          <a:solidFill xmlns:a="http://schemas.openxmlformats.org/drawingml/2006/main">
            <a:srgbClr val="C7F36B"/>
          </a:solidFill>
          <a:ln xmlns:a="http://schemas.openxmlformats.org/drawingml/2006/main" w="9525">
            <a:solidFill>
              <a:srgbClr val="C7F36B"/>
            </a:solidFill>
            <a:prstDash val="solid"/>
          </a:ln>
        </p:spPr>
      </p:sp>
      <p:sp>
        <p:nvSpPr>
          <p:cNvPr id="13" name="proof-block-2">
            <a:extLst xmlns:a="http://schemas.openxmlformats.org/drawingml/2006/main">
              <a:ext uri="{FF2B5EF4-FFF2-40B4-BE49-F238E27FC236}">
                <a16:creationId xmlns:a16="http://schemas.microsoft.com/office/drawing/2014/main" id="{B2BBDBC9-6997-4BF3-A5F5-BD6E9BC114B1}"/>
              </a:ext>
            </a:extLst>
          </p:cNvPr>
          <p:cNvSpPr>
            <a:spLocks xmlns:a="http://schemas.openxmlformats.org/drawingml/2006/main" noGrp="1"/>
          </p:cNvSpPr>
          <p:nvPr/>
        </p:nvSpPr>
        <p:spPr>
          <a:xfrm xmlns:a="http://schemas.openxmlformats.org/drawingml/2006/main">
            <a:off x="6610350" y="20764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7F36B"/>
                </a:solidFill>
                <a:latin typeface="Arial"/>
                <a:ea typeface="Arial"/>
                <a:cs typeface="Arial"/>
              </a:defRPr>
            </a:pPr>
            <a:r>
              <a:rPr sz="1350" b="1">
                <a:solidFill>
                  <a:srgbClr val="C7F36B"/>
                </a:solidFill>
                <a:latin typeface="Arial"/>
                <a:ea typeface="Arial"/>
                <a:cs typeface="Arial"/>
              </a:rPr>
              <a:t>BLOCK 160</a:t>
            </a:r>
          </a:p>
        </p:txBody>
      </p:sp>
      <p:sp>
        <p:nvSpPr>
          <p:cNvPr id="14" name="proof-event-2">
            <a:extLst xmlns:a="http://schemas.openxmlformats.org/drawingml/2006/main">
              <a:ext uri="{FF2B5EF4-FFF2-40B4-BE49-F238E27FC236}">
                <a16:creationId xmlns:a16="http://schemas.microsoft.com/office/drawing/2014/main" id="{249FC973-EEE2-4CCE-BD31-EE0340C68918}"/>
              </a:ext>
            </a:extLst>
          </p:cNvPr>
          <p:cNvSpPr>
            <a:spLocks xmlns:a="http://schemas.openxmlformats.org/drawingml/2006/main" noGrp="1"/>
          </p:cNvSpPr>
          <p:nvPr/>
        </p:nvSpPr>
        <p:spPr>
          <a:xfrm xmlns:a="http://schemas.openxmlformats.org/drawingml/2006/main">
            <a:off x="6334125" y="30384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F3F6F2"/>
                </a:solidFill>
                <a:latin typeface="Arial"/>
                <a:ea typeface="Arial"/>
                <a:cs typeface="Arial"/>
              </a:defRPr>
            </a:pPr>
            <a:r>
              <a:rPr sz="1800" b="1">
                <a:solidFill>
                  <a:srgbClr val="F3F6F2"/>
                </a:solidFill>
                <a:latin typeface="Arial"/>
                <a:ea typeface="Arial"/>
                <a:cs typeface="Arial"/>
              </a:rPr>
              <a:t>terms commit</a:t>
            </a:r>
          </a:p>
        </p:txBody>
      </p:sp>
      <p:sp>
        <p:nvSpPr>
          <p:cNvPr id="15" name="proof-node-3">
            <a:extLst xmlns:a="http://schemas.openxmlformats.org/drawingml/2006/main">
              <a:ext uri="{FF2B5EF4-FFF2-40B4-BE49-F238E27FC236}">
                <a16:creationId xmlns:a16="http://schemas.microsoft.com/office/drawing/2014/main" id="{AED2F7F3-0449-426F-AFFE-CE9BEE31A971}"/>
              </a:ext>
            </a:extLst>
          </p:cNvPr>
          <p:cNvSpPr>
            <a:spLocks xmlns:a="http://schemas.openxmlformats.org/drawingml/2006/main" noGrp="1"/>
          </p:cNvSpPr>
          <p:nvPr/>
        </p:nvSpPr>
        <p:spPr>
          <a:xfrm xmlns:a="http://schemas.openxmlformats.org/drawingml/2006/main">
            <a:off x="10210800" y="2667000"/>
            <a:ext cx="152400" cy="152400"/>
          </a:xfrm>
          <a:prstGeom xmlns:a="http://schemas.openxmlformats.org/drawingml/2006/main" prst="ellipse">
            <a:avLst/>
          </a:prstGeom>
          <a:solidFill xmlns:a="http://schemas.openxmlformats.org/drawingml/2006/main">
            <a:srgbClr val="C7F36B"/>
          </a:solidFill>
          <a:ln xmlns:a="http://schemas.openxmlformats.org/drawingml/2006/main" w="9525">
            <a:solidFill>
              <a:srgbClr val="C7F36B"/>
            </a:solidFill>
            <a:prstDash val="solid"/>
          </a:ln>
        </p:spPr>
      </p:sp>
      <p:sp>
        <p:nvSpPr>
          <p:cNvPr id="16" name="proof-block-3">
            <a:extLst xmlns:a="http://schemas.openxmlformats.org/drawingml/2006/main">
              <a:ext uri="{FF2B5EF4-FFF2-40B4-BE49-F238E27FC236}">
                <a16:creationId xmlns:a16="http://schemas.microsoft.com/office/drawing/2014/main" id="{B2C4179F-6BE5-4CDB-85E5-9C909E3A62EB}"/>
              </a:ext>
            </a:extLst>
          </p:cNvPr>
          <p:cNvSpPr>
            <a:spLocks xmlns:a="http://schemas.openxmlformats.org/drawingml/2006/main" noGrp="1"/>
          </p:cNvSpPr>
          <p:nvPr/>
        </p:nvSpPr>
        <p:spPr>
          <a:xfrm xmlns:a="http://schemas.openxmlformats.org/drawingml/2006/main">
            <a:off x="9372600" y="20764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7F36B"/>
                </a:solidFill>
                <a:latin typeface="Arial"/>
                <a:ea typeface="Arial"/>
                <a:cs typeface="Arial"/>
              </a:defRPr>
            </a:pPr>
            <a:r>
              <a:rPr sz="1350" b="1">
                <a:solidFill>
                  <a:srgbClr val="C7F36B"/>
                </a:solidFill>
                <a:latin typeface="Arial"/>
                <a:ea typeface="Arial"/>
                <a:cs typeface="Arial"/>
              </a:rPr>
              <a:t>BLOCK 164</a:t>
            </a:r>
          </a:p>
        </p:txBody>
      </p:sp>
      <p:sp>
        <p:nvSpPr>
          <p:cNvPr id="17" name="proof-event-3">
            <a:extLst xmlns:a="http://schemas.openxmlformats.org/drawingml/2006/main">
              <a:ext uri="{FF2B5EF4-FFF2-40B4-BE49-F238E27FC236}">
                <a16:creationId xmlns:a16="http://schemas.microsoft.com/office/drawing/2014/main" id="{5A2CCC33-D799-43F3-A03E-F619BE2CEBEB}"/>
              </a:ext>
            </a:extLst>
          </p:cNvPr>
          <p:cNvSpPr>
            <a:spLocks xmlns:a="http://schemas.openxmlformats.org/drawingml/2006/main" noGrp="1"/>
          </p:cNvSpPr>
          <p:nvPr/>
        </p:nvSpPr>
        <p:spPr>
          <a:xfrm xmlns:a="http://schemas.openxmlformats.org/drawingml/2006/main">
            <a:off x="9096375" y="30384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F3F6F2"/>
                </a:solidFill>
                <a:latin typeface="Arial"/>
                <a:ea typeface="Arial"/>
                <a:cs typeface="Arial"/>
              </a:defRPr>
            </a:pPr>
            <a:r>
              <a:rPr sz="1800" b="1">
                <a:solidFill>
                  <a:srgbClr val="F3F6F2"/>
                </a:solidFill>
                <a:latin typeface="Arial"/>
                <a:ea typeface="Arial"/>
                <a:cs typeface="Arial"/>
              </a:rPr>
              <a:t>owner close</a:t>
            </a:r>
          </a:p>
        </p:txBody>
      </p:sp>
      <p:sp>
        <p:nvSpPr>
          <p:cNvPr id="18" name="">
            <a:extLst xmlns:a="http://schemas.openxmlformats.org/drawingml/2006/main">
              <a:ext uri="{FF2B5EF4-FFF2-40B4-BE49-F238E27FC236}">
                <a16:creationId xmlns:a16="http://schemas.microsoft.com/office/drawing/2014/main" id="{990608E3-50D2-4848-AE8D-662D705A43E6}"/>
              </a:ext>
            </a:extLst>
          </p:cNvPr>
          <p:cNvSpPr>
            <a:spLocks xmlns:a="http://schemas.openxmlformats.org/drawingml/2006/main" noGrp="1"/>
          </p:cNvSpPr>
          <p:nvPr/>
        </p:nvSpPr>
        <p:spPr>
          <a:xfrm xmlns:a="http://schemas.openxmlformats.org/drawingml/2006/main">
            <a:off x="1905000" y="2743200"/>
            <a:ext cx="8382000" cy="9525"/>
          </a:xfrm>
          <a:prstGeom xmlns:a="http://schemas.openxmlformats.org/drawingml/2006/main" prst="line">
            <a:avLst/>
          </a:prstGeom>
          <a:noFill xmlns:a="http://schemas.openxmlformats.org/drawingml/2006/main"/>
          <a:ln xmlns:a="http://schemas.openxmlformats.org/drawingml/2006/main" w="19050">
            <a:solidFill>
              <a:srgbClr val="34403C"/>
            </a:solidFill>
            <a:prstDash val="solid"/>
          </a:ln>
        </p:spPr>
      </p:sp>
      <p:sp>
        <p:nvSpPr>
          <p:cNvPr id="19" name="balance-label">
            <a:extLst xmlns:a="http://schemas.openxmlformats.org/drawingml/2006/main">
              <a:ext uri="{FF2B5EF4-FFF2-40B4-BE49-F238E27FC236}">
                <a16:creationId xmlns:a16="http://schemas.microsoft.com/office/drawing/2014/main" id="{0997CDD6-BF2A-4DCF-8648-BAE3632170E7}"/>
              </a:ext>
            </a:extLst>
          </p:cNvPr>
          <p:cNvSpPr>
            <a:spLocks xmlns:a="http://schemas.openxmlformats.org/drawingml/2006/main" noGrp="1"/>
          </p:cNvSpPr>
          <p:nvPr/>
        </p:nvSpPr>
        <p:spPr>
          <a:xfrm xmlns:a="http://schemas.openxmlformats.org/drawingml/2006/main">
            <a:off x="723900" y="3924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A9B3AF"/>
                </a:solidFill>
                <a:latin typeface="Arial"/>
                <a:ea typeface="Arial"/>
                <a:cs typeface="Arial"/>
              </a:defRPr>
            </a:pPr>
            <a:r>
              <a:rPr sz="1575" b="0">
                <a:solidFill>
                  <a:srgbClr val="A9B3AF"/>
                </a:solidFill>
                <a:latin typeface="Arial"/>
                <a:ea typeface="Arial"/>
                <a:cs typeface="Arial"/>
              </a:rPr>
              <a:t>owner shielded 잔고</a:t>
            </a:r>
          </a:p>
        </p:txBody>
      </p:sp>
      <p:sp>
        <p:nvSpPr>
          <p:cNvPr id="20" name="balance-before">
            <a:extLst xmlns:a="http://schemas.openxmlformats.org/drawingml/2006/main">
              <a:ext uri="{FF2B5EF4-FFF2-40B4-BE49-F238E27FC236}">
                <a16:creationId xmlns:a16="http://schemas.microsoft.com/office/drawing/2014/main" id="{2DABA6DC-CEE4-4A89-AE4D-6646BA00A847}"/>
              </a:ext>
            </a:extLst>
          </p:cNvPr>
          <p:cNvSpPr>
            <a:spLocks xmlns:a="http://schemas.openxmlformats.org/drawingml/2006/main" noGrp="1"/>
          </p:cNvSpPr>
          <p:nvPr/>
        </p:nvSpPr>
        <p:spPr>
          <a:xfrm xmlns:a="http://schemas.openxmlformats.org/drawingml/2006/main">
            <a:off x="723900" y="4362450"/>
            <a:ext cx="171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200" b="1">
                <a:solidFill>
                  <a:srgbClr val="F3F6F2"/>
                </a:solidFill>
                <a:latin typeface="Arial"/>
                <a:ea typeface="Arial"/>
                <a:cs typeface="Arial"/>
              </a:defRPr>
            </a:pPr>
            <a:r>
              <a:rPr sz="4200" b="1">
                <a:solidFill>
                  <a:srgbClr val="F3F6F2"/>
                </a:solidFill>
                <a:latin typeface="Arial"/>
                <a:ea typeface="Arial"/>
                <a:cs typeface="Arial"/>
              </a:rPr>
              <a:t>0</a:t>
            </a:r>
          </a:p>
        </p:txBody>
      </p:sp>
      <p:sp>
        <p:nvSpPr>
          <p:cNvPr id="21" name="balance-before-caption">
            <a:extLst xmlns:a="http://schemas.openxmlformats.org/drawingml/2006/main">
              <a:ext uri="{FF2B5EF4-FFF2-40B4-BE49-F238E27FC236}">
                <a16:creationId xmlns:a16="http://schemas.microsoft.com/office/drawing/2014/main" id="{776CA711-E3B1-47FE-AB10-3DFF757E67B2}"/>
              </a:ext>
            </a:extLst>
          </p:cNvPr>
          <p:cNvSpPr>
            <a:spLocks xmlns:a="http://schemas.openxmlformats.org/drawingml/2006/main" noGrp="1"/>
          </p:cNvSpPr>
          <p:nvPr/>
        </p:nvSpPr>
        <p:spPr>
          <a:xfrm xmlns:a="http://schemas.openxmlformats.org/drawingml/2006/main">
            <a:off x="742950" y="50577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78837F"/>
                </a:solidFill>
                <a:latin typeface="Arial"/>
                <a:ea typeface="Arial"/>
                <a:cs typeface="Arial"/>
              </a:defRPr>
            </a:pPr>
            <a:r>
              <a:rPr sz="1350" b="0">
                <a:solidFill>
                  <a:srgbClr val="78837F"/>
                </a:solidFill>
                <a:latin typeface="Arial"/>
                <a:ea typeface="Arial"/>
                <a:cs typeface="Arial"/>
              </a:rPr>
              <a:t>종료 전</a:t>
            </a:r>
          </a:p>
        </p:txBody>
      </p:sp>
      <p:sp>
        <p:nvSpPr>
          <p:cNvPr id="22" name="">
            <a:extLst xmlns:a="http://schemas.openxmlformats.org/drawingml/2006/main">
              <a:ext uri="{FF2B5EF4-FFF2-40B4-BE49-F238E27FC236}">
                <a16:creationId xmlns:a16="http://schemas.microsoft.com/office/drawing/2014/main" id="{923B1826-EF2A-4769-B719-C0F0A58108AD}"/>
              </a:ext>
            </a:extLst>
          </p:cNvPr>
          <p:cNvSpPr>
            <a:spLocks xmlns:a="http://schemas.openxmlformats.org/drawingml/2006/main" noGrp="1"/>
          </p:cNvSpPr>
          <p:nvPr/>
        </p:nvSpPr>
        <p:spPr>
          <a:xfrm xmlns:a="http://schemas.openxmlformats.org/drawingml/2006/main">
            <a:off x="2952750" y="4286250"/>
            <a:ext cx="19050" cy="9525"/>
          </a:xfrm>
          <a:prstGeom xmlns:a="http://schemas.openxmlformats.org/drawingml/2006/main" prst="line">
            <a:avLst/>
          </a:prstGeom>
          <a:noFill xmlns:a="http://schemas.openxmlformats.org/drawingml/2006/main"/>
          <a:ln xmlns:a="http://schemas.openxmlformats.org/drawingml/2006/main" w="19050">
            <a:solidFill>
              <a:srgbClr val="34403C"/>
            </a:solidFill>
            <a:prstDash val="solid"/>
          </a:ln>
        </p:spPr>
      </p:sp>
      <p:sp>
        <p:nvSpPr>
          <p:cNvPr id="23" name="balance-after">
            <a:extLst xmlns:a="http://schemas.openxmlformats.org/drawingml/2006/main">
              <a:ext uri="{FF2B5EF4-FFF2-40B4-BE49-F238E27FC236}">
                <a16:creationId xmlns:a16="http://schemas.microsoft.com/office/drawing/2014/main" id="{56DCD6E8-E4A9-4026-9814-DD8C621473D5}"/>
              </a:ext>
            </a:extLst>
          </p:cNvPr>
          <p:cNvSpPr>
            <a:spLocks xmlns:a="http://schemas.openxmlformats.org/drawingml/2006/main" noGrp="1"/>
          </p:cNvSpPr>
          <p:nvPr/>
        </p:nvSpPr>
        <p:spPr>
          <a:xfrm xmlns:a="http://schemas.openxmlformats.org/drawingml/2006/main">
            <a:off x="3333750" y="436245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200" b="1">
                <a:solidFill>
                  <a:srgbClr val="C7F36B"/>
                </a:solidFill>
                <a:latin typeface="Arial"/>
                <a:ea typeface="Arial"/>
                <a:cs typeface="Arial"/>
              </a:defRPr>
            </a:pPr>
            <a:r>
              <a:rPr sz="4200" b="1">
                <a:solidFill>
                  <a:srgbClr val="C7F36B"/>
                </a:solidFill>
                <a:latin typeface="Arial"/>
                <a:ea typeface="Arial"/>
                <a:cs typeface="Arial"/>
              </a:rPr>
              <a:t>1,000</a:t>
            </a:r>
          </a:p>
        </p:txBody>
      </p:sp>
      <p:sp>
        <p:nvSpPr>
          <p:cNvPr id="24" name="balance-after-caption">
            <a:extLst xmlns:a="http://schemas.openxmlformats.org/drawingml/2006/main">
              <a:ext uri="{FF2B5EF4-FFF2-40B4-BE49-F238E27FC236}">
                <a16:creationId xmlns:a16="http://schemas.microsoft.com/office/drawing/2014/main" id="{D8B983E2-E435-4830-80F4-736CECEC63DE}"/>
              </a:ext>
            </a:extLst>
          </p:cNvPr>
          <p:cNvSpPr>
            <a:spLocks xmlns:a="http://schemas.openxmlformats.org/drawingml/2006/main" noGrp="1"/>
          </p:cNvSpPr>
          <p:nvPr/>
        </p:nvSpPr>
        <p:spPr>
          <a:xfrm xmlns:a="http://schemas.openxmlformats.org/drawingml/2006/main">
            <a:off x="3352800" y="50577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78837F"/>
                </a:solidFill>
                <a:latin typeface="Arial"/>
                <a:ea typeface="Arial"/>
                <a:cs typeface="Arial"/>
              </a:defRPr>
            </a:pPr>
            <a:r>
              <a:rPr sz="1350" b="0">
                <a:solidFill>
                  <a:srgbClr val="78837F"/>
                </a:solidFill>
                <a:latin typeface="Arial"/>
                <a:ea typeface="Arial"/>
                <a:cs typeface="Arial"/>
              </a:rPr>
              <a:t>종료 후 · 테스트 단위</a:t>
            </a:r>
          </a:p>
        </p:txBody>
      </p:sp>
      <p:sp>
        <p:nvSpPr>
          <p:cNvPr id="25" name="auth-checks">
            <a:extLst xmlns:a="http://schemas.openxmlformats.org/drawingml/2006/main">
              <a:ext uri="{FF2B5EF4-FFF2-40B4-BE49-F238E27FC236}">
                <a16:creationId xmlns:a16="http://schemas.microsoft.com/office/drawing/2014/main" id="{4B717CA2-B944-4037-A789-3E34CEF29A93}"/>
              </a:ext>
            </a:extLst>
          </p:cNvPr>
          <p:cNvSpPr>
            <a:spLocks xmlns:a="http://schemas.openxmlformats.org/drawingml/2006/main" noGrp="1"/>
          </p:cNvSpPr>
          <p:nvPr/>
        </p:nvSpPr>
        <p:spPr>
          <a:xfrm xmlns:a="http://schemas.openxmlformats.org/drawingml/2006/main">
            <a:off x="6667500" y="4333875"/>
            <a:ext cx="466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3F6F2"/>
                </a:solidFill>
                <a:latin typeface="Arial"/>
                <a:ea typeface="Arial"/>
                <a:cs typeface="Arial"/>
              </a:defRPr>
            </a:pPr>
            <a:r>
              <a:rPr sz="1650" b="1">
                <a:solidFill>
                  <a:srgbClr val="F3F6F2"/>
                </a:solidFill>
                <a:latin typeface="Arial"/>
                <a:ea typeface="Arial"/>
                <a:cs typeface="Arial"/>
              </a:rPr>
              <a:t>잘못된 종료 비밀값은 거절  ·  종료 replay도 거절</a:t>
            </a:r>
          </a:p>
        </p:txBody>
      </p:sp>
      <p:sp>
        <p:nvSpPr>
          <p:cNvPr id="26" name="auth-errors">
            <a:extLst xmlns:a="http://schemas.openxmlformats.org/drawingml/2006/main">
              <a:ext uri="{FF2B5EF4-FFF2-40B4-BE49-F238E27FC236}">
                <a16:creationId xmlns:a16="http://schemas.microsoft.com/office/drawing/2014/main" id="{FA67D5BD-BF38-44A8-9F2D-0BED608C90F4}"/>
              </a:ext>
            </a:extLst>
          </p:cNvPr>
          <p:cNvSpPr>
            <a:spLocks xmlns:a="http://schemas.openxmlformats.org/drawingml/2006/main" noGrp="1"/>
          </p:cNvSpPr>
          <p:nvPr/>
        </p:nvSpPr>
        <p:spPr>
          <a:xfrm xmlns:a="http://schemas.openxmlformats.org/drawingml/2006/main">
            <a:off x="6667500" y="4933950"/>
            <a:ext cx="4714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F5B45C"/>
                </a:solidFill>
                <a:latin typeface="Arial"/>
                <a:ea typeface="Arial"/>
                <a:cs typeface="Arial"/>
              </a:defRPr>
            </a:pPr>
            <a:r>
              <a:rPr sz="1275" b="0">
                <a:solidFill>
                  <a:srgbClr val="F5B45C"/>
                </a:solidFill>
                <a:latin typeface="Arial"/>
                <a:ea typeface="Arial"/>
                <a:cs typeface="Arial"/>
              </a:rPr>
              <a:t>NOT_POSITION_OWNER  /  POSITION_NOT_OPEN</a:t>
            </a:r>
          </a:p>
        </p:txBody>
      </p:sp>
      <p:sp>
        <p:nvSpPr>
          <p:cNvPr id="27" name="proof-caveat">
            <a:extLst xmlns:a="http://schemas.openxmlformats.org/drawingml/2006/main">
              <a:ext uri="{FF2B5EF4-FFF2-40B4-BE49-F238E27FC236}">
                <a16:creationId xmlns:a16="http://schemas.microsoft.com/office/drawing/2014/main" id="{5CB994D7-304B-4EBC-9E36-F4FD28C21060}"/>
              </a:ext>
            </a:extLst>
          </p:cNvPr>
          <p:cNvSpPr>
            <a:spLocks xmlns:a="http://schemas.openxmlformats.org/drawingml/2006/main" noGrp="1"/>
          </p:cNvSpPr>
          <p:nvPr/>
        </p:nvSpPr>
        <p:spPr>
          <a:xfrm xmlns:a="http://schemas.openxmlformats.org/drawingml/2006/main">
            <a:off x="723900" y="5686425"/>
            <a:ext cx="1070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F5B45C"/>
                </a:solidFill>
                <a:latin typeface="Arial"/>
                <a:ea typeface="Arial"/>
                <a:cs typeface="Arial"/>
              </a:defRPr>
            </a:pPr>
            <a:r>
              <a:rPr sz="1350" b="0">
                <a:solidFill>
                  <a:srgbClr val="F5B45C"/>
                </a:solidFill>
                <a:latin typeface="Arial"/>
                <a:ea typeface="Arial"/>
                <a:cs typeface="Arial"/>
              </a:rPr>
              <a:t>고정 1,000단위 공개 테스트 담보  ·  오라클·PnL·청산은 없음</a:t>
            </a:r>
          </a:p>
        </p:txBody>
      </p:sp>
    </p:spTree>
    <p:extLst>
      <p:ext uri="{BB962C8B-B14F-4D97-AF65-F5344CB8AC3E}">
        <p14:creationId xmlns:p14="http://schemas.microsoft.com/office/powerpoint/2010/main" val="1099217913"/>
      </p:ext>
    </p:extLst>
  </p:cSld>
</p:sld>
</file>

<file path=ppt/slides/slide5.xml><?xml version="1.0" encoding="utf-8"?>
<p:sld xmlns:p="http://schemas.openxmlformats.org/presentationml/2006/main">
  <p:cSld>
    <p:bg>
      <p:bgPr>
        <a:solidFill xmlns:a="http://schemas.openxmlformats.org/drawingml/2006/main">
          <a:srgbClr val="090C0D"/>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FF2AACEA-0963-41CB-91F9-D22AB1BE10D8}"/>
              </a:ext>
            </a:extLst>
          </p:cNvPr>
          <p:cNvSpPr>
            <a:spLocks xmlns:a="http://schemas.openxmlformats.org/drawingml/2006/main" noGrp="1"/>
          </p:cNvSpPr>
          <p:nvPr/>
        </p:nvSpPr>
        <p:spPr>
          <a:xfrm xmlns:a="http://schemas.openxmlformats.org/drawingml/2006/main">
            <a:off x="685800" y="5143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F3F6F2"/>
                </a:solidFill>
                <a:latin typeface="Arial"/>
                <a:ea typeface="Arial"/>
                <a:cs typeface="Arial"/>
              </a:defRPr>
            </a:pPr>
            <a:r>
              <a:rPr sz="3675" b="1">
                <a:solidFill>
                  <a:srgbClr val="F3F6F2"/>
                </a:solidFill>
                <a:latin typeface="Arial"/>
                <a:ea typeface="Arial"/>
                <a:cs typeface="Arial"/>
              </a:rPr>
              <a:t>웹 화면은 연결되지 않은 기능을 숨기지 않습니다</a:t>
            </a:r>
          </a:p>
        </p:txBody>
      </p:sp>
      <p:sp>
        <p:nvSpPr>
          <p:cNvPr id="2" name="">
            <a:extLst xmlns:a="http://schemas.openxmlformats.org/drawingml/2006/main">
              <a:ext uri="{FF2B5EF4-FFF2-40B4-BE49-F238E27FC236}">
                <a16:creationId xmlns:a16="http://schemas.microsoft.com/office/drawing/2014/main" id="{36563BC1-ADB9-4247-95DC-993C1972DFDA}"/>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3" name="footer">
            <a:extLst xmlns:a="http://schemas.openxmlformats.org/drawingml/2006/main">
              <a:ext uri="{FF2B5EF4-FFF2-40B4-BE49-F238E27FC236}">
                <a16:creationId xmlns:a16="http://schemas.microsoft.com/office/drawing/2014/main" id="{0E74A8FD-3C73-4D42-9EA9-F4D6883D4466}"/>
              </a:ext>
            </a:extLst>
          </p:cNvPr>
          <p:cNvSpPr>
            <a:spLocks xmlns:a="http://schemas.openxmlformats.org/drawingml/2006/main" noGrp="1"/>
          </p:cNvSpPr>
          <p:nvPr/>
        </p:nvSpPr>
        <p:spPr>
          <a:xfrm xmlns:a="http://schemas.openxmlformats.org/drawingml/2006/main">
            <a:off x="685800" y="64579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78837F"/>
                </a:solidFill>
                <a:latin typeface="Arial"/>
                <a:ea typeface="Arial"/>
                <a:cs typeface="Arial"/>
              </a:defRPr>
            </a:pPr>
            <a:r>
              <a:rPr sz="1125" b="0">
                <a:solidFill>
                  <a:srgbClr val="78837F"/>
                </a:solidFill>
                <a:latin typeface="Arial"/>
                <a:ea typeface="Arial"/>
                <a:cs typeface="Arial"/>
              </a:rPr>
              <a:t>SILENCE  /  MIDNIGHT KOREA HACKATHON 2026</a:t>
            </a:r>
          </a:p>
        </p:txBody>
      </p:sp>
      <p:sp>
        <p:nvSpPr>
          <p:cNvPr id="4" name="page">
            <a:extLst xmlns:a="http://schemas.openxmlformats.org/drawingml/2006/main">
              <a:ext uri="{FF2B5EF4-FFF2-40B4-BE49-F238E27FC236}">
                <a16:creationId xmlns:a16="http://schemas.microsoft.com/office/drawing/2014/main" id="{FB3FDE9E-0AC3-486A-8ACE-8833777E2F63}"/>
              </a:ext>
            </a:extLst>
          </p:cNvPr>
          <p:cNvSpPr>
            <a:spLocks xmlns:a="http://schemas.openxmlformats.org/drawingml/2006/main" noGrp="1"/>
          </p:cNvSpPr>
          <p:nvPr/>
        </p:nvSpPr>
        <p:spPr>
          <a:xfrm xmlns:a="http://schemas.openxmlformats.org/drawingml/2006/main">
            <a:off x="10648950" y="64389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A9B3AF"/>
                </a:solidFill>
                <a:latin typeface="Arial"/>
                <a:ea typeface="Arial"/>
                <a:cs typeface="Arial"/>
              </a:defRPr>
            </a:pPr>
            <a:r>
              <a:rPr sz="1200" b="0">
                <a:solidFill>
                  <a:srgbClr val="A9B3AF"/>
                </a:solidFill>
                <a:latin typeface="Arial"/>
                <a:ea typeface="Arial"/>
                <a:cs typeface="Arial"/>
              </a:rPr>
              <a:t>05 / 06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b39f3aff0044a6f"/>
          <a:stretch xmlns:a="http://schemas.openxmlformats.org/drawingml/2006/main"/>
        </p:blipFill>
        <p:spPr>
          <a:xfrm xmlns:a="http://schemas.openxmlformats.org/drawingml/2006/main">
            <a:off x="685800" y="1504950"/>
            <a:ext cx="7543800" cy="4714875"/>
          </a:xfrm>
          <a:prstGeom xmlns:a="http://schemas.openxmlformats.org/drawingml/2006/main" prst="rect">
            <a:avLst/>
          </a:prstGeom>
        </p:spPr>
      </p:pic>
      <p:sp>
        <p:nvSpPr>
          <p:cNvPr id="6" name="label-실제 로컬 화면">
            <a:extLst xmlns:a="http://schemas.openxmlformats.org/drawingml/2006/main">
              <a:ext uri="{FF2B5EF4-FFF2-40B4-BE49-F238E27FC236}">
                <a16:creationId xmlns:a16="http://schemas.microsoft.com/office/drawing/2014/main" id="{C88E61EE-DCA5-42D3-A7DA-283747C9D632}"/>
              </a:ext>
            </a:extLst>
          </p:cNvPr>
          <p:cNvSpPr>
            <a:spLocks xmlns:a="http://schemas.openxmlformats.org/drawingml/2006/main" noGrp="1"/>
          </p:cNvSpPr>
          <p:nvPr/>
        </p:nvSpPr>
        <p:spPr>
          <a:xfrm xmlns:a="http://schemas.openxmlformats.org/drawingml/2006/main">
            <a:off x="8648700" y="16383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C7F36B"/>
                </a:solidFill>
                <a:latin typeface="Arial"/>
                <a:ea typeface="Arial"/>
                <a:cs typeface="Arial"/>
              </a:defRPr>
            </a:pPr>
            <a:r>
              <a:rPr sz="1275" b="1">
                <a:solidFill>
                  <a:srgbClr val="C7F36B"/>
                </a:solidFill>
                <a:latin typeface="Arial"/>
                <a:ea typeface="Arial"/>
                <a:cs typeface="Arial"/>
              </a:rPr>
              <a:t>실제 로컬 화면</a:t>
            </a:r>
          </a:p>
        </p:txBody>
      </p:sp>
      <p:sp>
        <p:nvSpPr>
          <p:cNvPr id="7" name="ui-oracle">
            <a:extLst xmlns:a="http://schemas.openxmlformats.org/drawingml/2006/main">
              <a:ext uri="{FF2B5EF4-FFF2-40B4-BE49-F238E27FC236}">
                <a16:creationId xmlns:a16="http://schemas.microsoft.com/office/drawing/2014/main" id="{5192CE6A-BD28-4632-A55F-D9FE8B32541F}"/>
              </a:ext>
            </a:extLst>
          </p:cNvPr>
          <p:cNvSpPr>
            <a:spLocks xmlns:a="http://schemas.openxmlformats.org/drawingml/2006/main" noGrp="1"/>
          </p:cNvSpPr>
          <p:nvPr/>
        </p:nvSpPr>
        <p:spPr>
          <a:xfrm xmlns:a="http://schemas.openxmlformats.org/drawingml/2006/main">
            <a:off x="8648700" y="21336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F3F6F2"/>
                </a:solidFill>
                <a:latin typeface="Arial"/>
                <a:ea typeface="Arial"/>
                <a:cs typeface="Arial"/>
              </a:defRPr>
            </a:pPr>
            <a:r>
              <a:rPr sz="1725" b="1">
                <a:solidFill>
                  <a:srgbClr val="F3F6F2"/>
                </a:solidFill>
                <a:latin typeface="Arial"/>
                <a:ea typeface="Arial"/>
                <a:cs typeface="Arial"/>
              </a:rPr>
              <a:t>오라클</a:t>
            </a:r>
          </a:p>
        </p:txBody>
      </p:sp>
      <p:sp>
        <p:nvSpPr>
          <p:cNvPr id="8" name="ui-oracle-detail">
            <a:extLst xmlns:a="http://schemas.openxmlformats.org/drawingml/2006/main">
              <a:ext uri="{FF2B5EF4-FFF2-40B4-BE49-F238E27FC236}">
                <a16:creationId xmlns:a16="http://schemas.microsoft.com/office/drawing/2014/main" id="{A31F6F56-DC2F-426A-85FA-A2FD45B622A3}"/>
              </a:ext>
            </a:extLst>
          </p:cNvPr>
          <p:cNvSpPr>
            <a:spLocks xmlns:a="http://schemas.openxmlformats.org/drawingml/2006/main" noGrp="1"/>
          </p:cNvSpPr>
          <p:nvPr/>
        </p:nvSpPr>
        <p:spPr>
          <a:xfrm xmlns:a="http://schemas.openxmlformats.org/drawingml/2006/main">
            <a:off x="8648700" y="2457450"/>
            <a:ext cx="276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F5B45C"/>
                </a:solidFill>
                <a:latin typeface="Arial"/>
                <a:ea typeface="Arial"/>
                <a:cs typeface="Arial"/>
              </a:defRPr>
            </a:pPr>
            <a:r>
              <a:rPr sz="1650" b="0">
                <a:solidFill>
                  <a:srgbClr val="F5B45C"/>
                </a:solidFill>
                <a:latin typeface="Arial"/>
                <a:ea typeface="Arial"/>
                <a:cs typeface="Arial"/>
              </a:rPr>
              <a:t>미연결</a:t>
            </a:r>
          </a:p>
        </p:txBody>
      </p:sp>
      <p:sp>
        <p:nvSpPr>
          <p:cNvPr id="9" name="ui-order">
            <a:extLst xmlns:a="http://schemas.openxmlformats.org/drawingml/2006/main">
              <a:ext uri="{FF2B5EF4-FFF2-40B4-BE49-F238E27FC236}">
                <a16:creationId xmlns:a16="http://schemas.microsoft.com/office/drawing/2014/main" id="{49328AFD-83C2-4906-ADEE-8179050E2E08}"/>
              </a:ext>
            </a:extLst>
          </p:cNvPr>
          <p:cNvSpPr>
            <a:spLocks xmlns:a="http://schemas.openxmlformats.org/drawingml/2006/main" noGrp="1"/>
          </p:cNvSpPr>
          <p:nvPr/>
        </p:nvSpPr>
        <p:spPr>
          <a:xfrm xmlns:a="http://schemas.openxmlformats.org/drawingml/2006/main">
            <a:off x="8648700" y="31051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F3F6F2"/>
                </a:solidFill>
                <a:latin typeface="Arial"/>
                <a:ea typeface="Arial"/>
                <a:cs typeface="Arial"/>
              </a:defRPr>
            </a:pPr>
            <a:r>
              <a:rPr sz="1725" b="1">
                <a:solidFill>
                  <a:srgbClr val="F3F6F2"/>
                </a:solidFill>
                <a:latin typeface="Arial"/>
                <a:ea typeface="Arial"/>
                <a:cs typeface="Arial"/>
              </a:rPr>
              <a:t>주문 실행</a:t>
            </a:r>
          </a:p>
        </p:txBody>
      </p:sp>
      <p:sp>
        <p:nvSpPr>
          <p:cNvPr id="10" name="ui-order-detail">
            <a:extLst xmlns:a="http://schemas.openxmlformats.org/drawingml/2006/main">
              <a:ext uri="{FF2B5EF4-FFF2-40B4-BE49-F238E27FC236}">
                <a16:creationId xmlns:a16="http://schemas.microsoft.com/office/drawing/2014/main" id="{EC332331-6295-4CA5-9C9F-D767DDFAF20E}"/>
              </a:ext>
            </a:extLst>
          </p:cNvPr>
          <p:cNvSpPr>
            <a:spLocks xmlns:a="http://schemas.openxmlformats.org/drawingml/2006/main" noGrp="1"/>
          </p:cNvSpPr>
          <p:nvPr/>
        </p:nvSpPr>
        <p:spPr>
          <a:xfrm xmlns:a="http://schemas.openxmlformats.org/drawingml/2006/main">
            <a:off x="8648700" y="3429000"/>
            <a:ext cx="276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F5B45C"/>
                </a:solidFill>
                <a:latin typeface="Arial"/>
                <a:ea typeface="Arial"/>
                <a:cs typeface="Arial"/>
              </a:defRPr>
            </a:pPr>
            <a:r>
              <a:rPr sz="1650" b="0">
                <a:solidFill>
                  <a:srgbClr val="F5B45C"/>
                </a:solidFill>
                <a:latin typeface="Arial"/>
                <a:ea typeface="Arial"/>
                <a:cs typeface="Arial"/>
              </a:rPr>
              <a:t>비활성</a:t>
            </a:r>
          </a:p>
        </p:txBody>
      </p:sp>
      <p:sp>
        <p:nvSpPr>
          <p:cNvPr id="11" name="ui-collateral">
            <a:extLst xmlns:a="http://schemas.openxmlformats.org/drawingml/2006/main">
              <a:ext uri="{FF2B5EF4-FFF2-40B4-BE49-F238E27FC236}">
                <a16:creationId xmlns:a16="http://schemas.microsoft.com/office/drawing/2014/main" id="{4EB573A8-DAC6-4B3A-9FAE-AC7E1AC12808}"/>
              </a:ext>
            </a:extLst>
          </p:cNvPr>
          <p:cNvSpPr>
            <a:spLocks xmlns:a="http://schemas.openxmlformats.org/drawingml/2006/main" noGrp="1"/>
          </p:cNvSpPr>
          <p:nvPr/>
        </p:nvSpPr>
        <p:spPr>
          <a:xfrm xmlns:a="http://schemas.openxmlformats.org/drawingml/2006/main">
            <a:off x="8648700" y="40767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F3F6F2"/>
                </a:solidFill>
                <a:latin typeface="Arial"/>
                <a:ea typeface="Arial"/>
                <a:cs typeface="Arial"/>
              </a:defRPr>
            </a:pPr>
            <a:r>
              <a:rPr sz="1725" b="1">
                <a:solidFill>
                  <a:srgbClr val="F3F6F2"/>
                </a:solidFill>
                <a:latin typeface="Arial"/>
                <a:ea typeface="Arial"/>
                <a:cs typeface="Arial"/>
              </a:rPr>
              <a:t>담보 lot</a:t>
            </a:r>
          </a:p>
        </p:txBody>
      </p:sp>
      <p:sp>
        <p:nvSpPr>
          <p:cNvPr id="12" name="ui-collateral-detail">
            <a:extLst xmlns:a="http://schemas.openxmlformats.org/drawingml/2006/main">
              <a:ext uri="{FF2B5EF4-FFF2-40B4-BE49-F238E27FC236}">
                <a16:creationId xmlns:a16="http://schemas.microsoft.com/office/drawing/2014/main" id="{E8D1382A-8179-44A7-99F2-BE63AB2C9A21}"/>
              </a:ext>
            </a:extLst>
          </p:cNvPr>
          <p:cNvSpPr>
            <a:spLocks xmlns:a="http://schemas.openxmlformats.org/drawingml/2006/main" noGrp="1"/>
          </p:cNvSpPr>
          <p:nvPr/>
        </p:nvSpPr>
        <p:spPr>
          <a:xfrm xmlns:a="http://schemas.openxmlformats.org/drawingml/2006/main">
            <a:off x="8648700" y="44005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1,000 테스트 단위</a:t>
            </a:r>
          </a:p>
          <a:p xmlns:a="http://schemas.openxmlformats.org/drawingml/2006/main">
            <a:pPr algn="l">
              <a:buNone/>
              <a:defRPr sz="1650" b="0">
                <a:solidFill>
                  <a:srgbClr val="A9B3AF"/>
                </a:solidFill>
                <a:latin typeface="Arial"/>
                <a:ea typeface="Arial"/>
                <a:cs typeface="Arial"/>
              </a:defRPr>
            </a:pPr>
            <a:r>
              <a:rPr sz="1650" b="0">
                <a:solidFill>
                  <a:srgbClr val="A9B3AF"/>
                </a:solidFill>
                <a:latin typeface="Arial"/>
                <a:ea typeface="Arial"/>
                <a:cs typeface="Arial"/>
              </a:rPr>
              <a:t>공개·고정</a:t>
            </a:r>
          </a:p>
        </p:txBody>
      </p:sp>
      <p:sp>
        <p:nvSpPr>
          <p:cNvPr id="13" name="">
            <a:extLst xmlns:a="http://schemas.openxmlformats.org/drawingml/2006/main">
              <a:ext uri="{FF2B5EF4-FFF2-40B4-BE49-F238E27FC236}">
                <a16:creationId xmlns:a16="http://schemas.microsoft.com/office/drawing/2014/main" id="{FF1266EE-245A-4459-B61E-7FE4B7C3D676}"/>
              </a:ext>
            </a:extLst>
          </p:cNvPr>
          <p:cNvSpPr>
            <a:spLocks xmlns:a="http://schemas.openxmlformats.org/drawingml/2006/main" noGrp="1"/>
          </p:cNvSpPr>
          <p:nvPr/>
        </p:nvSpPr>
        <p:spPr>
          <a:xfrm xmlns:a="http://schemas.openxmlformats.org/drawingml/2006/main">
            <a:off x="8648700" y="5267325"/>
            <a:ext cx="264795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14" name="ui-caveat">
            <a:extLst xmlns:a="http://schemas.openxmlformats.org/drawingml/2006/main">
              <a:ext uri="{FF2B5EF4-FFF2-40B4-BE49-F238E27FC236}">
                <a16:creationId xmlns:a16="http://schemas.microsoft.com/office/drawing/2014/main" id="{52D8DDCA-BA0F-437B-A7DE-68FAA67B6018}"/>
              </a:ext>
            </a:extLst>
          </p:cNvPr>
          <p:cNvSpPr>
            <a:spLocks xmlns:a="http://schemas.openxmlformats.org/drawingml/2006/main" noGrp="1"/>
          </p:cNvSpPr>
          <p:nvPr/>
        </p:nvSpPr>
        <p:spPr>
          <a:xfrm xmlns:a="http://schemas.openxmlformats.org/drawingml/2006/main">
            <a:off x="8648700" y="5438775"/>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78837F"/>
                </a:solidFill>
                <a:latin typeface="Arial"/>
                <a:ea typeface="Arial"/>
                <a:cs typeface="Arial"/>
              </a:defRPr>
            </a:pPr>
            <a:r>
              <a:rPr sz="1275" b="0">
                <a:solidFill>
                  <a:srgbClr val="78837F"/>
                </a:solidFill>
                <a:latin typeface="Arial"/>
                <a:ea typeface="Arial"/>
                <a:cs typeface="Arial"/>
              </a:rPr>
              <a:t>로컬 headless 캡처입니다.</a:t>
            </a:r>
          </a:p>
          <a:p xmlns:a="http://schemas.openxmlformats.org/drawingml/2006/main">
            <a:pPr algn="l">
              <a:buNone/>
              <a:defRPr sz="1275" b="0">
                <a:solidFill>
                  <a:srgbClr val="78837F"/>
                </a:solidFill>
                <a:latin typeface="Arial"/>
                <a:ea typeface="Arial"/>
                <a:cs typeface="Arial"/>
              </a:defRPr>
            </a:pPr>
            <a:r>
              <a:rPr sz="1275" b="0">
                <a:solidFill>
                  <a:srgbClr val="78837F"/>
                </a:solidFill>
                <a:latin typeface="Arial"/>
                <a:ea typeface="Arial"/>
                <a:cs typeface="Arial"/>
              </a:rPr>
              <a:t>실시간 가격이나 거래 기능은 아닙니다.</a:t>
            </a:r>
          </a:p>
        </p:txBody>
      </p:sp>
    </p:spTree>
    <p:extLst>
      <p:ext uri="{BB962C8B-B14F-4D97-AF65-F5344CB8AC3E}">
        <p14:creationId xmlns:p14="http://schemas.microsoft.com/office/powerpoint/2010/main" val="1090579553"/>
      </p:ext>
    </p:extLst>
  </p:cSld>
</p:sld>
</file>

<file path=ppt/slides/slide6.xml><?xml version="1.0" encoding="utf-8"?>
<p:sld xmlns:p="http://schemas.openxmlformats.org/presentationml/2006/main">
  <p:cSld>
    <p:bg>
      <p:bgPr>
        <a:solidFill xmlns:a="http://schemas.openxmlformats.org/drawingml/2006/main">
          <a:srgbClr val="090C0D"/>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E7B1A6A4-3613-4722-A834-975440F8B24A}"/>
              </a:ext>
            </a:extLst>
          </p:cNvPr>
          <p:cNvSpPr>
            <a:spLocks xmlns:a="http://schemas.openxmlformats.org/drawingml/2006/main" noGrp="1"/>
          </p:cNvSpPr>
          <p:nvPr/>
        </p:nvSpPr>
        <p:spPr>
          <a:xfrm xmlns:a="http://schemas.openxmlformats.org/drawingml/2006/main">
            <a:off x="685800" y="5143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F3F6F2"/>
                </a:solidFill>
                <a:latin typeface="Arial"/>
                <a:ea typeface="Arial"/>
                <a:cs typeface="Arial"/>
              </a:defRPr>
            </a:pPr>
            <a:r>
              <a:rPr sz="3675" b="1">
                <a:solidFill>
                  <a:srgbClr val="F3F6F2"/>
                </a:solidFill>
                <a:latin typeface="Arial"/>
                <a:ea typeface="Arial"/>
                <a:cs typeface="Arial"/>
              </a:rPr>
              <a:t>Local Devnet risk close와 LP reserve 증거</a:t>
            </a:r>
          </a:p>
        </p:txBody>
      </p:sp>
      <p:sp>
        <p:nvSpPr>
          <p:cNvPr id="2" name="">
            <a:extLst xmlns:a="http://schemas.openxmlformats.org/drawingml/2006/main">
              <a:ext uri="{FF2B5EF4-FFF2-40B4-BE49-F238E27FC236}">
                <a16:creationId xmlns:a16="http://schemas.microsoft.com/office/drawing/2014/main" id="{29B35F38-A423-40D6-B33E-3221FA22F089}"/>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3" name="footer">
            <a:extLst xmlns:a="http://schemas.openxmlformats.org/drawingml/2006/main">
              <a:ext uri="{FF2B5EF4-FFF2-40B4-BE49-F238E27FC236}">
                <a16:creationId xmlns:a16="http://schemas.microsoft.com/office/drawing/2014/main" id="{848FF448-1B40-46B2-8D27-7E8B14D92841}"/>
              </a:ext>
            </a:extLst>
          </p:cNvPr>
          <p:cNvSpPr>
            <a:spLocks xmlns:a="http://schemas.openxmlformats.org/drawingml/2006/main" noGrp="1"/>
          </p:cNvSpPr>
          <p:nvPr/>
        </p:nvSpPr>
        <p:spPr>
          <a:xfrm xmlns:a="http://schemas.openxmlformats.org/drawingml/2006/main">
            <a:off x="685800" y="64579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78837F"/>
                </a:solidFill>
                <a:latin typeface="Arial"/>
                <a:ea typeface="Arial"/>
                <a:cs typeface="Arial"/>
              </a:defRPr>
            </a:pPr>
            <a:r>
              <a:rPr sz="1125" b="0">
                <a:solidFill>
                  <a:srgbClr val="78837F"/>
                </a:solidFill>
                <a:latin typeface="Arial"/>
                <a:ea typeface="Arial"/>
                <a:cs typeface="Arial"/>
              </a:rPr>
              <a:t>SILENCE  /  MIDNIGHT KOREA HACKATHON 2026</a:t>
            </a:r>
          </a:p>
        </p:txBody>
      </p:sp>
      <p:sp>
        <p:nvSpPr>
          <p:cNvPr id="4" name="page">
            <a:extLst xmlns:a="http://schemas.openxmlformats.org/drawingml/2006/main">
              <a:ext uri="{FF2B5EF4-FFF2-40B4-BE49-F238E27FC236}">
                <a16:creationId xmlns:a16="http://schemas.microsoft.com/office/drawing/2014/main" id="{D9FF2D91-3485-4178-A581-2D6C639278A1}"/>
              </a:ext>
            </a:extLst>
          </p:cNvPr>
          <p:cNvSpPr>
            <a:spLocks xmlns:a="http://schemas.openxmlformats.org/drawingml/2006/main" noGrp="1"/>
          </p:cNvSpPr>
          <p:nvPr/>
        </p:nvSpPr>
        <p:spPr>
          <a:xfrm xmlns:a="http://schemas.openxmlformats.org/drawingml/2006/main">
            <a:off x="10648950" y="64389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A9B3AF"/>
                </a:solidFill>
                <a:latin typeface="Arial"/>
                <a:ea typeface="Arial"/>
                <a:cs typeface="Arial"/>
              </a:defRPr>
            </a:pPr>
            <a:r>
              <a:rPr sz="1200" b="0">
                <a:solidFill>
                  <a:srgbClr val="A9B3AF"/>
                </a:solidFill>
                <a:latin typeface="Arial"/>
                <a:ea typeface="Arial"/>
                <a:cs typeface="Arial"/>
              </a:rPr>
              <a:t>06 / 06</a:t>
            </a:r>
          </a:p>
        </p:txBody>
      </p:sp>
      <p:sp>
        <p:nvSpPr>
          <p:cNvPr id="5" name="label-제안된 2단계 흐름 · 제품 체인 미검증">
            <a:extLst xmlns:a="http://schemas.openxmlformats.org/drawingml/2006/main">
              <a:ext uri="{FF2B5EF4-FFF2-40B4-BE49-F238E27FC236}">
                <a16:creationId xmlns:a16="http://schemas.microsoft.com/office/drawing/2014/main" id="{384519A9-E0C7-48EA-A730-6AE2174A32D6}"/>
              </a:ext>
            </a:extLst>
          </p:cNvPr>
          <p:cNvSpPr>
            <a:spLocks xmlns:a="http://schemas.openxmlformats.org/drawingml/2006/main" noGrp="1"/>
          </p:cNvSpPr>
          <p:nvPr/>
        </p:nvSpPr>
        <p:spPr>
          <a:xfrm xmlns:a="http://schemas.openxmlformats.org/drawingml/2006/main">
            <a:off x="723900" y="1390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5B45C"/>
                </a:solidFill>
                <a:latin typeface="Arial"/>
                <a:ea typeface="Arial"/>
                <a:cs typeface="Arial"/>
              </a:defRPr>
            </a:pPr>
            <a:r>
              <a:rPr sz="1275" b="1">
                <a:solidFill>
                  <a:srgbClr val="F5B45C"/>
                </a:solidFill>
                <a:latin typeface="Arial"/>
                <a:ea typeface="Arial"/>
                <a:cs typeface="Arial"/>
              </a:rPr>
              <a:t>G2 risk-custody P90/P84 · M2 static LP payout · separate spikes</a:t>
            </a:r>
          </a:p>
        </p:txBody>
      </p:sp>
      <p:sp>
        <p:nvSpPr>
          <p:cNvPr id="6" name="step-close">
            <a:extLst xmlns:a="http://schemas.openxmlformats.org/drawingml/2006/main">
              <a:ext uri="{FF2B5EF4-FFF2-40B4-BE49-F238E27FC236}">
                <a16:creationId xmlns:a16="http://schemas.microsoft.com/office/drawing/2014/main" id="{B6C4F9D8-148D-4F49-BA94-0960177B98D0}"/>
              </a:ext>
            </a:extLst>
          </p:cNvPr>
          <p:cNvSpPr>
            <a:spLocks xmlns:a="http://schemas.openxmlformats.org/drawingml/2006/main" noGrp="1"/>
          </p:cNvSpPr>
          <p:nvPr/>
        </p:nvSpPr>
        <p:spPr>
          <a:xfrm xmlns:a="http://schemas.openxmlformats.org/drawingml/2006/main">
            <a:off x="762000" y="2028825"/>
            <a:ext cx="4953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G2 · P90 protective</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entry 100k / risk 90k</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open 989 · close 995 · claim 999</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G2 · P84 liquidation</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entry 100k / risk 84k</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open 1012 · close 1019 · claim 1023</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owner 1,000 each · operator 0</a:t>
            </a:r>
          </a:p>
        </p:txBody>
      </p:sp>
      <p:sp>
        <p:nvSpPr>
          <p:cNvPr id="7" name="step-claim">
            <a:extLst xmlns:a="http://schemas.openxmlformats.org/drawingml/2006/main">
              <a:ext uri="{FF2B5EF4-FFF2-40B4-BE49-F238E27FC236}">
                <a16:creationId xmlns:a16="http://schemas.microsoft.com/office/drawing/2014/main" id="{BA8AFF1B-054D-4124-89A1-9687E4EBA0E2}"/>
              </a:ext>
            </a:extLst>
          </p:cNvPr>
          <p:cNvSpPr>
            <a:spLocks xmlns:a="http://schemas.openxmlformats.org/drawingml/2006/main" noGrp="1"/>
          </p:cNvSpPr>
          <p:nvPr/>
        </p:nvSpPr>
        <p:spPr>
          <a:xfrm xmlns:a="http://schemas.openxmlformats.org/drawingml/2006/main">
            <a:off x="6477000" y="2028825"/>
            <a:ext cx="4953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M2 · static loss diagnostic</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owner 800 · LP claims 200</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blocks 2855 / 2859</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M2 · static profit diagnostic</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owner 1,200 · reserve change 300</a:t>
            </a:r>
          </a:p>
          <a:p xmlns:a="http://schemas.openxmlformats.org/drawingml/2006/main">
            <a:pPr algn="l">
              <a:buNone/>
              <a:defRPr sz="1875" b="1">
                <a:solidFill>
                  <a:srgbClr val="F3F6F2"/>
                </a:solidFill>
                <a:latin typeface="Arial"/>
                <a:ea typeface="Arial"/>
                <a:cs typeface="Arial"/>
              </a:defRPr>
            </a:pPr>
            <a:r>
              <a:rPr sz="1575" b="0">
                <a:solidFill>
                  <a:srgbClr val="F3F6F2"/>
                </a:solidFill>
                <a:latin typeface="Arial"/>
                <a:ea typeface="Arial"/>
                <a:cs typeface="Arial"/>
              </a:rPr>
              <a:t>blocks 2909 / 2913 · LP later spends 300</a:t>
            </a:r>
          </a:p>
        </p:txBody>
      </p:sp>
      <p:sp>
        <p:nvSpPr>
          <p:cNvPr id="9" name="step-note-1">
            <a:extLst xmlns:a="http://schemas.openxmlformats.org/drawingml/2006/main">
              <a:ext uri="{FF2B5EF4-FFF2-40B4-BE49-F238E27FC236}">
                <a16:creationId xmlns:a16="http://schemas.microsoft.com/office/drawing/2014/main" id="{6FF863B2-B8A0-4189-BD34-C44A94A237CD}"/>
              </a:ext>
            </a:extLst>
          </p:cNvPr>
          <p:cNvSpPr>
            <a:spLocks xmlns:a="http://schemas.openxmlformats.org/drawingml/2006/main" noGrp="1"/>
          </p:cNvSpPr>
          <p:nvPr/>
        </p:nvSpPr>
        <p:spPr>
          <a:xfrm xmlns:a="http://schemas.openxmlformats.org/drawingml/2006/main">
            <a:off x="762000" y="38671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C7F36B"/>
                </a:solidFill>
                <a:latin typeface="Arial"/>
                <a:ea typeface="Arial"/>
                <a:cs typeface="Arial"/>
              </a:defRPr>
            </a:pPr>
            <a:r>
              <a:rPr sz="1275" b="0">
                <a:solidFill>
                  <a:srgbClr val="F5B45C"/>
                </a:solidFill>
                <a:latin typeface="Arial"/>
                <a:ea typeface="Arial"/>
                <a:cs typeface="Arial"/>
              </a:rPr>
              <a:t>Public entry/risk quotes imply Long after close</a:t>
            </a:r>
          </a:p>
        </p:txBody>
      </p:sp>
      <p:sp>
        <p:nvSpPr>
          <p:cNvPr id="10" name="step-note-2">
            <a:extLst xmlns:a="http://schemas.openxmlformats.org/drawingml/2006/main">
              <a:ext uri="{FF2B5EF4-FFF2-40B4-BE49-F238E27FC236}">
                <a16:creationId xmlns:a16="http://schemas.microsoft.com/office/drawing/2014/main" id="{026D281C-5078-4DE8-AEA1-3142FC8F17DB}"/>
              </a:ext>
            </a:extLst>
          </p:cNvPr>
          <p:cNvSpPr>
            <a:spLocks xmlns:a="http://schemas.openxmlformats.org/drawingml/2006/main" noGrp="1"/>
          </p:cNvSpPr>
          <p:nvPr/>
        </p:nvSpPr>
        <p:spPr>
          <a:xfrm xmlns:a="http://schemas.openxmlformats.org/drawingml/2006/main">
            <a:off x="6477000" y="38671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F5B45C"/>
                </a:solidFill>
                <a:latin typeface="Arial"/>
                <a:ea typeface="Arial"/>
                <a:cs typeface="Arial"/>
              </a:defRPr>
            </a:pPr>
            <a:r>
              <a:rPr sz="1275" b="0">
                <a:solidFill>
                  <a:srgbClr val="F5B45C"/>
                </a:solidFill>
                <a:latin typeface="Arial"/>
                <a:ea typeface="Arial"/>
                <a:cs typeface="Arial"/>
              </a:rPr>
              <a:t>Caller-set public payout · circuit regime visible</a:t>
            </a:r>
          </a:p>
        </p:txBody>
      </p:sp>
      <p:sp>
        <p:nvSpPr>
          <p:cNvPr id="11" name="">
            <a:extLst xmlns:a="http://schemas.openxmlformats.org/drawingml/2006/main">
              <a:ext uri="{FF2B5EF4-FFF2-40B4-BE49-F238E27FC236}">
                <a16:creationId xmlns:a16="http://schemas.microsoft.com/office/drawing/2014/main" id="{DE3A33E4-4182-4A1C-A14E-577F388A529D}"/>
              </a:ext>
            </a:extLst>
          </p:cNvPr>
          <p:cNvSpPr>
            <a:spLocks xmlns:a="http://schemas.openxmlformats.org/drawingml/2006/main" noGrp="1"/>
          </p:cNvSpPr>
          <p:nvPr/>
        </p:nvSpPr>
        <p:spPr>
          <a:xfrm xmlns:a="http://schemas.openxmlformats.org/drawingml/2006/main">
            <a:off x="723900" y="4248150"/>
            <a:ext cx="10744200" cy="9525"/>
          </a:xfrm>
          <a:prstGeom xmlns:a="http://schemas.openxmlformats.org/drawingml/2006/main" prst="line">
            <a:avLst/>
          </a:prstGeom>
          <a:noFill xmlns:a="http://schemas.openxmlformats.org/drawingml/2006/main"/>
          <a:ln xmlns:a="http://schemas.openxmlformats.org/drawingml/2006/main" w="9525">
            <a:solidFill>
              <a:srgbClr val="34403C"/>
            </a:solidFill>
            <a:prstDash val="solid"/>
          </a:ln>
        </p:spPr>
      </p:sp>
      <p:sp>
        <p:nvSpPr>
          <p:cNvPr id="12" name="closing-proof">
            <a:extLst xmlns:a="http://schemas.openxmlformats.org/drawingml/2006/main">
              <a:ext uri="{FF2B5EF4-FFF2-40B4-BE49-F238E27FC236}">
                <a16:creationId xmlns:a16="http://schemas.microsoft.com/office/drawing/2014/main" id="{BBFEF376-5833-44D1-9706-078E13F72165}"/>
              </a:ext>
            </a:extLst>
          </p:cNvPr>
          <p:cNvSpPr>
            <a:spLocks xmlns:a="http://schemas.openxmlformats.org/drawingml/2006/main" noGrp="1"/>
          </p:cNvSpPr>
          <p:nvPr/>
        </p:nvSpPr>
        <p:spPr>
          <a:xfrm xmlns:a="http://schemas.openxmlformats.org/drawingml/2006/main">
            <a:off x="723900" y="4552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A9B3AF"/>
                </a:solidFill>
                <a:latin typeface="Arial"/>
                <a:ea typeface="Arial"/>
                <a:cs typeface="Arial"/>
              </a:defRPr>
            </a:pPr>
            <a:r>
              <a:rPr sz="1425" b="0">
                <a:solidFill>
                  <a:srgbClr val="A9B3AF"/>
                </a:solidFill>
                <a:latin typeface="Arial"/>
                <a:ea typeface="Arial"/>
                <a:cs typeface="Arial"/>
              </a:rPr>
              <a:t>실증 범위</a:t>
            </a:r>
          </a:p>
        </p:txBody>
      </p:sp>
      <p:sp>
        <p:nvSpPr>
          <p:cNvPr id="13" name="closing-what-proven">
            <a:extLst xmlns:a="http://schemas.openxmlformats.org/drawingml/2006/main">
              <a:ext uri="{FF2B5EF4-FFF2-40B4-BE49-F238E27FC236}">
                <a16:creationId xmlns:a16="http://schemas.microsoft.com/office/drawing/2014/main" id="{6A2CAF1D-52BA-436C-B513-E71650628FCE}"/>
              </a:ext>
            </a:extLst>
          </p:cNvPr>
          <p:cNvSpPr>
            <a:spLocks xmlns:a="http://schemas.openxmlformats.org/drawingml/2006/main" noGrp="1"/>
          </p:cNvSpPr>
          <p:nvPr/>
        </p:nvSpPr>
        <p:spPr>
          <a:xfrm xmlns:a="http://schemas.openxmlformats.org/drawingml/2006/main">
            <a:off x="723900" y="4876800"/>
            <a:ext cx="10744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C7F36B"/>
                </a:solidFill>
                <a:latin typeface="Arial"/>
                <a:ea typeface="Arial"/>
                <a:cs typeface="Arial"/>
              </a:defRPr>
            </a:pPr>
            <a:r>
              <a:rPr sz="2025" b="1">
                <a:solidFill>
                  <a:srgbClr val="C7F36B"/>
                </a:solidFill>
                <a:latin typeface="Arial"/>
                <a:ea typeface="Arial"/>
                <a:cs typeface="Arial"/>
              </a:rPr>
              <a:t>Risk-close and reserve paths finalized on Local Devnet</a:t>
            </a:r>
          </a:p>
        </p:txBody>
      </p:sp>
      <p:sp>
        <p:nvSpPr>
          <p:cNvPr id="14" name="closing-not-yet">
            <a:extLst xmlns:a="http://schemas.openxmlformats.org/drawingml/2006/main">
              <a:ext uri="{FF2B5EF4-FFF2-40B4-BE49-F238E27FC236}">
                <a16:creationId xmlns:a16="http://schemas.microsoft.com/office/drawing/2014/main" id="{C1CCF225-3FCC-491A-A213-C9B8B2A08D21}"/>
              </a:ext>
            </a:extLst>
          </p:cNvPr>
          <p:cNvSpPr>
            <a:spLocks xmlns:a="http://schemas.openxmlformats.org/drawingml/2006/main" noGrp="1"/>
          </p:cNvSpPr>
          <p:nvPr/>
        </p:nvSpPr>
        <p:spPr>
          <a:xfrm xmlns:a="http://schemas.openxmlformats.org/drawingml/2006/main">
            <a:off x="723900" y="5381625"/>
            <a:ext cx="10744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F5B45C"/>
                </a:solidFill>
                <a:latin typeface="Arial"/>
                <a:ea typeface="Arial"/>
                <a:cs typeface="Arial"/>
              </a:defRPr>
            </a:pPr>
            <a:r>
              <a:rPr sz="1350" b="0">
                <a:solidFill>
                  <a:srgbClr val="F5B45C"/>
                </a:solidFill>
                <a:latin typeface="Arial"/>
                <a:ea typeface="Arial"/>
                <a:cs typeface="Arial"/>
              </a:rPr>
              <a:t>G2 refunds the full 1,000 lot regardless of loss. No oracle-bound PnL, economic LP settlement, or owner self-close.</a:t>
            </a:r>
          </a:p>
          <a:p xmlns:a="http://schemas.openxmlformats.org/drawingml/2006/main">
            <a:pPr algn="l">
              <a:buNone/>
              <a:defRPr sz="1575" b="0">
                <a:solidFill>
                  <a:srgbClr val="F5B45C"/>
                </a:solidFill>
                <a:latin typeface="Arial"/>
                <a:ea typeface="Arial"/>
                <a:cs typeface="Arial"/>
              </a:defRPr>
            </a:pPr>
            <a:r>
              <a:rPr sz="1350" b="0">
                <a:solidFill>
                  <a:srgbClr val="F5B45C"/>
                </a:solidFill>
                <a:latin typeface="Arial"/>
                <a:ea typeface="Arial"/>
                <a:cs typeface="Arial"/>
              </a:rPr>
              <a:t>M2 proves static moves only: caller-set public payouts reveal regime. Separate spikes, not product integration.</a:t>
            </a:r>
          </a:p>
          <a:p xmlns:a="http://schemas.openxmlformats.org/drawingml/2006/main">
            <a:pPr algn="l">
              <a:buNone/>
              <a:defRPr sz="1575" b="0">
                <a:solidFill>
                  <a:srgbClr val="F5B45C"/>
                </a:solidFill>
                <a:latin typeface="Arial"/>
                <a:ea typeface="Arial"/>
                <a:cs typeface="Arial"/>
              </a:defRPr>
            </a:pPr>
            <a:r>
              <a:rPr sz="1350" b="0">
                <a:solidFill>
                  <a:srgbClr val="F5B45C"/>
                </a:solidFill>
                <a:latin typeface="Arial"/>
                <a:ea typeface="Arial"/>
                <a:cs typeface="Arial"/>
              </a:rPr>
              <a:t>Same-process owner/genesis DUST sponsor. Browser/Preprod unverified. Main compound claim still /check HTTP 400.</a:t>
            </a:r>
          </a:p>
        </p:txBody>
      </p:sp>
    </p:spTree>
    <p:extLst>
      <p:ext uri="{BB962C8B-B14F-4D97-AF65-F5344CB8AC3E}">
        <p14:creationId xmlns:p14="http://schemas.microsoft.com/office/powerpoint/2010/main" val="2023778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2026-09-26T02:04:53.3150000Z</dcterms:created>
  <dcterms:modified xsi:type="dcterms:W3CDTF">2026-09-26T02:04:53.3150000Z</dcterms:modified>
</coreProperties>
</file>